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charts/chart4.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5.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00000"/>
                </a:solidFill>
                <a:latin typeface="+mn-lt"/>
              </a:defRPr>
            </a:pPr>
            <a:r>
              <a:rPr sz="1300" b="0" i="0" u="none" strike="noStrike">
                <a:solidFill>
                  <a:srgbClr val="000000"/>
                </a:solidFill>
                <a:latin typeface="+mn-lt"/>
              </a:rPr>
              <a:t>Time per slice, ms (log scale; angles = image size)</a:t>
            </a:r>
          </a:p>
        </c:rich>
      </c:tx>
      <c:layout/>
      <c:overlay val="0"/>
    </c:title>
    <c:autoTitleDeleted val="0"/>
    <c:plotArea>
      <c:layout/>
      <c:barChart>
        <c:barDir val="col"/>
        <c:grouping val="clustered"/>
        <c:varyColors val="0"/>
        <c:ser>
          <c:idx val="0"/>
          <c:order val="0"/>
          <c:tx>
            <c:strRef>
              <c:f>Sheet1!$B$1</c:f>
              <c:strCache>
                <c:ptCount val="1"/>
                <c:pt idx="0">
                  <c:v>CPU (NumPy)</c:v>
                </c:pt>
              </c:strCache>
            </c:strRef>
          </c:tx>
          <c:spPr>
            <a:solidFill>
              <a:srgbClr val="A6A6A6"/>
            </a:solidFill>
            <a:effectLst/>
          </c:spPr>
          <c:invertIfNegative val="0"/>
          <c:dLbls>
            <c:numFmt formatCode="0.0" sourceLinked="0"/>
            <c:txPr>
              <a:bodyPr/>
              <a:lstStyle/>
              <a:p>
                <a:pPr>
                  <a:defRPr b="0" i="0" strike="noStrike" sz="1000" u="none">
                    <a:solidFill>
                      <a:srgbClr val="000000"/>
                    </a:solidFill>
                    <a:latin typeface="+mn-lt"/>
                  </a:defRPr>
                </a:pPr>
              </a:p>
            </c:txPr>
            <c:showLegendKey val="0"/>
            <c:showVal val="1"/>
            <c:showCatName val="0"/>
            <c:showSerName val="0"/>
            <c:showPercent val="0"/>
            <c:showBubbleSize val="0"/>
            <c:showLeaderLines val="0"/>
          </c:dLbls>
          <c:cat>
            <c:multiLvlStrRef>
              <c:f>Sheet1!$A$2:$A$4</c:f>
              <c:multiLvlStrCache>
                <c:ptCount val="3"/>
                <c:lvl>
                  <c:pt idx="0">
                    <c:v>128²</c:v>
                  </c:pt>
                  <c:pt idx="1">
                    <c:v>256²</c:v>
                  </c:pt>
                  <c:pt idx="2">
                    <c:v>512²</c:v>
                  </c:pt>
                </c:lvl>
              </c:multiLvlStrCache>
            </c:multiLvlStrRef>
          </c:cat>
          <c:val>
            <c:numRef>
              <c:f>Sheet1!$B$2:$B$4</c:f>
              <c:numCache>
                <c:formatCode>General</c:formatCode>
                <c:ptCount val="3"/>
                <c:pt idx="0">
                  <c:v>13</c:v>
                </c:pt>
                <c:pt idx="1">
                  <c:v>93.14</c:v>
                </c:pt>
                <c:pt idx="2">
                  <c:v>1271.38</c:v>
                </c:pt>
              </c:numCache>
            </c:numRef>
          </c:val>
        </c:ser>
        <c:ser>
          <c:idx val="1"/>
          <c:order val="1"/>
          <c:tx>
            <c:strRef>
              <c:f>Sheet1!$C$1</c:f>
              <c:strCache>
                <c:ptCount val="1"/>
                <c:pt idx="0">
                  <c:v>GPU (cuFFT + CUDA kernel)</c:v>
                </c:pt>
              </c:strCache>
            </c:strRef>
          </c:tx>
          <c:spPr>
            <a:solidFill>
              <a:srgbClr val="000000"/>
            </a:solidFill>
            <a:effectLst/>
          </c:spPr>
          <c:invertIfNegative val="0"/>
          <c:dLbls>
            <c:numFmt formatCode="0.0" sourceLinked="0"/>
            <c:txPr>
              <a:bodyPr/>
              <a:lstStyle/>
              <a:p>
                <a:pPr>
                  <a:defRPr b="0" i="0" strike="noStrike" sz="1000" u="none">
                    <a:solidFill>
                      <a:srgbClr val="000000"/>
                    </a:solidFill>
                    <a:latin typeface="+mn-lt"/>
                  </a:defRPr>
                </a:pPr>
              </a:p>
            </c:txPr>
            <c:showLegendKey val="0"/>
            <c:showVal val="1"/>
            <c:showCatName val="0"/>
            <c:showSerName val="0"/>
            <c:showPercent val="0"/>
            <c:showBubbleSize val="0"/>
            <c:showLeaderLines val="0"/>
          </c:dLbls>
          <c:cat>
            <c:multiLvlStrRef>
              <c:f>Sheet1!$A$2:$A$4</c:f>
              <c:multiLvlStrCache>
                <c:ptCount val="3"/>
                <c:lvl>
                  <c:pt idx="0">
                    <c:v>128²</c:v>
                  </c:pt>
                  <c:pt idx="1">
                    <c:v>256²</c:v>
                  </c:pt>
                  <c:pt idx="2">
                    <c:v>512²</c:v>
                  </c:pt>
                </c:lvl>
              </c:multiLvlStrCache>
            </c:multiLvlStrRef>
          </c:cat>
          <c:val>
            <c:numRef>
              <c:f>Sheet1!$C$2:$C$4</c:f>
              <c:numCache>
                <c:formatCode>General</c:formatCode>
                <c:ptCount val="3"/>
                <c:pt idx="0">
                  <c:v>0.5</c:v>
                </c:pt>
                <c:pt idx="1">
                  <c:v>0.69</c:v>
                </c:pt>
                <c:pt idx="2">
                  <c:v>1.4</c:v>
                </c:pt>
              </c:numCache>
            </c:numRef>
          </c:val>
        </c:ser>
        <c:dLbls>
          <c:numFmt formatCode="0.0" sourceLinked="0"/>
          <c:txPr>
            <a:bodyPr/>
            <a:lstStyle/>
            <a:p>
              <a:pPr>
                <a:defRPr b="0" i="0" strike="noStrike" sz="1000" u="none">
                  <a:solidFill>
                    <a:srgbClr val="000000"/>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95959"/>
                </a:solidFill>
                <a:latin typeface="+mn-lt"/>
              </a:defRPr>
            </a:pPr>
            <a:endParaRPr lang="en-US"/>
          </a:p>
        </c:txPr>
        <c:crossAx val="2094734552"/>
        <c:crossesAt val="0.1"/>
        <c:auto val="1"/>
        <c:lblAlgn val="ctr"/>
        <c:noMultiLvlLbl val="1"/>
      </c:catAx>
      <c:valAx>
        <c:axId val="2094734552"/>
        <c:scaling>
          <c:logBase val="10"/>
          <c:orientation val="minMax"/>
          <c:min val="0.1"/>
        </c:scaling>
        <c:delete val="0"/>
        <c:axPos val="l"/>
        <c:majorGridlines>
          <c:spPr>
            <a:ln w="9525" cap="flat">
              <a:solidFill>
                <a:srgbClr val="D9D9D9"/>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95959"/>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595959"/>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00000"/>
                </a:solidFill>
                <a:latin typeface="+mn-lt"/>
              </a:defRPr>
            </a:pPr>
            <a:r>
              <a:rPr sz="1300" b="0" i="0" u="none" strike="noStrike">
                <a:solidFill>
                  <a:srgbClr val="000000"/>
                </a:solidFill>
                <a:latin typeface="+mn-lt"/>
              </a:rPr>
              <a:t>256³ volume, 5³ filter: time in ms (log scale)</a:t>
            </a:r>
          </a:p>
        </c:rich>
      </c:tx>
      <c:layout/>
      <c:overlay val="0"/>
    </c:title>
    <c:autoTitleDeleted val="0"/>
    <c:plotArea>
      <c:layout/>
      <c:barChart>
        <c:barDir val="bar"/>
        <c:grouping val="clustered"/>
        <c:varyColors val="0"/>
        <c:ser>
          <c:idx val="0"/>
          <c:order val="0"/>
          <c:tx>
            <c:strRef>
              <c:f>Sheet1!$B$1</c:f>
              <c:strCache>
                <c:ptCount val="1"/>
                <c:pt idx="0">
                  <c:v>Time (ms)</c:v>
                </c:pt>
              </c:strCache>
            </c:strRef>
          </c:tx>
          <c:spPr>
            <a:solidFill>
              <a:srgbClr val="A6A6A6"/>
            </a:solidFill>
            <a:effectLst/>
          </c:spPr>
          <c:invertIfNegative val="0"/>
          <c:dLbls>
            <c:numFmt formatCode="0.0" sourceLinked="0"/>
            <c:txPr>
              <a:bodyPr/>
              <a:lstStyle/>
              <a:p>
                <a:pPr>
                  <a:defRPr b="0" i="0" strike="noStrike" sz="1000" u="none">
                    <a:solidFill>
                      <a:srgbClr val="000000"/>
                    </a:solidFill>
                    <a:latin typeface="+mn-lt"/>
                  </a:defRPr>
                </a:pPr>
              </a:p>
            </c:txPr>
            <c:showLegendKey val="0"/>
            <c:showVal val="1"/>
            <c:showCatName val="0"/>
            <c:showSerName val="0"/>
            <c:showPercent val="0"/>
            <c:showBubbleSize val="0"/>
            <c:showLeaderLines val="0"/>
          </c:dLbls>
          <c:dPt>
            <c:idx val="0"/>
            <c:invertIfNegative val="0"/>
            <c:bubble3D val="0"/>
            <c:spPr>
              <a:solidFill>
                <a:srgbClr val="A6A6A6"/>
              </a:solidFill>
              <a:effectLst/>
            </c:spPr>
          </c:dPt>
          <c:dPt>
            <c:idx val="1"/>
            <c:invertIfNegative val="0"/>
            <c:bubble3D val="0"/>
            <c:spPr>
              <a:solidFill>
                <a:srgbClr val="7F7F7F"/>
              </a:solidFill>
              <a:effectLst/>
            </c:spPr>
          </c:dPt>
          <c:dPt>
            <c:idx val="2"/>
            <c:invertIfNegative val="0"/>
            <c:bubble3D val="0"/>
            <c:spPr>
              <a:solidFill>
                <a:srgbClr val="595959"/>
              </a:solidFill>
              <a:effectLst/>
            </c:spPr>
          </c:dPt>
          <c:dPt>
            <c:idx val="3"/>
            <c:invertIfNegative val="0"/>
            <c:bubble3D val="0"/>
            <c:spPr>
              <a:solidFill>
                <a:srgbClr val="000000"/>
              </a:solidFill>
              <a:effectLst/>
            </c:spPr>
          </c:dPt>
          <c:cat>
            <c:multiLvlStrRef>
              <c:f>Sheet1!$A$2:$A$5</c:f>
              <c:multiLvlStrCache>
                <c:ptCount val="4"/>
                <c:lvl>
                  <c:pt idx="0">
                    <c:v>CPU SciPy</c:v>
                  </c:pt>
                  <c:pt idx="1">
                    <c:v>cuDNN conv3d</c:v>
                  </c:pt>
                  <c:pt idx="2">
                    <c:v>Naive CUDA</c:v>
                  </c:pt>
                  <c:pt idx="3">
                    <c:v>Tiled CUDA</c:v>
                  </c:pt>
                </c:lvl>
              </c:multiLvlStrCache>
            </c:multiLvlStrRef>
          </c:cat>
          <c:val>
            <c:numRef>
              <c:f>Sheet1!$B$2:$B$5</c:f>
              <c:numCache>
                <c:formatCode>General</c:formatCode>
                <c:ptCount val="4"/>
                <c:pt idx="0">
                  <c:v>1207.45</c:v>
                </c:pt>
                <c:pt idx="1">
                  <c:v>10.21</c:v>
                </c:pt>
                <c:pt idx="2">
                  <c:v>4.21</c:v>
                </c:pt>
                <c:pt idx="3">
                  <c:v>2.4</c:v>
                </c:pt>
              </c:numCache>
            </c:numRef>
          </c:val>
        </c:ser>
        <c:dLbls>
          <c:numFmt formatCode="0.0" sourceLinked="0"/>
          <c:txPr>
            <a:bodyPr/>
            <a:lstStyle/>
            <a:p>
              <a:pPr>
                <a:defRPr b="0" i="0" strike="noStrike" sz="1000" u="none">
                  <a:solidFill>
                    <a:srgbClr val="000000"/>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95959"/>
                </a:solidFill>
                <a:latin typeface="+mn-lt"/>
              </a:defRPr>
            </a:pPr>
            <a:endParaRPr lang="en-US"/>
          </a:p>
        </c:txPr>
        <c:crossAx val="2094734552"/>
        <c:crossesAt val="1"/>
        <c:auto val="1"/>
        <c:lblAlgn val="ctr"/>
        <c:noMultiLvlLbl val="1"/>
      </c:catAx>
      <c:valAx>
        <c:axId val="2094734552"/>
        <c:scaling>
          <c:logBase val="10"/>
          <c:orientation val="minMax"/>
          <c:min val="1"/>
        </c:scaling>
        <c:delete val="0"/>
        <c:axPos val="b"/>
        <c:majorGridlines>
          <c:spPr>
            <a:ln w="9525" cap="flat">
              <a:solidFill>
                <a:srgbClr val="D9D9D9"/>
              </a:solidFill>
              <a:prstDash val="solid"/>
              <a:round/>
            </a:ln>
          </c:spPr>
        </c:majorGridlines>
        <c:numFmt formatCode="0" sourceLinked="0"/>
        <c:majorTickMark val="out"/>
        <c:minorTickMark val="none"/>
        <c:tickLblPos val="low"/>
        <c:spPr>
          <a:ln w="12700" cap="flat">
            <a:solidFill>
              <a:srgbClr val="888888"/>
            </a:solidFill>
            <a:prstDash val="solid"/>
            <a:round/>
          </a:ln>
        </c:spPr>
        <c:txPr>
          <a:bodyPr/>
          <a:lstStyle/>
          <a:p>
            <a:pPr>
              <a:defRPr sz="1000" b="0" i="0" u="none" strike="noStrike">
                <a:solidFill>
                  <a:srgbClr val="595959"/>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00000"/>
                </a:solidFill>
                <a:latin typeface="+mn-lt"/>
              </a:defRPr>
            </a:pPr>
            <a:r>
              <a:rPr sz="1300" b="0" i="0" u="none" strike="noStrike">
                <a:solidFill>
                  <a:srgbClr val="000000"/>
                </a:solidFill>
                <a:latin typeface="+mn-lt"/>
              </a:rPr>
              <a:t>Speedup over CPU by volume size</a:t>
            </a:r>
          </a:p>
        </c:rich>
      </c:tx>
      <c:layout/>
      <c:overlay val="0"/>
    </c:title>
    <c:autoTitleDeleted val="0"/>
    <c:plotArea>
      <c:layout/>
      <c:barChart>
        <c:barDir val="col"/>
        <c:grouping val="clustered"/>
        <c:varyColors val="0"/>
        <c:ser>
          <c:idx val="0"/>
          <c:order val="0"/>
          <c:tx>
            <c:strRef>
              <c:f>Sheet1!$B$1</c:f>
              <c:strCache>
                <c:ptCount val="1"/>
                <c:pt idx="0">
                  <c:v>Naive kernel</c:v>
                </c:pt>
              </c:strCache>
            </c:strRef>
          </c:tx>
          <c:spPr>
            <a:solidFill>
              <a:srgbClr val="BFBFBF"/>
            </a:solidFill>
            <a:effectLst/>
          </c:spPr>
          <c:invertIfNegative val="0"/>
          <c:dLbls>
            <c:numFmt formatCode="0" sourceLinked="0"/>
            <c:txPr>
              <a:bodyPr/>
              <a:lstStyle/>
              <a:p>
                <a:pPr>
                  <a:defRPr b="0" i="0" strike="noStrike" sz="900" u="none">
                    <a:solidFill>
                      <a:srgbClr val="000000"/>
                    </a:solidFill>
                    <a:latin typeface="+mn-lt"/>
                  </a:defRPr>
                </a:pPr>
              </a:p>
            </c:txPr>
            <c:showLegendKey val="0"/>
            <c:showVal val="1"/>
            <c:showCatName val="0"/>
            <c:showSerName val="0"/>
            <c:showPercent val="0"/>
            <c:showBubbleSize val="0"/>
            <c:showLeaderLines val="0"/>
          </c:dLbls>
          <c:cat>
            <c:multiLvlStrRef>
              <c:f>Sheet1!$A$2:$A$4</c:f>
              <c:multiLvlStrCache>
                <c:ptCount val="3"/>
                <c:lvl>
                  <c:pt idx="0">
                    <c:v>64³</c:v>
                  </c:pt>
                  <c:pt idx="1">
                    <c:v>128³</c:v>
                  </c:pt>
                  <c:pt idx="2">
                    <c:v>256³</c:v>
                  </c:pt>
                </c:lvl>
              </c:multiLvlStrCache>
            </c:multiLvlStrRef>
          </c:cat>
          <c:val>
            <c:numRef>
              <c:f>Sheet1!$B$2:$B$4</c:f>
              <c:numCache>
                <c:formatCode>General</c:formatCode>
                <c:ptCount val="3"/>
                <c:pt idx="0">
                  <c:v>291</c:v>
                </c:pt>
                <c:pt idx="1">
                  <c:v>296</c:v>
                </c:pt>
                <c:pt idx="2">
                  <c:v>287</c:v>
                </c:pt>
              </c:numCache>
            </c:numRef>
          </c:val>
        </c:ser>
        <c:ser>
          <c:idx val="1"/>
          <c:order val="1"/>
          <c:tx>
            <c:strRef>
              <c:f>Sheet1!$C$1</c:f>
              <c:strCache>
                <c:ptCount val="1"/>
                <c:pt idx="0">
                  <c:v>Tiled kernel</c:v>
                </c:pt>
              </c:strCache>
            </c:strRef>
          </c:tx>
          <c:spPr>
            <a:solidFill>
              <a:srgbClr val="000000"/>
            </a:solidFill>
            <a:effectLst/>
          </c:spPr>
          <c:invertIfNegative val="0"/>
          <c:dLbls>
            <c:numFmt formatCode="0" sourceLinked="0"/>
            <c:txPr>
              <a:bodyPr/>
              <a:lstStyle/>
              <a:p>
                <a:pPr>
                  <a:defRPr b="0" i="0" strike="noStrike" sz="900" u="none">
                    <a:solidFill>
                      <a:srgbClr val="000000"/>
                    </a:solidFill>
                    <a:latin typeface="+mn-lt"/>
                  </a:defRPr>
                </a:pPr>
              </a:p>
            </c:txPr>
            <c:showLegendKey val="0"/>
            <c:showVal val="1"/>
            <c:showCatName val="0"/>
            <c:showSerName val="0"/>
            <c:showPercent val="0"/>
            <c:showBubbleSize val="0"/>
            <c:showLeaderLines val="0"/>
          </c:dLbls>
          <c:cat>
            <c:multiLvlStrRef>
              <c:f>Sheet1!$A$2:$A$4</c:f>
              <c:multiLvlStrCache>
                <c:ptCount val="3"/>
                <c:lvl>
                  <c:pt idx="0">
                    <c:v>64³</c:v>
                  </c:pt>
                  <c:pt idx="1">
                    <c:v>128³</c:v>
                  </c:pt>
                  <c:pt idx="2">
                    <c:v>256³</c:v>
                  </c:pt>
                </c:lvl>
              </c:multiLvlStrCache>
            </c:multiLvlStrRef>
          </c:cat>
          <c:val>
            <c:numRef>
              <c:f>Sheet1!$C$2:$C$4</c:f>
              <c:numCache>
                <c:formatCode>General</c:formatCode>
                <c:ptCount val="3"/>
                <c:pt idx="0">
                  <c:v>458</c:v>
                </c:pt>
                <c:pt idx="1">
                  <c:v>443</c:v>
                </c:pt>
                <c:pt idx="2">
                  <c:v>503</c:v>
                </c:pt>
              </c:numCache>
            </c:numRef>
          </c:val>
        </c:ser>
        <c:ser>
          <c:idx val="2"/>
          <c:order val="2"/>
          <c:tx>
            <c:strRef>
              <c:f>Sheet1!$D$1</c:f>
              <c:strCache>
                <c:ptCount val="1"/>
                <c:pt idx="0">
                  <c:v>Tiled + PCIe transfers</c:v>
                </c:pt>
              </c:strCache>
            </c:strRef>
          </c:tx>
          <c:spPr>
            <a:solidFill>
              <a:srgbClr val="7F7F7F"/>
            </a:solidFill>
            <a:effectLst/>
          </c:spPr>
          <c:invertIfNegative val="0"/>
          <c:dLbls>
            <c:numFmt formatCode="0" sourceLinked="0"/>
            <c:txPr>
              <a:bodyPr/>
              <a:lstStyle/>
              <a:p>
                <a:pPr>
                  <a:defRPr b="0" i="0" strike="noStrike" sz="900" u="none">
                    <a:solidFill>
                      <a:srgbClr val="000000"/>
                    </a:solidFill>
                    <a:latin typeface="+mn-lt"/>
                  </a:defRPr>
                </a:pPr>
              </a:p>
            </c:txPr>
            <c:showLegendKey val="0"/>
            <c:showVal val="1"/>
            <c:showCatName val="0"/>
            <c:showSerName val="0"/>
            <c:showPercent val="0"/>
            <c:showBubbleSize val="0"/>
            <c:showLeaderLines val="0"/>
          </c:dLbls>
          <c:cat>
            <c:multiLvlStrRef>
              <c:f>Sheet1!$A$2:$A$4</c:f>
              <c:multiLvlStrCache>
                <c:ptCount val="3"/>
                <c:lvl>
                  <c:pt idx="0">
                    <c:v>64³</c:v>
                  </c:pt>
                  <c:pt idx="1">
                    <c:v>128³</c:v>
                  </c:pt>
                  <c:pt idx="2">
                    <c:v>256³</c:v>
                  </c:pt>
                </c:lvl>
              </c:multiLvlStrCache>
            </c:multiLvlStrRef>
          </c:cat>
          <c:val>
            <c:numRef>
              <c:f>Sheet1!$D$2:$D$4</c:f>
              <c:numCache>
                <c:formatCode>General</c:formatCode>
                <c:ptCount val="3"/>
                <c:pt idx="0">
                  <c:v>42</c:v>
                </c:pt>
                <c:pt idx="1">
                  <c:v>83</c:v>
                </c:pt>
                <c:pt idx="2">
                  <c:v>78</c:v>
                </c:pt>
              </c:numCache>
            </c:numRef>
          </c:val>
        </c:ser>
        <c:dLbls>
          <c:numFmt formatCode="0" sourceLinked="0"/>
          <c:txPr>
            <a:bodyPr/>
            <a:lstStyle/>
            <a:p>
              <a:pPr>
                <a:defRPr b="0" i="0" strike="noStrike" sz="900" u="none">
                  <a:solidFill>
                    <a:srgbClr val="000000"/>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95959"/>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D9D9D9"/>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95959"/>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595959"/>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00000"/>
                </a:solidFill>
                <a:latin typeface="+mn-lt"/>
              </a:defRPr>
            </a:pPr>
            <a:r>
              <a:rPr sz="1300" b="0" i="0" u="none" strike="noStrike">
                <a:solidFill>
                  <a:srgbClr val="000000"/>
                </a:solidFill>
                <a:latin typeface="+mn-lt"/>
              </a:rPr>
              <a:t>Inference throughput, slices per second</a:t>
            </a:r>
          </a:p>
        </c:rich>
      </c:tx>
      <c:layout/>
      <c:overlay val="0"/>
    </c:title>
    <c:autoTitleDeleted val="0"/>
    <c:plotArea>
      <c:layout/>
      <c:barChart>
        <c:barDir val="bar"/>
        <c:grouping val="clustered"/>
        <c:varyColors val="0"/>
        <c:ser>
          <c:idx val="0"/>
          <c:order val="0"/>
          <c:tx>
            <c:strRef>
              <c:f>Sheet1!$B$1</c:f>
              <c:strCache>
                <c:ptCount val="1"/>
                <c:pt idx="0">
                  <c:v>Slices / second</c:v>
                </c:pt>
              </c:strCache>
            </c:strRef>
          </c:tx>
          <c:spPr>
            <a:solidFill>
              <a:srgbClr val="A6A6A6"/>
            </a:solidFill>
            <a:effectLst/>
          </c:spPr>
          <c:invertIfNegative val="0"/>
          <c:dLbls>
            <c:numFmt formatCode="#,##0" sourceLinked="0"/>
            <c:txPr>
              <a:bodyPr/>
              <a:lstStyle/>
              <a:p>
                <a:pPr>
                  <a:defRPr b="0" i="0" strike="noStrike" sz="1000" u="none">
                    <a:solidFill>
                      <a:srgbClr val="000000"/>
                    </a:solidFill>
                    <a:latin typeface="+mn-lt"/>
                  </a:defRPr>
                </a:pPr>
              </a:p>
            </c:txPr>
            <c:showLegendKey val="0"/>
            <c:showVal val="1"/>
            <c:showCatName val="0"/>
            <c:showSerName val="0"/>
            <c:showPercent val="0"/>
            <c:showBubbleSize val="0"/>
            <c:showLeaderLines val="0"/>
          </c:dLbls>
          <c:dPt>
            <c:idx val="0"/>
            <c:invertIfNegative val="0"/>
            <c:bubble3D val="0"/>
            <c:spPr>
              <a:solidFill>
                <a:srgbClr val="A6A6A6"/>
              </a:solidFill>
              <a:effectLst/>
            </c:spPr>
          </c:dPt>
          <c:dPt>
            <c:idx val="1"/>
            <c:invertIfNegative val="0"/>
            <c:bubble3D val="0"/>
            <c:spPr>
              <a:solidFill>
                <a:srgbClr val="595959"/>
              </a:solidFill>
              <a:effectLst/>
            </c:spPr>
          </c:dPt>
          <c:dPt>
            <c:idx val="2"/>
            <c:invertIfNegative val="0"/>
            <c:bubble3D val="0"/>
            <c:spPr>
              <a:solidFill>
                <a:srgbClr val="000000"/>
              </a:solidFill>
              <a:effectLst/>
            </c:spPr>
          </c:dPt>
          <c:cat>
            <c:multiLvlStrRef>
              <c:f>Sheet1!$A$2:$A$4</c:f>
              <c:multiLvlStrCache>
                <c:ptCount val="3"/>
                <c:lvl>
                  <c:pt idx="0">
                    <c:v>CPU FP32</c:v>
                  </c:pt>
                  <c:pt idx="1">
                    <c:v>GPU FP32</c:v>
                  </c:pt>
                  <c:pt idx="2">
                    <c:v>GPU FP16 (AMP)</c:v>
                  </c:pt>
                </c:lvl>
              </c:multiLvlStrCache>
            </c:multiLvlStrRef>
          </c:cat>
          <c:val>
            <c:numRef>
              <c:f>Sheet1!$B$2:$B$4</c:f>
              <c:numCache>
                <c:formatCode>General</c:formatCode>
                <c:ptCount val="3"/>
                <c:pt idx="0">
                  <c:v>57</c:v>
                </c:pt>
                <c:pt idx="1">
                  <c:v>1157</c:v>
                </c:pt>
                <c:pt idx="2">
                  <c:v>2608</c:v>
                </c:pt>
              </c:numCache>
            </c:numRef>
          </c:val>
        </c:ser>
        <c:dLbls>
          <c:numFmt formatCode="#,##0" sourceLinked="0"/>
          <c:txPr>
            <a:bodyPr/>
            <a:lstStyle/>
            <a:p>
              <a:pPr>
                <a:defRPr b="0" i="0" strike="noStrike" sz="1000" u="none">
                  <a:solidFill>
                    <a:srgbClr val="000000"/>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95959"/>
                </a:solidFill>
                <a:latin typeface="+mn-lt"/>
              </a:defRPr>
            </a:pPr>
            <a:endParaRPr lang="en-US"/>
          </a:p>
        </c:txPr>
        <c:crossAx val="2094734552"/>
        <c:crosses val="autoZero"/>
        <c:auto val="1"/>
        <c:lblAlgn val="ctr"/>
        <c:noMultiLvlLbl val="1"/>
      </c:catAx>
      <c:valAx>
        <c:axId val="2094734552"/>
        <c:scaling>
          <c:orientation val="minMax"/>
        </c:scaling>
        <c:delete val="0"/>
        <c:axPos val="b"/>
        <c:majorGridlines>
          <c:spPr>
            <a:ln w="9525" cap="flat">
              <a:solidFill>
                <a:srgbClr val="D9D9D9"/>
              </a:solidFill>
              <a:prstDash val="solid"/>
              <a:round/>
            </a:ln>
          </c:spPr>
        </c:majorGridlines>
        <c:numFmt formatCode="#,##0" sourceLinked="0"/>
        <c:majorTickMark val="out"/>
        <c:minorTickMark val="none"/>
        <c:tickLblPos val="low"/>
        <c:spPr>
          <a:ln w="12700" cap="flat">
            <a:solidFill>
              <a:srgbClr val="888888"/>
            </a:solidFill>
            <a:prstDash val="solid"/>
            <a:round/>
          </a:ln>
        </c:spPr>
        <c:txPr>
          <a:bodyPr/>
          <a:lstStyle/>
          <a:p>
            <a:pPr>
              <a:defRPr sz="1000" b="0" i="0" u="none" strike="noStrike">
                <a:solidFill>
                  <a:srgbClr val="595959"/>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percentStacked"/>
        <c:varyColors val="0"/>
        <c:ser>
          <c:idx val="0"/>
          <c:order val="0"/>
          <c:tx>
            <c:strRef>
              <c:f>Sheet1!$B$1</c:f>
              <c:strCache>
                <c:ptCount val="1"/>
                <c:pt idx="0">
                  <c:v>Upload (H2D)</c:v>
                </c:pt>
              </c:strCache>
            </c:strRef>
          </c:tx>
          <c:spPr>
            <a:solidFill>
              <a:srgbClr val="6E6E6E"/>
            </a:solidFill>
            <a:effectLst/>
          </c:spPr>
          <c:invertIfNegative val="0"/>
          <c:dLbls>
            <c:numFmt formatCode="0.0" sourceLinked="0"/>
            <c:txPr>
              <a:bodyPr/>
              <a:lstStyle/>
              <a:p>
                <a:pPr>
                  <a:defRPr b="0" i="0" strike="noStrike" sz="1000" u="none">
                    <a:solidFill>
                      <a:srgbClr val="FFFFFF"/>
                    </a:solidFill>
                    <a:latin typeface="+mn-lt"/>
                  </a:defRPr>
                </a:pPr>
              </a:p>
            </c:txPr>
            <c:dLblPos val="ctr"/>
            <c:showLegendKey val="0"/>
            <c:showVal val="1"/>
            <c:showCatName val="0"/>
            <c:showSerName val="0"/>
            <c:showPercent val="0"/>
            <c:showBubbleSize val="0"/>
            <c:showLeaderLines val="0"/>
          </c:dLbls>
          <c:cat>
            <c:multiLvlStrRef>
              <c:f>Sheet1!$A$2:$A$3</c:f>
              <c:multiLvlStrCache>
                <c:ptCount val="2"/>
                <c:lvl>
                  <c:pt idx="0">
                    <c:v>CT volume</c:v>
                  </c:pt>
                  <c:pt idx="1">
                    <c:v>Denoise 256³</c:v>
                  </c:pt>
                </c:lvl>
              </c:multiLvlStrCache>
            </c:multiLvlStrRef>
          </c:cat>
          <c:val>
            <c:numRef>
              <c:f>Sheet1!$B$2:$B$3</c:f>
              <c:numCache>
                <c:formatCode>General</c:formatCode>
                <c:ptCount val="2"/>
                <c:pt idx="0">
                  <c:v>28.5</c:v>
                </c:pt>
                <c:pt idx="1">
                  <c:v>5.7</c:v>
                </c:pt>
              </c:numCache>
            </c:numRef>
          </c:val>
        </c:ser>
        <c:ser>
          <c:idx val="1"/>
          <c:order val="1"/>
          <c:tx>
            <c:strRef>
              <c:f>Sheet1!$C$1</c:f>
              <c:strCache>
                <c:ptCount val="1"/>
                <c:pt idx="0">
                  <c:v>Compute</c:v>
                </c:pt>
              </c:strCache>
            </c:strRef>
          </c:tx>
          <c:spPr>
            <a:solidFill>
              <a:srgbClr val="000000"/>
            </a:solidFill>
            <a:effectLst/>
          </c:spPr>
          <c:invertIfNegative val="0"/>
          <c:dLbls>
            <c:numFmt formatCode="0.0" sourceLinked="0"/>
            <c:txPr>
              <a:bodyPr/>
              <a:lstStyle/>
              <a:p>
                <a:pPr>
                  <a:defRPr b="0" i="0" strike="noStrike" sz="1000" u="none">
                    <a:solidFill>
                      <a:srgbClr val="FFFFFF"/>
                    </a:solidFill>
                    <a:latin typeface="+mn-lt"/>
                  </a:defRPr>
                </a:pPr>
              </a:p>
            </c:txPr>
            <c:dLblPos val="ctr"/>
            <c:showLegendKey val="0"/>
            <c:showVal val="1"/>
            <c:showCatName val="0"/>
            <c:showSerName val="0"/>
            <c:showPercent val="0"/>
            <c:showBubbleSize val="0"/>
            <c:showLeaderLines val="0"/>
          </c:dLbls>
          <c:cat>
            <c:multiLvlStrRef>
              <c:f>Sheet1!$A$2:$A$3</c:f>
              <c:multiLvlStrCache>
                <c:ptCount val="2"/>
                <c:lvl>
                  <c:pt idx="0">
                    <c:v>CT volume</c:v>
                  </c:pt>
                  <c:pt idx="1">
                    <c:v>Denoise 256³</c:v>
                  </c:pt>
                </c:lvl>
              </c:multiLvlStrCache>
            </c:multiLvlStrRef>
          </c:cat>
          <c:val>
            <c:numRef>
              <c:f>Sheet1!$C$2:$C$3</c:f>
              <c:numCache>
                <c:formatCode>General</c:formatCode>
                <c:ptCount val="2"/>
                <c:pt idx="0">
                  <c:v>13.7</c:v>
                </c:pt>
                <c:pt idx="1">
                  <c:v>2.4</c:v>
                </c:pt>
              </c:numCache>
            </c:numRef>
          </c:val>
        </c:ser>
        <c:ser>
          <c:idx val="2"/>
          <c:order val="2"/>
          <c:tx>
            <c:strRef>
              <c:f>Sheet1!$D$1</c:f>
              <c:strCache>
                <c:ptCount val="1"/>
                <c:pt idx="0">
                  <c:v>Download (D2H)</c:v>
                </c:pt>
              </c:strCache>
            </c:strRef>
          </c:tx>
          <c:spPr>
            <a:solidFill>
              <a:srgbClr val="A6A6A6"/>
            </a:solidFill>
            <a:effectLst/>
          </c:spPr>
          <c:invertIfNegative val="0"/>
          <c:dLbls>
            <c:numFmt formatCode="0.0" sourceLinked="0"/>
            <c:txPr>
              <a:bodyPr/>
              <a:lstStyle/>
              <a:p>
                <a:pPr>
                  <a:defRPr b="0" i="0" strike="noStrike" sz="1000" u="none">
                    <a:solidFill>
                      <a:srgbClr val="FFFFFF"/>
                    </a:solidFill>
                    <a:latin typeface="+mn-lt"/>
                  </a:defRPr>
                </a:pPr>
              </a:p>
            </c:txPr>
            <c:dLblPos val="ctr"/>
            <c:showLegendKey val="0"/>
            <c:showVal val="1"/>
            <c:showCatName val="0"/>
            <c:showSerName val="0"/>
            <c:showPercent val="0"/>
            <c:showBubbleSize val="0"/>
            <c:showLeaderLines val="0"/>
          </c:dLbls>
          <c:cat>
            <c:multiLvlStrRef>
              <c:f>Sheet1!$A$2:$A$3</c:f>
              <c:multiLvlStrCache>
                <c:ptCount val="2"/>
                <c:lvl>
                  <c:pt idx="0">
                    <c:v>CT volume</c:v>
                  </c:pt>
                  <c:pt idx="1">
                    <c:v>Denoise 256³</c:v>
                  </c:pt>
                </c:lvl>
              </c:multiLvlStrCache>
            </c:multiLvlStrRef>
          </c:cat>
          <c:val>
            <c:numRef>
              <c:f>Sheet1!$D$2:$D$3</c:f>
              <c:numCache>
                <c:formatCode>General</c:formatCode>
                <c:ptCount val="2"/>
                <c:pt idx="0">
                  <c:v>2.5</c:v>
                </c:pt>
                <c:pt idx="1">
                  <c:v>7.4</c:v>
                </c:pt>
              </c:numCache>
            </c:numRef>
          </c:val>
        </c:ser>
        <c:dLbls>
          <c:numFmt formatCode="0.0" sourceLinked="0"/>
          <c:txPr>
            <a:bodyPr/>
            <a:lstStyle/>
            <a:p>
              <a:pPr>
                <a:defRPr b="0" i="0" strike="noStrike" sz="1000" u="none">
                  <a:solidFill>
                    <a:srgbClr val="FFFFFF"/>
                  </a:solidFill>
                  <a:latin typeface="+mn-lt"/>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95959"/>
                </a:solidFill>
                <a:latin typeface="+mn-lt"/>
              </a:defRPr>
            </a:pPr>
            <a:endParaRPr lang="en-US"/>
          </a:p>
        </c:txPr>
        <c:crossAx val="2094734552"/>
        <c:crosses val="autoZero"/>
        <c:auto val="1"/>
        <c:lblAlgn val="ctr"/>
        <c:noMultiLvlLbl val="1"/>
      </c:catAx>
      <c:valAx>
        <c:axId val="2094734552"/>
        <c:scaling>
          <c:orientation val="minMax"/>
        </c:scaling>
        <c:delete val="1"/>
        <c:axPos val="b"/>
        <c:majorGridlines>
          <c:spPr>
            <a:ln w="9525" cap="flat">
              <a:solidFill>
                <a:srgbClr val="D9D9D9"/>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95959"/>
                </a:solidFill>
                <a:latin typeface="+mn-lt"/>
              </a:defRPr>
            </a:pPr>
            <a:endParaRPr lang="en-US"/>
          </a:p>
        </c:txPr>
        <c:crossAx val="2094734554"/>
        <c:crosses val="autoZero"/>
        <c:crossBetween val="between"/>
      </c:valAx>
      <c:spPr>
        <a:noFill/>
        <a:ln>
          <a:noFill/>
        </a:ln>
        <a:effectLst/>
      </c:spPr>
    </c:plotArea>
    <c:legend>
      <c:legendPos val="r"/>
      <c:overlay val="0"/>
      <c:txPr>
        <a:bodyPr/>
        <a:lstStyle/>
        <a:p>
          <a:pPr>
            <a:defRPr sz="1100">
              <a:solidFill>
                <a:srgbClr val="595959"/>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This case study shows how GPU computing speeds up the processing of CT and MRI scans. Everything in this deck was built and measured by us: a five-stage pipeline written for both CPU and GPU, including hand-written CUDA kernels, benchmarked on an RTX 5060. The four images on the right are real outputs of our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scanners don't capture a photo. CT measures X-ray projections from many angles, stored as a sinogram. MRI measures spatial frequencies, called k-space. In both cases a computer has to rebuild the image, and the output is a 3D volume of voxels. That reconstruction step is the first place GPUs help.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Scale is the issue. A single high-resolution CT is half a gigabyte, 4D studies reach 10 GB, and radiologists are already overloaded. Because volumes are 3D, work grows with the cube of resolution. Our own CPU baseline needed 11.8 s just for reconstruction.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problem statement: can GPU parallelism make CT and MRI processing interactive without changing the answer? Speed matters clinically, for example in stroke. We set four concrete objectives, and the rest of the deck answers each one with measurements.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CPU has a few powerful cores, 6 cores and 12 threads on our machine, with big caches to make one thread fast. The GPU has 30 streaming multiprocessors and about 3840 simple cores that run the same instruction on many data items. Each small square here stands for a group of cores. Medical images are a perfect match because every voxel can be processed independently.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GPU is organised into streaming multiprocessors. Each SM has CUDA cores, Tensor Cores for matrix maths, registers and fast shared memory. Below that are the L2 cache and the 8 GB global memory, and the PCIe link to the CPU. We measured that link at about 11.8 GB/s. The table shows where each part of our project lives. Performance comes down to using the fast memories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CUDA we launch a grid of blocks, and each block holds threads. We give every output pixel or voxel its own thread. For CT reconstruction that means 8.4 million threads, one per pixel of every slice. Threads in a block can share fast memory, which our tiled convolution uses. Warps of 32 threads execute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numbers come from this one machine. CPU baselines use NumPy and SciPy, and where PyTorch is used on the CPU it uses all hardware threads, so the comparison is fair. The code is organised by stage, and one script reruns everything and writes every metric to results.json, which this deck is generated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used five data sources: two real scans and three simulated sets. The real MRI and real CT come from the Stanford Volume Data Archive. Simulated data is used where we need an exact ground truth: the Shepp-Logan phantom is the standard CT reconstruction benchmark, and our lesion slices have exact masks so Dice can be measured precisely. Large labelled public sets such as the Medical Segmentation Decathlon would be the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pipeline end to end, with real outputs from each stage. Each stage has a CPU version and a GPU version, and the bottom row shows which GPU technique it demonstrates: our own kernels, NVIDIA libraries like cuFFT and cuDNN, mixed precision on Tensor Cores, and parallel ray casting.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followed a strict protocol: warm up, time with CUDA events or with explicit synchronisation, repeat and average. Most importantly we checked that the GPU computes the same answer. Differences are at the level of floating-point rounding, so every speedup we report comes with the same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FBP has two steps. First each projection is sharpened with a ramp filter, which we do with cuFFT. Then every pixel sums the filtered values from all angles. In our kernel one thread does one pixel. The cos and sin tables sit in constant memory, and __ldg reads the sinogram through the read-only cache. The whole volume is 2.1 billion interpolations, all independent.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the GPU images are identical to the CPU ones. For a full 128-slice volume the CPU took 11.8 s, the GPU 45 ms including all transfers. That is 265×. The kernel alone runs in 6.8 ms. The chart shows the gap widens as images get larger, because a bigger problem keeps more GPU cores busy. At 128 px the GPU is less impressive because the work is too small to fill the GPU.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took a real brain MRI, converted it to k-space and kept only a quarter of the lines, like a four-times-faster scan. Simply inverting gives a blurry, aliased image at 22.8 dB. Our iterative compressed-sensing method recovers 25.6 dB. It needs 400 FFTs per slice, which is why it is normally too slow. On the GPU it runs 7.0× faster than on all CPU threads. FFT scaling: on a 512-cubed volume cuFFT takes 19 ms. Against single-thread NumPy that looks like 329×, but the fair comparison is an optimised multi-threaded CPU FFT: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Denoising is a 5 by 5 by 5 convolution: 125 multiply-adds per voxel. The naive kernel reads all 125 neighbours from global memory. The tiled kernel has each block load a 12-cubed tile into shared memory once, so global reads fall from 125 to about 3.4 per voxel. Result on a 256-cubed volume: CPU 1.2 s, tiled kernel 2.4 ms, which is 503× faster and 1.75 times faster than naive, about 7.0 billion voxels per second. It also beats cuDNN by 4.3 times, because cuDNN is tuned for many-channel deep-learning layers. Reality check: PCIe copies take 85% of GPU time, so with transfers the speedup is 78×. Image quality improves from 21.9 to 25.3 dB PSNR.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four is deep learning: a 7.8 million parameter U-Net, an encoder-decoder with skip connections, trained to outline lesions. It reaches Dice 0.909 on 200 test slices it never saw. White is the truth, black dashed is the prediction. Training: one epoch takes 107.3 s on the CPU and 12.4 s on the GPU with FP16 mixed precision; all 25 epochs took 310 s on the GPU versus roughly 45 minutes on the CPU. Inference: 2608 slices per second on Tensor Cores versus 57 on the CPU, so a 500-slice CT is segmented in well under a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stage is visualisation, on a real head CT from the Stanford archive. For each view we rotate the volume and cast a ray through every pixel. Maximum intensity projection keeps the brightest voxel; volume rendering blends colour and opacity along the ray. The GPU renders 69 frames per second, fast enough to rotate the scan smoothly. The CPU manages 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Putting it together, one study takes 32.2 s on the CPU and 728 ms on the GPU: 44× overall. The bottom bar shows where GPU time goes. For simple stages like denoising, copying data over PCIe costs more than the computation itself. That's Amdahl's law: once compute is fast, the serial transfer part dominates. In production you keep the data on the GPU across the whole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results also show the limits. Transfers are the biggest bottleneck, GPU memory caps the volume size, and reduced precision must be validated for clinical use. Privacy and regulation shape where GPUs can run. The good news: industry already does this. Major scanner vendors ship GPU-based deep-learning reconstruction, and NVIDIA Clara and MONAI are used in hospitals.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GPUs made our complete CT and MRI pipeline about 44× faster with identical results. The biggest lessons were about memory: use shared memory, and avoid moving data back and forth. This is what makes real-time medical imaging possible. Thank you;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417320"/>
            <a:ext cx="6126480" cy="2103120"/>
          </a:xfrm>
          <a:prstGeom prst="rect">
            <a:avLst/>
          </a:prstGeom>
          <a:noFill/>
          <a:ln/>
        </p:spPr>
        <p:txBody>
          <a:bodyPr wrap="square" rtlCol="0"/>
          <a:lstStyle>
            <a:lvl1pPr algn="l" indent="0" marL="0">
              <a:buNone/>
              <a:defRPr lang="en-US" sz="42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200" dirty="0"/>
          </a:p>
        </p:txBody>
      </p:sp>
      <p:sp>
        <p:nvSpPr>
          <p:cNvPr id="3" name="Text 0"/>
          <p:cNvSpPr/>
          <p:nvPr>
            <p:ph idx="101" type="body" hasCustomPrompt="1"/>
          </p:nvPr>
        </p:nvSpPr>
        <p:spPr>
          <a:xfrm>
            <a:off x="640080" y="3703320"/>
            <a:ext cx="6035040" cy="1005840"/>
          </a:xfrm>
          <a:prstGeom prst="rect">
            <a:avLst/>
          </a:prstGeom>
          <a:noFill/>
          <a:ln/>
        </p:spPr>
        <p:txBody>
          <a:bodyPr wrap="square" rtlCol="0"/>
          <a:lstStyle>
            <a:lvl1pPr indent="0" marL="0">
              <a:buNone/>
              <a:defRPr lang="en-US" sz="1800" dirty="0">
                <a:solidFill>
                  <a:srgbClr val="BFBFBF"/>
                </a:solidFill>
                <a:latin typeface="Calibri" pitchFamily="34" charset="0"/>
                <a:ea typeface="Calibri" pitchFamily="34" charset="-122"/>
                <a:cs typeface="Calibri" pitchFamily="34" charset="-120"/>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indent="0" marL="0">
              <a:buNone/>
              <a:defRPr lang="en-US" sz="3400" b="1" dirty="0">
                <a:solidFill>
                  <a:schemeClr val="tx2"/>
                </a:solidFill>
                <a:latin typeface="Cambria" pitchFamily="34" charset="0"/>
                <a:ea typeface="Cambria" pitchFamily="34" charset="-122"/>
                <a:cs typeface="Cambria" pitchFamily="34" charset="-120"/>
              </a:defRPr>
            </a:lvl1pPr>
          </a:lstStyle>
          <a:p>
            <a:pPr indent="0" marL="0">
              <a:buNone/>
            </a:pPr>
            <a:endParaRPr lang="en-US" sz="3400" dirty="0"/>
          </a:p>
        </p:txBody>
      </p:sp>
      <p:sp>
        <p:nvSpPr>
          <p:cNvPr id="3" name="Text 0"/>
          <p:cNvSpPr/>
          <p:nvPr/>
        </p:nvSpPr>
        <p:spPr>
          <a:xfrm>
            <a:off x="548640" y="640080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GPU-Accelerated Medical Image Analysis  |  PDS Case Study</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indent="0" marL="0">
              <a:buNone/>
              <a:defRPr lang="en-US" sz="3400" b="1" dirty="0">
                <a:solidFill>
                  <a:schemeClr val="bg1"/>
                </a:solidFill>
                <a:latin typeface="Cambria" pitchFamily="34" charset="0"/>
                <a:ea typeface="Cambria" pitchFamily="34" charset="-122"/>
                <a:cs typeface="Cambria" pitchFamily="34" charset="-120"/>
              </a:defRPr>
            </a:lvl1pPr>
          </a:lstStyle>
          <a:p>
            <a:pPr indent="0" marL="0">
              <a:buNone/>
            </a:pPr>
            <a:endParaRPr lang="en-US" sz="3400" dirty="0"/>
          </a:p>
        </p:txBody>
      </p:sp>
      <p:sp>
        <p:nvSpPr>
          <p:cNvPr id="3" name="Text 0"/>
          <p:cNvSpPr/>
          <p:nvPr/>
        </p:nvSpPr>
        <p:spPr>
          <a:xfrm>
            <a:off x="548640" y="6400800"/>
            <a:ext cx="7315200" cy="274320"/>
          </a:xfrm>
          <a:prstGeom prst="rect">
            <a:avLst/>
          </a:prstGeom>
          <a:noFill/>
          <a:ln/>
        </p:spPr>
        <p:txBody>
          <a:bodyPr wrap="square" rtlCol="0" anchor="ctr"/>
          <a:lstStyle/>
          <a:p>
            <a:pPr indent="0" marL="0">
              <a:buNone/>
            </a:pPr>
            <a:r>
              <a:rPr lang="en-US" sz="1000" dirty="0">
                <a:solidFill>
                  <a:srgbClr val="A6A6A6"/>
                </a:solidFill>
                <a:latin typeface="Calibri" pitchFamily="34" charset="0"/>
                <a:ea typeface="Calibri" pitchFamily="34" charset="-122"/>
                <a:cs typeface="Calibri" pitchFamily="34" charset="-120"/>
              </a:rPr>
              <a:t>GPU-Accelerated Medical Image Analysis  |  PDS Case Study</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6A6A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3.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3.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13-1.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3.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2" Type="http://schemas.openxmlformats.org/officeDocument/2006/relationships/chart" Target="/ppt/charts/chart4.xml"/><Relationship Id="rId1" Type="http://schemas.openxmlformats.org/officeDocument/2006/relationships/image" Target="../media/image-16-1.png"/><Relationship Id="rId3" Type="http://schemas.openxmlformats.org/officeDocument/2006/relationships/slideLayout" Target="../slideLayouts/slideLayout3.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3.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4.xml"/><Relationship Id="rId6"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417320"/>
            <a:ext cx="6126480" cy="2103120"/>
          </a:xfrm>
          <a:prstGeom prst="rect">
            <a:avLst/>
          </a:prstGeom>
          <a:noFill/>
          <a:ln/>
        </p:spPr>
        <p:txBody>
          <a:bodyPr wrap="square" lIns="0" tIns="0" rIns="0" bIns="0" rtlCol="0" anchor="b"/>
          <a:lstStyle/>
          <a:p>
            <a:pPr algn="l" indent="0" marL="0">
              <a:buNone/>
            </a:pPr>
            <a:r>
              <a:rPr lang="en-US" sz="4200" b="1" dirty="0">
                <a:solidFill>
                  <a:schemeClr val="bg1"/>
                </a:solidFill>
                <a:latin typeface="Cambria" pitchFamily="34" charset="0"/>
                <a:ea typeface="Cambria" pitchFamily="34" charset="-122"/>
                <a:cs typeface="Cambria" pitchFamily="34" charset="-120"/>
              </a:rPr>
              <a:t>GPU-Accelerated Medical Image Analysis</a:t>
            </a:r>
            <a:endParaRPr lang="en-US" sz="4200" dirty="0"/>
          </a:p>
        </p:txBody>
      </p:sp>
      <p:sp>
        <p:nvSpPr>
          <p:cNvPr id="3" name="Text 0"/>
          <p:cNvSpPr/>
          <p:nvPr>
            <p:ph idx="101" type="body" hasCustomPrompt="1"/>
          </p:nvPr>
        </p:nvSpPr>
        <p:spPr>
          <a:xfrm>
            <a:off x="640080" y="3703320"/>
            <a:ext cx="6035040" cy="1005840"/>
          </a:xfrm>
          <a:prstGeom prst="rect">
            <a:avLst/>
          </a:prstGeom>
          <a:noFill/>
          <a:ln/>
        </p:spPr>
        <p:txBody>
          <a:bodyPr wrap="square" lIns="0" tIns="0" rIns="0" bIns="0" rtlCol="0" anchor="t"/>
          <a:lstStyle/>
          <a:p>
            <a:pPr indent="0" marL="0">
              <a:buNone/>
            </a:pPr>
            <a:r>
              <a:rPr lang="en-US" sz="1800" dirty="0">
                <a:solidFill>
                  <a:srgbClr val="BFBFBF"/>
                </a:solidFill>
                <a:latin typeface="Calibri" pitchFamily="34" charset="0"/>
                <a:ea typeface="Calibri" pitchFamily="34" charset="-122"/>
                <a:cs typeface="Calibri" pitchFamily="34" charset="-120"/>
              </a:rPr>
              <a:t>Case study: processing CT and MRI scans with CUDA on an NVIDIA GeForce RTX 5060</a:t>
            </a:r>
            <a:endParaRPr lang="en-US" sz="1800" dirty="0"/>
          </a:p>
        </p:txBody>
      </p:sp>
      <p:sp>
        <p:nvSpPr>
          <p:cNvPr id="4" name="Text 2"/>
          <p:cNvSpPr txBox="1"/>
          <p:nvPr/>
        </p:nvSpPr>
        <p:spPr>
          <a:xfrm>
            <a:off x="640080" y="4983480"/>
            <a:ext cx="6035040" cy="320040"/>
          </a:xfrm>
          <a:prstGeom prst="rect">
            <a:avLst/>
          </a:prstGeom>
          <a:noFill/>
          <a:ln/>
        </p:spPr>
        <p:txBody>
          <a:bodyPr wrap="square" lIns="0" tIns="0" rIns="0" bIns="0" rtlCol="0" anchor="t"/>
          <a:lstStyle/>
          <a:p>
            <a:pPr indent="0" marL="0">
              <a:buNone/>
            </a:pPr>
            <a:r>
              <a:rPr lang="en-US" sz="1400" dirty="0">
                <a:solidFill>
                  <a:srgbClr val="D9D9D9"/>
                </a:solidFill>
                <a:latin typeface="Calibri" pitchFamily="34" charset="0"/>
                <a:ea typeface="Calibri" pitchFamily="34" charset="-122"/>
                <a:cs typeface="Calibri" pitchFamily="34" charset="-120"/>
              </a:rPr>
              <a:t>Parallel &amp; Distributed Systems  |  Case Study Presentation</a:t>
            </a:r>
            <a:endParaRPr lang="en-US" sz="1400" dirty="0"/>
          </a:p>
        </p:txBody>
      </p:sp>
      <p:sp>
        <p:nvSpPr>
          <p:cNvPr id="5" name="Text 3"/>
          <p:cNvSpPr txBox="1"/>
          <p:nvPr/>
        </p:nvSpPr>
        <p:spPr>
          <a:xfrm>
            <a:off x="640080" y="5349240"/>
            <a:ext cx="6035040" cy="320040"/>
          </a:xfrm>
          <a:prstGeom prst="rect">
            <a:avLst/>
          </a:prstGeom>
          <a:noFill/>
          <a:ln/>
        </p:spPr>
        <p:txBody>
          <a:bodyPr wrap="square" lIns="0" tIns="0" rIns="0" bIns="0" rtlCol="0" anchor="t"/>
          <a:lstStyle/>
          <a:p>
            <a:pPr indent="0" marL="0">
              <a:buNone/>
            </a:pPr>
            <a:r>
              <a:rPr lang="en-US" sz="1400" dirty="0">
                <a:solidFill>
                  <a:srgbClr val="D9D9D9"/>
                </a:solidFill>
                <a:latin typeface="Calibri" pitchFamily="34" charset="0"/>
                <a:ea typeface="Calibri" pitchFamily="34" charset="-122"/>
                <a:cs typeface="Calibri" pitchFamily="34" charset="-120"/>
              </a:rPr>
              <a:t>Presented by: [Your Name]  ·  [Roll No.]  ·  October 2026</a:t>
            </a:r>
            <a:endParaRPr lang="en-US" sz="1400" dirty="0"/>
          </a:p>
        </p:txBody>
      </p:sp>
      <p:pic>
        <p:nvPicPr>
          <p:cNvPr id="6" name="hero-ct_recon" descr="CT reconstruction">    </p:cNvPr>
          <p:cNvPicPr>
            <a:picLocks noChangeAspect="1"/>
          </p:cNvPicPr>
          <p:nvPr/>
        </p:nvPicPr>
        <p:blipFill>
          <a:blip r:embed="rId1"/>
          <a:stretch>
            <a:fillRect/>
          </a:stretch>
        </p:blipFill>
        <p:spPr>
          <a:xfrm>
            <a:off x="7315200" y="1097280"/>
            <a:ext cx="2057400" cy="2057400"/>
          </a:xfrm>
          <a:prstGeom prst="rect">
            <a:avLst/>
          </a:prstGeom>
        </p:spPr>
      </p:pic>
      <p:sp>
        <p:nvSpPr>
          <p:cNvPr id="7" name="Text 4"/>
          <p:cNvSpPr txBox="1"/>
          <p:nvPr/>
        </p:nvSpPr>
        <p:spPr>
          <a:xfrm>
            <a:off x="7315200" y="3200400"/>
            <a:ext cx="2057400" cy="256032"/>
          </a:xfrm>
          <a:prstGeom prst="rect">
            <a:avLst/>
          </a:prstGeom>
          <a:noFill/>
          <a:ln/>
        </p:spPr>
        <p:txBody>
          <a:bodyPr wrap="square" lIns="0" tIns="0" rIns="0" bIns="0" rtlCol="0" anchor="t"/>
          <a:lstStyle/>
          <a:p>
            <a:pPr algn="ctr" indent="0" marL="0">
              <a:buNone/>
            </a:pPr>
            <a:r>
              <a:rPr lang="en-US" sz="1100" dirty="0">
                <a:solidFill>
                  <a:srgbClr val="A6A6A6"/>
                </a:solidFill>
                <a:latin typeface="Calibri" pitchFamily="34" charset="0"/>
                <a:ea typeface="Calibri" pitchFamily="34" charset="-122"/>
                <a:cs typeface="Calibri" pitchFamily="34" charset="-120"/>
              </a:rPr>
              <a:t>CT reconstruction</a:t>
            </a:r>
            <a:endParaRPr lang="en-US" sz="1100" dirty="0"/>
          </a:p>
        </p:txBody>
      </p:sp>
      <p:pic>
        <p:nvPicPr>
          <p:cNvPr id="8" name="hero-mri" descr="MRI">    </p:cNvPr>
          <p:cNvPicPr>
            <a:picLocks noChangeAspect="1"/>
          </p:cNvPicPr>
          <p:nvPr/>
        </p:nvPicPr>
        <p:blipFill>
          <a:blip r:embed="rId2"/>
          <a:stretch>
            <a:fillRect/>
          </a:stretch>
        </p:blipFill>
        <p:spPr>
          <a:xfrm>
            <a:off x="9555480" y="1097280"/>
            <a:ext cx="2057400" cy="2057400"/>
          </a:xfrm>
          <a:prstGeom prst="rect">
            <a:avLst/>
          </a:prstGeom>
        </p:spPr>
      </p:pic>
      <p:sp>
        <p:nvSpPr>
          <p:cNvPr id="9" name="Text 5"/>
          <p:cNvSpPr txBox="1"/>
          <p:nvPr/>
        </p:nvSpPr>
        <p:spPr>
          <a:xfrm>
            <a:off x="9555480" y="3200400"/>
            <a:ext cx="2057400" cy="256032"/>
          </a:xfrm>
          <a:prstGeom prst="rect">
            <a:avLst/>
          </a:prstGeom>
          <a:noFill/>
          <a:ln/>
        </p:spPr>
        <p:txBody>
          <a:bodyPr wrap="square" lIns="0" tIns="0" rIns="0" bIns="0" rtlCol="0" anchor="t"/>
          <a:lstStyle/>
          <a:p>
            <a:pPr algn="ctr" indent="0" marL="0">
              <a:buNone/>
            </a:pPr>
            <a:r>
              <a:rPr lang="en-US" sz="1100" dirty="0">
                <a:solidFill>
                  <a:srgbClr val="A6A6A6"/>
                </a:solidFill>
                <a:latin typeface="Calibri" pitchFamily="34" charset="0"/>
                <a:ea typeface="Calibri" pitchFamily="34" charset="-122"/>
                <a:cs typeface="Calibri" pitchFamily="34" charset="-120"/>
              </a:rPr>
              <a:t>MRI</a:t>
            </a:r>
            <a:endParaRPr lang="en-US" sz="1100" dirty="0"/>
          </a:p>
        </p:txBody>
      </p:sp>
      <p:pic>
        <p:nvPicPr>
          <p:cNvPr id="10" name="hero-seg_overlay" descr="U-Net segmentation">    </p:cNvPr>
          <p:cNvPicPr>
            <a:picLocks noChangeAspect="1"/>
          </p:cNvPicPr>
          <p:nvPr/>
        </p:nvPicPr>
        <p:blipFill>
          <a:blip r:embed="rId3"/>
          <a:stretch>
            <a:fillRect/>
          </a:stretch>
        </p:blipFill>
        <p:spPr>
          <a:xfrm>
            <a:off x="7315200" y="3520440"/>
            <a:ext cx="2057400" cy="2057400"/>
          </a:xfrm>
          <a:prstGeom prst="rect">
            <a:avLst/>
          </a:prstGeom>
        </p:spPr>
      </p:pic>
      <p:sp>
        <p:nvSpPr>
          <p:cNvPr id="11" name="Text 6"/>
          <p:cNvSpPr txBox="1"/>
          <p:nvPr/>
        </p:nvSpPr>
        <p:spPr>
          <a:xfrm>
            <a:off x="7315200" y="5623560"/>
            <a:ext cx="2057400" cy="256032"/>
          </a:xfrm>
          <a:prstGeom prst="rect">
            <a:avLst/>
          </a:prstGeom>
          <a:noFill/>
          <a:ln/>
        </p:spPr>
        <p:txBody>
          <a:bodyPr wrap="square" lIns="0" tIns="0" rIns="0" bIns="0" rtlCol="0" anchor="t"/>
          <a:lstStyle/>
          <a:p>
            <a:pPr algn="ctr" indent="0" marL="0">
              <a:buNone/>
            </a:pPr>
            <a:r>
              <a:rPr lang="en-US" sz="1100" dirty="0">
                <a:solidFill>
                  <a:srgbClr val="A6A6A6"/>
                </a:solidFill>
                <a:latin typeface="Calibri" pitchFamily="34" charset="0"/>
                <a:ea typeface="Calibri" pitchFamily="34" charset="-122"/>
                <a:cs typeface="Calibri" pitchFamily="34" charset="-120"/>
              </a:rPr>
              <a:t>U-Net segmentation</a:t>
            </a:r>
            <a:endParaRPr lang="en-US" sz="1100" dirty="0"/>
          </a:p>
        </p:txBody>
      </p:sp>
      <p:pic>
        <p:nvPicPr>
          <p:cNvPr id="12" name="hero-render" descr="3D volume rendering">    </p:cNvPr>
          <p:cNvPicPr>
            <a:picLocks noChangeAspect="1"/>
          </p:cNvPicPr>
          <p:nvPr/>
        </p:nvPicPr>
        <p:blipFill>
          <a:blip r:embed="rId4"/>
          <a:stretch>
            <a:fillRect/>
          </a:stretch>
        </p:blipFill>
        <p:spPr>
          <a:xfrm>
            <a:off x="9555480" y="3520440"/>
            <a:ext cx="2057400" cy="2057400"/>
          </a:xfrm>
          <a:prstGeom prst="rect">
            <a:avLst/>
          </a:prstGeom>
        </p:spPr>
      </p:pic>
      <p:sp>
        <p:nvSpPr>
          <p:cNvPr id="13" name="Text 7"/>
          <p:cNvSpPr txBox="1"/>
          <p:nvPr/>
        </p:nvSpPr>
        <p:spPr>
          <a:xfrm>
            <a:off x="9555480" y="5623560"/>
            <a:ext cx="2057400" cy="256032"/>
          </a:xfrm>
          <a:prstGeom prst="rect">
            <a:avLst/>
          </a:prstGeom>
          <a:noFill/>
          <a:ln/>
        </p:spPr>
        <p:txBody>
          <a:bodyPr wrap="square" lIns="0" tIns="0" rIns="0" bIns="0" rtlCol="0" anchor="t"/>
          <a:lstStyle/>
          <a:p>
            <a:pPr algn="ctr" indent="0" marL="0">
              <a:buNone/>
            </a:pPr>
            <a:r>
              <a:rPr lang="en-US" sz="1100" dirty="0">
                <a:solidFill>
                  <a:srgbClr val="A6A6A6"/>
                </a:solidFill>
                <a:latin typeface="Calibri" pitchFamily="34" charset="0"/>
                <a:ea typeface="Calibri" pitchFamily="34" charset="-122"/>
                <a:cs typeface="Calibri" pitchFamily="34" charset="-120"/>
              </a:rPr>
              <a:t>3D volume rendering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CT and MRI produce 3D volumes, not single pictures</a:t>
            </a:r>
            <a:endParaRPr lang="en-US" sz="3400" dirty="0"/>
          </a:p>
        </p:txBody>
      </p:sp>
      <p:sp>
        <p:nvSpPr>
          <p:cNvPr id="3" name="modality-0"/>
          <p:cNvSpPr/>
          <p:nvPr/>
        </p:nvSpPr>
        <p:spPr>
          <a:xfrm>
            <a:off x="548640" y="1371600"/>
            <a:ext cx="5440680" cy="4709160"/>
          </a:xfrm>
          <a:prstGeom prst="roundRect">
            <a:avLst>
              <a:gd name="adj" fmla="val 1553"/>
            </a:avLst>
          </a:prstGeom>
          <a:solidFill>
            <a:schemeClr val="bg1"/>
          </a:solidFill>
          <a:ln w="9525">
            <a:solidFill>
              <a:srgbClr val="D9D9D9"/>
            </a:solidFill>
            <a:prstDash val="solid"/>
          </a:ln>
          <a:effectLst>
            <a:outerShdw sx="100000" sy="100000" kx="0" ky="0" algn="bl" rotWithShape="0" blurRad="76200" dist="19050" dir="5400000">
              <a:srgbClr val="000000">
                <a:alpha val="12000"/>
              </a:srgbClr>
            </a:outerShdw>
          </a:effectLst>
        </p:spPr>
      </p:sp>
      <p:sp>
        <p:nvSpPr>
          <p:cNvPr id="4" name="icon-bg-FaXRay"/>
          <p:cNvSpPr/>
          <p:nvPr/>
        </p:nvSpPr>
        <p:spPr>
          <a:xfrm>
            <a:off x="822960" y="1600200"/>
            <a:ext cx="685800" cy="685800"/>
          </a:xfrm>
          <a:prstGeom prst="ellipse">
            <a:avLst/>
          </a:prstGeom>
          <a:solidFill>
            <a:schemeClr val="accent1"/>
          </a:solidFill>
          <a:ln/>
        </p:spPr>
      </p:sp>
      <p:pic>
        <p:nvPicPr>
          <p:cNvPr id="5" name="icon-FaXRay" descr="XRay icon">    </p:cNvPr>
          <p:cNvPicPr>
            <a:picLocks noChangeAspect="1"/>
          </p:cNvPicPr>
          <p:nvPr/>
        </p:nvPicPr>
        <p:blipFill>
          <a:blip r:embed="rId1"/>
          <a:stretch>
            <a:fillRect/>
          </a:stretch>
        </p:blipFill>
        <p:spPr>
          <a:xfrm>
            <a:off x="987552" y="1764792"/>
            <a:ext cx="356616" cy="356616"/>
          </a:xfrm>
          <a:prstGeom prst="rect">
            <a:avLst/>
          </a:prstGeom>
        </p:spPr>
      </p:pic>
      <p:sp>
        <p:nvSpPr>
          <p:cNvPr id="6" name="Text 3"/>
          <p:cNvSpPr txBox="1"/>
          <p:nvPr/>
        </p:nvSpPr>
        <p:spPr>
          <a:xfrm>
            <a:off x="1691640" y="1691640"/>
            <a:ext cx="4023360" cy="502920"/>
          </a:xfrm>
          <a:prstGeom prst="rect">
            <a:avLst/>
          </a:prstGeom>
          <a:noFill/>
          <a:ln/>
        </p:spPr>
        <p:txBody>
          <a:bodyPr wrap="square" lIns="0" tIns="0" rIns="0" bIns="0" rtlCol="0" anchor="ctr"/>
          <a:lstStyle/>
          <a:p>
            <a:pPr indent="0" marL="0">
              <a:buNone/>
            </a:pPr>
            <a:r>
              <a:rPr lang="en-US" sz="2100" b="1" dirty="0">
                <a:solidFill>
                  <a:schemeClr val="tx2"/>
                </a:solidFill>
                <a:latin typeface="Calibri" pitchFamily="34" charset="0"/>
                <a:ea typeface="Calibri" pitchFamily="34" charset="-122"/>
                <a:cs typeface="Calibri" pitchFamily="34" charset="-120"/>
              </a:rPr>
              <a:t>Computed Tomography (CT)</a:t>
            </a:r>
            <a:endParaRPr lang="en-US" sz="2100" dirty="0"/>
          </a:p>
        </p:txBody>
      </p:sp>
      <p:sp>
        <p:nvSpPr>
          <p:cNvPr id="7" name="Text 4"/>
          <p:cNvSpPr txBox="1"/>
          <p:nvPr/>
        </p:nvSpPr>
        <p:spPr>
          <a:xfrm>
            <a:off x="822960" y="2560320"/>
            <a:ext cx="3063240" cy="274320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X-ray source rotates around the patient</a:t>
            </a:r>
            <a:endParaRPr lang="en-US" sz="1500" dirty="0"/>
          </a:p>
          <a:p>
            <a:pPr marL="177800" indent="-1778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Detector records projections from hundreds of angles</a:t>
            </a:r>
            <a:endParaRPr lang="en-US" sz="1500" dirty="0"/>
          </a:p>
          <a:p>
            <a:pPr marL="177800" indent="-1778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Raw data = sinogram, image is rebuilt by reconstruction</a:t>
            </a:r>
            <a:endParaRPr lang="en-US" sz="1500" dirty="0"/>
          </a:p>
          <a:p>
            <a:pPr marL="177800" indent="-1778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Fast (seconds): trauma, lungs, bone, stroke</a:t>
            </a:r>
            <a:endParaRPr lang="en-US" sz="1500" dirty="0"/>
          </a:p>
        </p:txBody>
      </p:sp>
      <p:pic>
        <p:nvPicPr>
          <p:cNvPr id="8" name="sinogram" descr="Raw CT data: sinogram">    </p:cNvPr>
          <p:cNvPicPr>
            <a:picLocks noChangeAspect="1"/>
          </p:cNvPicPr>
          <p:nvPr/>
        </p:nvPicPr>
        <p:blipFill>
          <a:blip r:embed="rId2"/>
          <a:stretch>
            <a:fillRect/>
          </a:stretch>
        </p:blipFill>
        <p:spPr>
          <a:xfrm>
            <a:off x="4114800" y="2560320"/>
            <a:ext cx="1645920" cy="1645920"/>
          </a:xfrm>
          <a:prstGeom prst="rect">
            <a:avLst/>
          </a:prstGeom>
        </p:spPr>
      </p:pic>
      <p:sp>
        <p:nvSpPr>
          <p:cNvPr id="9" name="Text 5"/>
          <p:cNvSpPr txBox="1"/>
          <p:nvPr/>
        </p:nvSpPr>
        <p:spPr>
          <a:xfrm>
            <a:off x="4023360" y="4251960"/>
            <a:ext cx="1828800" cy="457200"/>
          </a:xfrm>
          <a:prstGeom prst="rect">
            <a:avLst/>
          </a:prstGeom>
          <a:noFill/>
          <a:ln/>
        </p:spPr>
        <p:txBody>
          <a:bodyPr wrap="square" lIns="0" tIns="0" rIns="0" bIns="0" rtlCol="0" anchor="t"/>
          <a:lstStyle/>
          <a:p>
            <a:pPr algn="ctr" indent="0" marL="0">
              <a:buNone/>
            </a:pPr>
            <a:r>
              <a:rPr lang="en-US" sz="1100" dirty="0">
                <a:solidFill>
                  <a:srgbClr val="595959"/>
                </a:solidFill>
                <a:latin typeface="Calibri" pitchFamily="34" charset="0"/>
                <a:ea typeface="Calibri" pitchFamily="34" charset="-122"/>
                <a:cs typeface="Calibri" pitchFamily="34" charset="-120"/>
              </a:rPr>
              <a:t>Raw CT data: sinogram</a:t>
            </a:r>
            <a:endParaRPr lang="en-US" sz="1100" dirty="0"/>
          </a:p>
        </p:txBody>
      </p:sp>
      <p:sp>
        <p:nvSpPr>
          <p:cNvPr id="10" name="Text 6"/>
          <p:cNvSpPr txBox="1"/>
          <p:nvPr/>
        </p:nvSpPr>
        <p:spPr>
          <a:xfrm>
            <a:off x="822960" y="5440680"/>
            <a:ext cx="4937760" cy="365760"/>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Output: stack of 2D slices = 3D voxel volume</a:t>
            </a:r>
            <a:endParaRPr lang="en-US" sz="1400" dirty="0"/>
          </a:p>
        </p:txBody>
      </p:sp>
      <p:sp>
        <p:nvSpPr>
          <p:cNvPr id="11" name="modality-1"/>
          <p:cNvSpPr/>
          <p:nvPr/>
        </p:nvSpPr>
        <p:spPr>
          <a:xfrm>
            <a:off x="6217920" y="1371600"/>
            <a:ext cx="5440680" cy="4709160"/>
          </a:xfrm>
          <a:prstGeom prst="roundRect">
            <a:avLst>
              <a:gd name="adj" fmla="val 1553"/>
            </a:avLst>
          </a:prstGeom>
          <a:solidFill>
            <a:schemeClr val="bg1"/>
          </a:solidFill>
          <a:ln w="9525">
            <a:solidFill>
              <a:srgbClr val="D9D9D9"/>
            </a:solidFill>
            <a:prstDash val="solid"/>
          </a:ln>
          <a:effectLst>
            <a:outerShdw sx="100000" sy="100000" kx="0" ky="0" algn="bl" rotWithShape="0" blurRad="76200" dist="19050" dir="5400000">
              <a:srgbClr val="000000">
                <a:alpha val="12000"/>
              </a:srgbClr>
            </a:outerShdw>
          </a:effectLst>
        </p:spPr>
      </p:sp>
      <p:sp>
        <p:nvSpPr>
          <p:cNvPr id="12" name="icon-bg-FaBrain"/>
          <p:cNvSpPr/>
          <p:nvPr/>
        </p:nvSpPr>
        <p:spPr>
          <a:xfrm>
            <a:off x="6492240" y="1600200"/>
            <a:ext cx="685800" cy="685800"/>
          </a:xfrm>
          <a:prstGeom prst="ellipse">
            <a:avLst/>
          </a:prstGeom>
          <a:solidFill>
            <a:schemeClr val="accent5"/>
          </a:solidFill>
          <a:ln/>
        </p:spPr>
      </p:sp>
      <p:pic>
        <p:nvPicPr>
          <p:cNvPr id="13" name="icon-FaBrain" descr="Brain icon">    </p:cNvPr>
          <p:cNvPicPr>
            <a:picLocks noChangeAspect="1"/>
          </p:cNvPicPr>
          <p:nvPr/>
        </p:nvPicPr>
        <p:blipFill>
          <a:blip r:embed="rId3"/>
          <a:stretch>
            <a:fillRect/>
          </a:stretch>
        </p:blipFill>
        <p:spPr>
          <a:xfrm>
            <a:off x="6656832" y="1764792"/>
            <a:ext cx="356616" cy="356616"/>
          </a:xfrm>
          <a:prstGeom prst="rect">
            <a:avLst/>
          </a:prstGeom>
        </p:spPr>
      </p:pic>
      <p:sp>
        <p:nvSpPr>
          <p:cNvPr id="14" name="Text 9"/>
          <p:cNvSpPr txBox="1"/>
          <p:nvPr/>
        </p:nvSpPr>
        <p:spPr>
          <a:xfrm>
            <a:off x="7360920" y="1691640"/>
            <a:ext cx="4023360" cy="502920"/>
          </a:xfrm>
          <a:prstGeom prst="rect">
            <a:avLst/>
          </a:prstGeom>
          <a:noFill/>
          <a:ln/>
        </p:spPr>
        <p:txBody>
          <a:bodyPr wrap="square" lIns="0" tIns="0" rIns="0" bIns="0" rtlCol="0" anchor="ctr"/>
          <a:lstStyle/>
          <a:p>
            <a:pPr indent="0" marL="0">
              <a:buNone/>
            </a:pPr>
            <a:r>
              <a:rPr lang="en-US" sz="2100" b="1" dirty="0">
                <a:solidFill>
                  <a:schemeClr val="tx2"/>
                </a:solidFill>
                <a:latin typeface="Calibri" pitchFamily="34" charset="0"/>
                <a:ea typeface="Calibri" pitchFamily="34" charset="-122"/>
                <a:cs typeface="Calibri" pitchFamily="34" charset="-120"/>
              </a:rPr>
              <a:t>Magnetic Resonance (MRI)</a:t>
            </a:r>
            <a:endParaRPr lang="en-US" sz="2100" dirty="0"/>
          </a:p>
        </p:txBody>
      </p:sp>
      <p:sp>
        <p:nvSpPr>
          <p:cNvPr id="15" name="Text 10"/>
          <p:cNvSpPr txBox="1"/>
          <p:nvPr/>
        </p:nvSpPr>
        <p:spPr>
          <a:xfrm>
            <a:off x="6492240" y="2560320"/>
            <a:ext cx="3063240" cy="274320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Strong magnet + radio-frequency pulses, no radiation</a:t>
            </a:r>
            <a:endParaRPr lang="en-US" sz="1500" dirty="0"/>
          </a:p>
          <a:p>
            <a:pPr marL="177800" indent="-1778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Scanner samples spatial frequencies line by line</a:t>
            </a:r>
            <a:endParaRPr lang="en-US" sz="1500" dirty="0"/>
          </a:p>
          <a:p>
            <a:pPr marL="177800" indent="-1778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Raw data = k-space, image = inverse 2D/3D FFT</a:t>
            </a:r>
            <a:endParaRPr lang="en-US" sz="1500" dirty="0"/>
          </a:p>
          <a:p>
            <a:pPr marL="177800" indent="-1778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Slow (20–60 min): brain, soft tissue, joints</a:t>
            </a:r>
            <a:endParaRPr lang="en-US" sz="1500" dirty="0"/>
          </a:p>
        </p:txBody>
      </p:sp>
      <p:pic>
        <p:nvPicPr>
          <p:cNvPr id="16" name="kspace" descr="Raw MRI data: k-space">    </p:cNvPr>
          <p:cNvPicPr>
            <a:picLocks noChangeAspect="1"/>
          </p:cNvPicPr>
          <p:nvPr/>
        </p:nvPicPr>
        <p:blipFill>
          <a:blip r:embed="rId4"/>
          <a:stretch>
            <a:fillRect/>
          </a:stretch>
        </p:blipFill>
        <p:spPr>
          <a:xfrm>
            <a:off x="9784080" y="2560320"/>
            <a:ext cx="1645920" cy="1645920"/>
          </a:xfrm>
          <a:prstGeom prst="rect">
            <a:avLst/>
          </a:prstGeom>
        </p:spPr>
      </p:pic>
      <p:sp>
        <p:nvSpPr>
          <p:cNvPr id="17" name="Text 11"/>
          <p:cNvSpPr txBox="1"/>
          <p:nvPr/>
        </p:nvSpPr>
        <p:spPr>
          <a:xfrm>
            <a:off x="9692640" y="4251960"/>
            <a:ext cx="1828800" cy="457200"/>
          </a:xfrm>
          <a:prstGeom prst="rect">
            <a:avLst/>
          </a:prstGeom>
          <a:noFill/>
          <a:ln/>
        </p:spPr>
        <p:txBody>
          <a:bodyPr wrap="square" lIns="0" tIns="0" rIns="0" bIns="0" rtlCol="0" anchor="t"/>
          <a:lstStyle/>
          <a:p>
            <a:pPr algn="ctr" indent="0" marL="0">
              <a:buNone/>
            </a:pPr>
            <a:r>
              <a:rPr lang="en-US" sz="1100" dirty="0">
                <a:solidFill>
                  <a:srgbClr val="595959"/>
                </a:solidFill>
                <a:latin typeface="Calibri" pitchFamily="34" charset="0"/>
                <a:ea typeface="Calibri" pitchFamily="34" charset="-122"/>
                <a:cs typeface="Calibri" pitchFamily="34" charset="-120"/>
              </a:rPr>
              <a:t>Raw MRI data: k-space</a:t>
            </a:r>
            <a:endParaRPr lang="en-US" sz="1100" dirty="0"/>
          </a:p>
        </p:txBody>
      </p:sp>
      <p:sp>
        <p:nvSpPr>
          <p:cNvPr id="18" name="Text 12"/>
          <p:cNvSpPr txBox="1"/>
          <p:nvPr/>
        </p:nvSpPr>
        <p:spPr>
          <a:xfrm>
            <a:off x="6492240" y="5440680"/>
            <a:ext cx="4937760" cy="365760"/>
          </a:xfrm>
          <a:prstGeom prst="rect">
            <a:avLst/>
          </a:prstGeom>
          <a:noFill/>
          <a:ln/>
        </p:spPr>
        <p:txBody>
          <a:bodyPr wrap="square" lIns="0" tIns="0" rIns="0" bIns="0" rtlCol="0" anchor="t"/>
          <a:lstStyle/>
          <a:p>
            <a:pPr indent="0" marL="0">
              <a:buNone/>
            </a:pPr>
            <a:r>
              <a:rPr lang="en-US" sz="1400" b="1" dirty="0">
                <a:solidFill>
                  <a:schemeClr val="accent5"/>
                </a:solidFill>
                <a:latin typeface="Calibri" pitchFamily="34" charset="0"/>
                <a:ea typeface="Calibri" pitchFamily="34" charset="-122"/>
                <a:cs typeface="Calibri" pitchFamily="34" charset="-120"/>
              </a:rPr>
              <a:t>Output: stack of 2D slices = 3D voxel volume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Medical imaging data is huge and keeps growing</a:t>
            </a:r>
            <a:endParaRPr lang="en-US" sz="3400" dirty="0"/>
          </a:p>
        </p:txBody>
      </p:sp>
      <p:sp>
        <p:nvSpPr>
          <p:cNvPr id="3" name="stat4-0"/>
          <p:cNvSpPr/>
          <p:nvPr/>
        </p:nvSpPr>
        <p:spPr>
          <a:xfrm>
            <a:off x="548640" y="1371600"/>
            <a:ext cx="2633472" cy="2011680"/>
          </a:xfrm>
          <a:prstGeom prst="roundRect">
            <a:avLst>
              <a:gd name="adj" fmla="val 3636"/>
            </a:avLst>
          </a:prstGeom>
          <a:solidFill>
            <a:schemeClr val="bg1"/>
          </a:solidFill>
          <a:ln w="9525">
            <a:solidFill>
              <a:srgbClr val="D9D9D9"/>
            </a:solidFill>
            <a:prstDash val="solid"/>
          </a:ln>
          <a:effectLst>
            <a:outerShdw sx="100000" sy="100000" kx="0" ky="0" algn="bl" rotWithShape="0" blurRad="76200" dist="19050" dir="5400000">
              <a:srgbClr val="000000">
                <a:alpha val="12000"/>
              </a:srgbClr>
            </a:outerShdw>
          </a:effectLst>
        </p:spPr>
      </p:sp>
      <p:sp>
        <p:nvSpPr>
          <p:cNvPr id="4" name="Text 2"/>
          <p:cNvSpPr txBox="1"/>
          <p:nvPr/>
        </p:nvSpPr>
        <p:spPr>
          <a:xfrm>
            <a:off x="777240" y="1463040"/>
            <a:ext cx="2240280" cy="685800"/>
          </a:xfrm>
          <a:prstGeom prst="rect">
            <a:avLst/>
          </a:prstGeom>
          <a:noFill/>
          <a:ln/>
        </p:spPr>
        <p:txBody>
          <a:bodyPr wrap="square" lIns="0" tIns="0" rIns="0" bIns="0" rtlCol="0" anchor="b"/>
          <a:lstStyle/>
          <a:p>
            <a:pPr indent="0" marL="0">
              <a:buNone/>
            </a:pPr>
            <a:r>
              <a:rPr lang="en-US" sz="3800" b="1" dirty="0">
                <a:solidFill>
                  <a:schemeClr val="accent1"/>
                </a:solidFill>
                <a:latin typeface="Cambria" pitchFamily="34" charset="0"/>
                <a:ea typeface="Cambria" pitchFamily="34" charset="-122"/>
                <a:cs typeface="Cambria" pitchFamily="34" charset="-120"/>
              </a:rPr>
              <a:t>524 MB</a:t>
            </a:r>
            <a:endParaRPr lang="en-US" sz="3800" dirty="0"/>
          </a:p>
        </p:txBody>
      </p:sp>
      <p:sp>
        <p:nvSpPr>
          <p:cNvPr id="5" name="Text 3"/>
          <p:cNvSpPr txBox="1"/>
          <p:nvPr/>
        </p:nvSpPr>
        <p:spPr>
          <a:xfrm>
            <a:off x="777240" y="2194560"/>
            <a:ext cx="2240280" cy="685800"/>
          </a:xfrm>
          <a:prstGeom prst="rect">
            <a:avLst/>
          </a:prstGeom>
          <a:noFill/>
          <a:ln/>
        </p:spPr>
        <p:txBody>
          <a:bodyPr wrap="square" lIns="0" tIns="0" rIns="0" bIns="0" rtlCol="0" anchor="t"/>
          <a:lstStyle/>
          <a:p>
            <a:pPr indent="0" marL="0">
              <a:buNone/>
            </a:pPr>
            <a:r>
              <a:rPr lang="en-US" sz="1300" dirty="0">
                <a:solidFill>
                  <a:srgbClr val="595959"/>
                </a:solidFill>
                <a:latin typeface="Calibri" pitchFamily="34" charset="0"/>
                <a:ea typeface="Calibri" pitchFamily="34" charset="-122"/>
                <a:cs typeface="Calibri" pitchFamily="34" charset="-120"/>
              </a:rPr>
              <a:t>one 512 × 512 × 1,000-slice CT at 16 bits per voxel</a:t>
            </a:r>
            <a:endParaRPr lang="en-US" sz="1300" dirty="0"/>
          </a:p>
        </p:txBody>
      </p:sp>
      <p:sp>
        <p:nvSpPr>
          <p:cNvPr id="6" name="stat4-1"/>
          <p:cNvSpPr/>
          <p:nvPr/>
        </p:nvSpPr>
        <p:spPr>
          <a:xfrm>
            <a:off x="3364992" y="1371600"/>
            <a:ext cx="2633472" cy="2011680"/>
          </a:xfrm>
          <a:prstGeom prst="roundRect">
            <a:avLst>
              <a:gd name="adj" fmla="val 3636"/>
            </a:avLst>
          </a:prstGeom>
          <a:solidFill>
            <a:schemeClr val="bg1"/>
          </a:solidFill>
          <a:ln w="9525">
            <a:solidFill>
              <a:srgbClr val="D9D9D9"/>
            </a:solidFill>
            <a:prstDash val="solid"/>
          </a:ln>
          <a:effectLst>
            <a:outerShdw sx="100000" sy="100000" kx="0" ky="0" algn="bl" rotWithShape="0" blurRad="76200" dist="19050" dir="5400000">
              <a:srgbClr val="000000">
                <a:alpha val="12000"/>
              </a:srgbClr>
            </a:outerShdw>
          </a:effectLst>
        </p:spPr>
      </p:sp>
      <p:sp>
        <p:nvSpPr>
          <p:cNvPr id="7" name="Text 5"/>
          <p:cNvSpPr txBox="1"/>
          <p:nvPr/>
        </p:nvSpPr>
        <p:spPr>
          <a:xfrm>
            <a:off x="3593592" y="1463040"/>
            <a:ext cx="2240280" cy="685800"/>
          </a:xfrm>
          <a:prstGeom prst="rect">
            <a:avLst/>
          </a:prstGeom>
          <a:noFill/>
          <a:ln/>
        </p:spPr>
        <p:txBody>
          <a:bodyPr wrap="square" lIns="0" tIns="0" rIns="0" bIns="0" rtlCol="0" anchor="b"/>
          <a:lstStyle/>
          <a:p>
            <a:pPr indent="0" marL="0">
              <a:buNone/>
            </a:pPr>
            <a:r>
              <a:rPr lang="en-US" sz="3800" b="1" dirty="0">
                <a:solidFill>
                  <a:schemeClr val="accent5"/>
                </a:solidFill>
                <a:latin typeface="Cambria" pitchFamily="34" charset="0"/>
                <a:ea typeface="Cambria" pitchFamily="34" charset="-122"/>
                <a:cs typeface="Cambria" pitchFamily="34" charset="-120"/>
              </a:rPr>
              <a:t>~10 GB</a:t>
            </a:r>
            <a:endParaRPr lang="en-US" sz="3800" dirty="0"/>
          </a:p>
        </p:txBody>
      </p:sp>
      <p:sp>
        <p:nvSpPr>
          <p:cNvPr id="8" name="Text 6"/>
          <p:cNvSpPr txBox="1"/>
          <p:nvPr/>
        </p:nvSpPr>
        <p:spPr>
          <a:xfrm>
            <a:off x="3593592" y="2194560"/>
            <a:ext cx="2240280" cy="685800"/>
          </a:xfrm>
          <a:prstGeom prst="rect">
            <a:avLst/>
          </a:prstGeom>
          <a:noFill/>
          <a:ln/>
        </p:spPr>
        <p:txBody>
          <a:bodyPr wrap="square" lIns="0" tIns="0" rIns="0" bIns="0" rtlCol="0" anchor="t"/>
          <a:lstStyle/>
          <a:p>
            <a:pPr indent="0" marL="0">
              <a:buNone/>
            </a:pPr>
            <a:r>
              <a:rPr lang="en-US" sz="1300" dirty="0">
                <a:solidFill>
                  <a:srgbClr val="595959"/>
                </a:solidFill>
                <a:latin typeface="Calibri" pitchFamily="34" charset="0"/>
                <a:ea typeface="Calibri" pitchFamily="34" charset="-122"/>
                <a:cs typeface="Calibri" pitchFamily="34" charset="-120"/>
              </a:rPr>
              <a:t>a 4D cardiac CT with 20 time phases</a:t>
            </a:r>
            <a:endParaRPr lang="en-US" sz="1300" dirty="0"/>
          </a:p>
        </p:txBody>
      </p:sp>
      <p:sp>
        <p:nvSpPr>
          <p:cNvPr id="9" name="stat4-2"/>
          <p:cNvSpPr/>
          <p:nvPr/>
        </p:nvSpPr>
        <p:spPr>
          <a:xfrm>
            <a:off x="6181344" y="1371600"/>
            <a:ext cx="2633472" cy="2011680"/>
          </a:xfrm>
          <a:prstGeom prst="roundRect">
            <a:avLst>
              <a:gd name="adj" fmla="val 3636"/>
            </a:avLst>
          </a:prstGeom>
          <a:solidFill>
            <a:schemeClr val="bg1"/>
          </a:solidFill>
          <a:ln w="9525">
            <a:solidFill>
              <a:srgbClr val="D9D9D9"/>
            </a:solidFill>
            <a:prstDash val="solid"/>
          </a:ln>
          <a:effectLst>
            <a:outerShdw sx="100000" sy="100000" kx="0" ky="0" algn="bl" rotWithShape="0" blurRad="76200" dist="19050" dir="5400000">
              <a:srgbClr val="000000">
                <a:alpha val="12000"/>
              </a:srgbClr>
            </a:outerShdw>
          </a:effectLst>
        </p:spPr>
      </p:sp>
      <p:sp>
        <p:nvSpPr>
          <p:cNvPr id="10" name="Text 8"/>
          <p:cNvSpPr txBox="1"/>
          <p:nvPr/>
        </p:nvSpPr>
        <p:spPr>
          <a:xfrm>
            <a:off x="6409944" y="1463040"/>
            <a:ext cx="2240280" cy="685800"/>
          </a:xfrm>
          <a:prstGeom prst="rect">
            <a:avLst/>
          </a:prstGeom>
          <a:noFill/>
          <a:ln/>
        </p:spPr>
        <p:txBody>
          <a:bodyPr wrap="square" lIns="0" tIns="0" rIns="0" bIns="0" rtlCol="0" anchor="b"/>
          <a:lstStyle/>
          <a:p>
            <a:pPr indent="0" marL="0">
              <a:buNone/>
            </a:pPr>
            <a:r>
              <a:rPr lang="en-US" sz="3800" b="1" dirty="0">
                <a:solidFill>
                  <a:schemeClr val="accent2"/>
                </a:solidFill>
                <a:latin typeface="Cambria" pitchFamily="34" charset="0"/>
                <a:ea typeface="Cambria" pitchFamily="34" charset="-122"/>
                <a:cs typeface="Cambria" pitchFamily="34" charset="-120"/>
              </a:rPr>
              <a:t>134 M</a:t>
            </a:r>
            <a:endParaRPr lang="en-US" sz="3800" dirty="0"/>
          </a:p>
        </p:txBody>
      </p:sp>
      <p:sp>
        <p:nvSpPr>
          <p:cNvPr id="11" name="Text 9"/>
          <p:cNvSpPr txBox="1"/>
          <p:nvPr/>
        </p:nvSpPr>
        <p:spPr>
          <a:xfrm>
            <a:off x="6409944" y="2194560"/>
            <a:ext cx="2240280" cy="685800"/>
          </a:xfrm>
          <a:prstGeom prst="rect">
            <a:avLst/>
          </a:prstGeom>
          <a:noFill/>
          <a:ln/>
        </p:spPr>
        <p:txBody>
          <a:bodyPr wrap="square" lIns="0" tIns="0" rIns="0" bIns="0" rtlCol="0" anchor="t"/>
          <a:lstStyle/>
          <a:p>
            <a:pPr indent="0" marL="0">
              <a:buNone/>
            </a:pPr>
            <a:r>
              <a:rPr lang="en-US" sz="1300" dirty="0">
                <a:solidFill>
                  <a:srgbClr val="595959"/>
                </a:solidFill>
                <a:latin typeface="Calibri" pitchFamily="34" charset="0"/>
                <a:ea typeface="Calibri" pitchFamily="34" charset="-122"/>
                <a:cs typeface="Calibri" pitchFamily="34" charset="-120"/>
              </a:rPr>
              <a:t>voxels in one 512³ volume, every stage touches each one</a:t>
            </a:r>
            <a:endParaRPr lang="en-US" sz="1300" dirty="0"/>
          </a:p>
        </p:txBody>
      </p:sp>
      <p:sp>
        <p:nvSpPr>
          <p:cNvPr id="12" name="stat4-3"/>
          <p:cNvSpPr/>
          <p:nvPr/>
        </p:nvSpPr>
        <p:spPr>
          <a:xfrm>
            <a:off x="8997696" y="1371600"/>
            <a:ext cx="2633472" cy="2011680"/>
          </a:xfrm>
          <a:prstGeom prst="roundRect">
            <a:avLst>
              <a:gd name="adj" fmla="val 3636"/>
            </a:avLst>
          </a:prstGeom>
          <a:solidFill>
            <a:schemeClr val="bg1"/>
          </a:solidFill>
          <a:ln w="9525">
            <a:solidFill>
              <a:srgbClr val="D9D9D9"/>
            </a:solidFill>
            <a:prstDash val="solid"/>
          </a:ln>
          <a:effectLst>
            <a:outerShdw sx="100000" sy="100000" kx="0" ky="0" algn="bl" rotWithShape="0" blurRad="76200" dist="19050" dir="5400000">
              <a:srgbClr val="000000">
                <a:alpha val="12000"/>
              </a:srgbClr>
            </a:outerShdw>
          </a:effectLst>
        </p:spPr>
      </p:sp>
      <p:sp>
        <p:nvSpPr>
          <p:cNvPr id="13" name="Text 11"/>
          <p:cNvSpPr txBox="1"/>
          <p:nvPr/>
        </p:nvSpPr>
        <p:spPr>
          <a:xfrm>
            <a:off x="9226296" y="1463040"/>
            <a:ext cx="2240280" cy="685800"/>
          </a:xfrm>
          <a:prstGeom prst="rect">
            <a:avLst/>
          </a:prstGeom>
          <a:noFill/>
          <a:ln/>
        </p:spPr>
        <p:txBody>
          <a:bodyPr wrap="square" lIns="0" tIns="0" rIns="0" bIns="0" rtlCol="0" anchor="b"/>
          <a:lstStyle/>
          <a:p>
            <a:pPr indent="0" marL="0">
              <a:buNone/>
            </a:pPr>
            <a:r>
              <a:rPr lang="en-US" sz="3800" b="1" dirty="0">
                <a:solidFill>
                  <a:schemeClr val="accent3"/>
                </a:solidFill>
                <a:latin typeface="Cambria" pitchFamily="34" charset="0"/>
                <a:ea typeface="Cambria" pitchFamily="34" charset="-122"/>
                <a:cs typeface="Cambria" pitchFamily="34" charset="-120"/>
              </a:rPr>
              <a:t>3–4 s</a:t>
            </a:r>
            <a:endParaRPr lang="en-US" sz="3800" dirty="0"/>
          </a:p>
        </p:txBody>
      </p:sp>
      <p:sp>
        <p:nvSpPr>
          <p:cNvPr id="14" name="Text 12"/>
          <p:cNvSpPr txBox="1"/>
          <p:nvPr/>
        </p:nvSpPr>
        <p:spPr>
          <a:xfrm>
            <a:off x="9226296" y="2194560"/>
            <a:ext cx="2240280" cy="685800"/>
          </a:xfrm>
          <a:prstGeom prst="rect">
            <a:avLst/>
          </a:prstGeom>
          <a:noFill/>
          <a:ln/>
        </p:spPr>
        <p:txBody>
          <a:bodyPr wrap="square" lIns="0" tIns="0" rIns="0" bIns="0" rtlCol="0" anchor="t"/>
          <a:lstStyle/>
          <a:p>
            <a:pPr indent="0" marL="0">
              <a:buNone/>
            </a:pPr>
            <a:r>
              <a:rPr lang="en-US" sz="1300" dirty="0">
                <a:solidFill>
                  <a:srgbClr val="595959"/>
                </a:solidFill>
                <a:latin typeface="Calibri" pitchFamily="34" charset="0"/>
                <a:ea typeface="Calibri" pitchFamily="34" charset="-122"/>
                <a:cs typeface="Calibri" pitchFamily="34" charset="-120"/>
              </a:rPr>
              <a:t>time per image a radiologist has to keep up with workload (McDonald et al., 2015)</a:t>
            </a:r>
            <a:endParaRPr lang="en-US" sz="1300" dirty="0"/>
          </a:p>
        </p:txBody>
      </p:sp>
      <p:sp>
        <p:nvSpPr>
          <p:cNvPr id="15" name="Text 13"/>
          <p:cNvSpPr txBox="1"/>
          <p:nvPr/>
        </p:nvSpPr>
        <p:spPr>
          <a:xfrm>
            <a:off x="548640" y="3657600"/>
            <a:ext cx="10972800" cy="365760"/>
          </a:xfrm>
          <a:prstGeom prst="rect">
            <a:avLst/>
          </a:prstGeom>
          <a:noFill/>
          <a:ln/>
        </p:spPr>
        <p:txBody>
          <a:bodyPr wrap="square" lIns="0" tIns="0" rIns="0" bIns="0" rtlCol="0" anchor="t"/>
          <a:lstStyle/>
          <a:p>
            <a:pPr indent="0" marL="0">
              <a:buNone/>
            </a:pPr>
            <a:r>
              <a:rPr lang="en-US" sz="1700" b="1" dirty="0">
                <a:solidFill>
                  <a:schemeClr val="tx2"/>
                </a:solidFill>
                <a:latin typeface="Calibri" pitchFamily="34" charset="0"/>
                <a:ea typeface="Calibri" pitchFamily="34" charset="-122"/>
                <a:cs typeface="Calibri" pitchFamily="34" charset="-120"/>
              </a:rPr>
              <a:t>Work grows with N³: doubling resolution means 8× more voxels to process</a:t>
            </a:r>
            <a:endParaRPr lang="en-US" sz="1700" dirty="0"/>
          </a:p>
        </p:txBody>
      </p:sp>
      <p:sp>
        <p:nvSpPr>
          <p:cNvPr id="16" name="cube-back-128"/>
          <p:cNvSpPr/>
          <p:nvPr/>
        </p:nvSpPr>
        <p:spPr>
          <a:xfrm>
            <a:off x="897026" y="5549494"/>
            <a:ext cx="411480" cy="411480"/>
          </a:xfrm>
          <a:prstGeom prst="rect">
            <a:avLst/>
          </a:prstGeom>
          <a:solidFill>
            <a:schemeClr val="bg2"/>
          </a:solidFill>
          <a:ln w="12700">
            <a:solidFill>
              <a:srgbClr val="000000"/>
            </a:solidFill>
            <a:prstDash val="solid"/>
          </a:ln>
        </p:spPr>
      </p:sp>
      <p:sp>
        <p:nvSpPr>
          <p:cNvPr id="17" name="cube-128"/>
          <p:cNvSpPr/>
          <p:nvPr/>
        </p:nvSpPr>
        <p:spPr>
          <a:xfrm>
            <a:off x="822960" y="5623560"/>
            <a:ext cx="411480" cy="411480"/>
          </a:xfrm>
          <a:prstGeom prst="rect">
            <a:avLst/>
          </a:prstGeom>
          <a:solidFill>
            <a:schemeClr val="accent5"/>
          </a:solidFill>
          <a:ln w="12700">
            <a:solidFill>
              <a:srgbClr val="FFFFFF"/>
            </a:solidFill>
            <a:prstDash val="solid"/>
          </a:ln>
        </p:spPr>
      </p:sp>
      <p:sp>
        <p:nvSpPr>
          <p:cNvPr id="18" name="Text 16"/>
          <p:cNvSpPr txBox="1"/>
          <p:nvPr/>
        </p:nvSpPr>
        <p:spPr>
          <a:xfrm>
            <a:off x="822960" y="5623560"/>
            <a:ext cx="411480" cy="411480"/>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128³</a:t>
            </a:r>
            <a:endParaRPr lang="en-US" sz="1200" dirty="0"/>
          </a:p>
        </p:txBody>
      </p:sp>
      <p:sp>
        <p:nvSpPr>
          <p:cNvPr id="19" name="Text 17"/>
          <p:cNvSpPr txBox="1"/>
          <p:nvPr/>
        </p:nvSpPr>
        <p:spPr>
          <a:xfrm>
            <a:off x="1600200" y="5669280"/>
            <a:ext cx="1280160" cy="365760"/>
          </a:xfrm>
          <a:prstGeom prst="rect">
            <a:avLst/>
          </a:prstGeom>
          <a:noFill/>
          <a:ln/>
        </p:spPr>
        <p:txBody>
          <a:bodyPr wrap="square" lIns="0" tIns="0" rIns="0" bIns="0" rtlCol="0" anchor="t"/>
          <a:lstStyle/>
          <a:p>
            <a:pPr indent="0" marL="0">
              <a:buNone/>
            </a:pPr>
            <a:r>
              <a:rPr lang="en-US" sz="1400" dirty="0">
                <a:solidFill>
                  <a:srgbClr val="595959"/>
                </a:solidFill>
                <a:latin typeface="Calibri" pitchFamily="34" charset="0"/>
                <a:ea typeface="Calibri" pitchFamily="34" charset="-122"/>
                <a:cs typeface="Calibri" pitchFamily="34" charset="-120"/>
              </a:rPr>
              <a:t>2.1 M voxels</a:t>
            </a:r>
            <a:endParaRPr lang="en-US" sz="1400" dirty="0"/>
          </a:p>
        </p:txBody>
      </p:sp>
      <p:sp>
        <p:nvSpPr>
          <p:cNvPr id="20" name="cube-back-256"/>
          <p:cNvSpPr/>
          <p:nvPr/>
        </p:nvSpPr>
        <p:spPr>
          <a:xfrm>
            <a:off x="2982773" y="5063947"/>
            <a:ext cx="822960" cy="822960"/>
          </a:xfrm>
          <a:prstGeom prst="rect">
            <a:avLst/>
          </a:prstGeom>
          <a:solidFill>
            <a:schemeClr val="bg2"/>
          </a:solidFill>
          <a:ln w="12700">
            <a:solidFill>
              <a:srgbClr val="000000"/>
            </a:solidFill>
            <a:prstDash val="solid"/>
          </a:ln>
        </p:spPr>
      </p:sp>
      <p:sp>
        <p:nvSpPr>
          <p:cNvPr id="21" name="cube-256"/>
          <p:cNvSpPr/>
          <p:nvPr/>
        </p:nvSpPr>
        <p:spPr>
          <a:xfrm>
            <a:off x="2834640" y="5212080"/>
            <a:ext cx="822960" cy="822960"/>
          </a:xfrm>
          <a:prstGeom prst="rect">
            <a:avLst/>
          </a:prstGeom>
          <a:solidFill>
            <a:schemeClr val="accent5"/>
          </a:solidFill>
          <a:ln w="12700">
            <a:solidFill>
              <a:srgbClr val="FFFFFF"/>
            </a:solidFill>
            <a:prstDash val="solid"/>
          </a:ln>
        </p:spPr>
      </p:sp>
      <p:sp>
        <p:nvSpPr>
          <p:cNvPr id="22" name="Text 20"/>
          <p:cNvSpPr txBox="1"/>
          <p:nvPr/>
        </p:nvSpPr>
        <p:spPr>
          <a:xfrm>
            <a:off x="2834640" y="5212080"/>
            <a:ext cx="822960" cy="82296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256³</a:t>
            </a:r>
            <a:endParaRPr lang="en-US" sz="1600" dirty="0"/>
          </a:p>
        </p:txBody>
      </p:sp>
      <p:sp>
        <p:nvSpPr>
          <p:cNvPr id="23" name="Text 21"/>
          <p:cNvSpPr txBox="1"/>
          <p:nvPr/>
        </p:nvSpPr>
        <p:spPr>
          <a:xfrm>
            <a:off x="4023360" y="5669280"/>
            <a:ext cx="1280160" cy="365760"/>
          </a:xfrm>
          <a:prstGeom prst="rect">
            <a:avLst/>
          </a:prstGeom>
          <a:noFill/>
          <a:ln/>
        </p:spPr>
        <p:txBody>
          <a:bodyPr wrap="square" lIns="0" tIns="0" rIns="0" bIns="0" rtlCol="0" anchor="t"/>
          <a:lstStyle/>
          <a:p>
            <a:pPr indent="0" marL="0">
              <a:buNone/>
            </a:pPr>
            <a:r>
              <a:rPr lang="en-US" sz="1400" dirty="0">
                <a:solidFill>
                  <a:srgbClr val="595959"/>
                </a:solidFill>
                <a:latin typeface="Calibri" pitchFamily="34" charset="0"/>
                <a:ea typeface="Calibri" pitchFamily="34" charset="-122"/>
                <a:cs typeface="Calibri" pitchFamily="34" charset="-120"/>
              </a:rPr>
              <a:t>16.8 M voxels</a:t>
            </a:r>
            <a:endParaRPr lang="en-US" sz="1400" dirty="0"/>
          </a:p>
        </p:txBody>
      </p:sp>
      <p:sp>
        <p:nvSpPr>
          <p:cNvPr id="24" name="cube-back-512"/>
          <p:cNvSpPr/>
          <p:nvPr/>
        </p:nvSpPr>
        <p:spPr>
          <a:xfrm>
            <a:off x="5521147" y="4308653"/>
            <a:ext cx="1463040" cy="1463040"/>
          </a:xfrm>
          <a:prstGeom prst="rect">
            <a:avLst/>
          </a:prstGeom>
          <a:solidFill>
            <a:schemeClr val="bg2"/>
          </a:solidFill>
          <a:ln w="12700">
            <a:solidFill>
              <a:srgbClr val="000000"/>
            </a:solidFill>
            <a:prstDash val="solid"/>
          </a:ln>
        </p:spPr>
      </p:sp>
      <p:sp>
        <p:nvSpPr>
          <p:cNvPr id="25" name="cube-512"/>
          <p:cNvSpPr/>
          <p:nvPr/>
        </p:nvSpPr>
        <p:spPr>
          <a:xfrm>
            <a:off x="5257800" y="4572000"/>
            <a:ext cx="1463040" cy="1463040"/>
          </a:xfrm>
          <a:prstGeom prst="rect">
            <a:avLst/>
          </a:prstGeom>
          <a:solidFill>
            <a:schemeClr val="accent1"/>
          </a:solidFill>
          <a:ln w="12700">
            <a:solidFill>
              <a:srgbClr val="FFFFFF"/>
            </a:solidFill>
            <a:prstDash val="solid"/>
          </a:ln>
        </p:spPr>
      </p:sp>
      <p:sp>
        <p:nvSpPr>
          <p:cNvPr id="26" name="Text 24"/>
          <p:cNvSpPr txBox="1"/>
          <p:nvPr/>
        </p:nvSpPr>
        <p:spPr>
          <a:xfrm>
            <a:off x="5257800" y="4572000"/>
            <a:ext cx="1463040" cy="14630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512³</a:t>
            </a:r>
            <a:endParaRPr lang="en-US" sz="1600" dirty="0"/>
          </a:p>
        </p:txBody>
      </p:sp>
      <p:sp>
        <p:nvSpPr>
          <p:cNvPr id="27" name="Text 25"/>
          <p:cNvSpPr txBox="1"/>
          <p:nvPr/>
        </p:nvSpPr>
        <p:spPr>
          <a:xfrm>
            <a:off x="7086600" y="5669280"/>
            <a:ext cx="1280160" cy="365760"/>
          </a:xfrm>
          <a:prstGeom prst="rect">
            <a:avLst/>
          </a:prstGeom>
          <a:noFill/>
          <a:ln/>
        </p:spPr>
        <p:txBody>
          <a:bodyPr wrap="square" lIns="0" tIns="0" rIns="0" bIns="0" rtlCol="0" anchor="t"/>
          <a:lstStyle/>
          <a:p>
            <a:pPr indent="0" marL="0">
              <a:buNone/>
            </a:pPr>
            <a:r>
              <a:rPr lang="en-US" sz="1400" dirty="0">
                <a:solidFill>
                  <a:srgbClr val="595959"/>
                </a:solidFill>
                <a:latin typeface="Calibri" pitchFamily="34" charset="0"/>
                <a:ea typeface="Calibri" pitchFamily="34" charset="-122"/>
                <a:cs typeface="Calibri" pitchFamily="34" charset="-120"/>
              </a:rPr>
              <a:t>134 M voxels</a:t>
            </a:r>
            <a:endParaRPr lang="en-US" sz="1400" dirty="0"/>
          </a:p>
        </p:txBody>
      </p:sp>
      <p:sp>
        <p:nvSpPr>
          <p:cNvPr id="28" name="callout4"/>
          <p:cNvSpPr/>
          <p:nvPr/>
        </p:nvSpPr>
        <p:spPr>
          <a:xfrm>
            <a:off x="8412480" y="4206240"/>
            <a:ext cx="3200400" cy="1874520"/>
          </a:xfrm>
          <a:prstGeom prst="roundRect">
            <a:avLst>
              <a:gd name="adj" fmla="val 3902"/>
            </a:avLst>
          </a:prstGeom>
          <a:solidFill>
            <a:schemeClr val="bg2"/>
          </a:solidFill>
          <a:ln w="9525">
            <a:solidFill>
              <a:srgbClr val="D9D9D9"/>
            </a:solidFill>
            <a:prstDash val="solid"/>
          </a:ln>
        </p:spPr>
      </p:sp>
      <p:sp>
        <p:nvSpPr>
          <p:cNvPr id="29" name="Text 27"/>
          <p:cNvSpPr txBox="1"/>
          <p:nvPr/>
        </p:nvSpPr>
        <p:spPr>
          <a:xfrm>
            <a:off x="8641080" y="4389120"/>
            <a:ext cx="2788920" cy="155448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In our tests </a:t>
            </a:r>
            <a:pPr indent="0" marL="0">
              <a:buNone/>
            </a:pPr>
            <a:r>
              <a:rPr lang="en-US" sz="1500" dirty="0">
                <a:solidFill>
                  <a:schemeClr val="tx1"/>
                </a:solidFill>
                <a:latin typeface="Calibri" pitchFamily="34" charset="0"/>
                <a:ea typeface="Calibri" pitchFamily="34" charset="-122"/>
                <a:cs typeface="Calibri" pitchFamily="34" charset="-120"/>
              </a:rPr>
              <a:t>a single CPU took 11.8 s just to reconstruct one 128-slice CT, before any denoising, AI or rendering.</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Problem statement and objectives</a:t>
            </a:r>
            <a:endParaRPr lang="en-US" sz="3400" dirty="0"/>
          </a:p>
        </p:txBody>
      </p:sp>
      <p:sp>
        <p:nvSpPr>
          <p:cNvPr id="3" name="problem-box"/>
          <p:cNvSpPr/>
          <p:nvPr/>
        </p:nvSpPr>
        <p:spPr>
          <a:xfrm>
            <a:off x="548640" y="1371600"/>
            <a:ext cx="5120640" cy="2743200"/>
          </a:xfrm>
          <a:prstGeom prst="roundRect">
            <a:avLst>
              <a:gd name="adj" fmla="val 2667"/>
            </a:avLst>
          </a:prstGeom>
          <a:solidFill>
            <a:srgbClr val="000000"/>
          </a:solidFill>
          <a:ln/>
        </p:spPr>
      </p:sp>
      <p:sp>
        <p:nvSpPr>
          <p:cNvPr id="4" name="Text 2"/>
          <p:cNvSpPr txBox="1"/>
          <p:nvPr/>
        </p:nvSpPr>
        <p:spPr>
          <a:xfrm>
            <a:off x="868680" y="1600200"/>
            <a:ext cx="4572000" cy="320040"/>
          </a:xfrm>
          <a:prstGeom prst="rect">
            <a:avLst/>
          </a:prstGeom>
          <a:noFill/>
          <a:ln/>
        </p:spPr>
        <p:txBody>
          <a:bodyPr wrap="square" lIns="0" tIns="0" rIns="0" bIns="0" rtlCol="0" anchor="t"/>
          <a:lstStyle/>
          <a:p>
            <a:pPr indent="0" marL="0">
              <a:buNone/>
            </a:pPr>
            <a:r>
              <a:rPr lang="en-US" sz="1300" b="1" dirty="0">
                <a:solidFill>
                  <a:srgbClr val="BFBFBF"/>
                </a:solidFill>
                <a:latin typeface="Calibri" pitchFamily="34" charset="0"/>
                <a:ea typeface="Calibri" pitchFamily="34" charset="-122"/>
                <a:cs typeface="Calibri" pitchFamily="34" charset="-120"/>
              </a:rPr>
              <a:t>THE PROBLEM</a:t>
            </a:r>
            <a:endParaRPr lang="en-US" sz="1300" dirty="0"/>
          </a:p>
        </p:txBody>
      </p:sp>
      <p:sp>
        <p:nvSpPr>
          <p:cNvPr id="5" name="Text 3"/>
          <p:cNvSpPr txBox="1"/>
          <p:nvPr/>
        </p:nvSpPr>
        <p:spPr>
          <a:xfrm>
            <a:off x="868680" y="2011680"/>
            <a:ext cx="4526280" cy="1920240"/>
          </a:xfrm>
          <a:prstGeom prst="rect">
            <a:avLst/>
          </a:prstGeom>
          <a:noFill/>
          <a:ln/>
        </p:spPr>
        <p:txBody>
          <a:bodyPr wrap="square" lIns="0" tIns="0" rIns="0" bIns="0" rtlCol="0" anchor="t"/>
          <a:lstStyle/>
          <a:p>
            <a:pPr indent="0" marL="0">
              <a:buNone/>
            </a:pPr>
            <a:r>
              <a:rPr lang="en-US" sz="2100" dirty="0">
                <a:solidFill>
                  <a:schemeClr val="bg1"/>
                </a:solidFill>
                <a:latin typeface="Cambria" pitchFamily="34" charset="0"/>
                <a:ea typeface="Cambria" pitchFamily="34" charset="-122"/>
                <a:cs typeface="Cambria" pitchFamily="34" charset="-120"/>
              </a:rPr>
              <a:t>Can GPU parallelism bring CT/MRI processing from seconds or minutes down to interactive speed, without losing any accuracy?</a:t>
            </a:r>
            <a:endParaRPr lang="en-US" sz="2100" dirty="0"/>
          </a:p>
        </p:txBody>
      </p:sp>
      <p:sp>
        <p:nvSpPr>
          <p:cNvPr id="6" name="icon-bg-FaHeartbeat"/>
          <p:cNvSpPr/>
          <p:nvPr/>
        </p:nvSpPr>
        <p:spPr>
          <a:xfrm>
            <a:off x="6035040" y="1417320"/>
            <a:ext cx="640080" cy="640080"/>
          </a:xfrm>
          <a:prstGeom prst="ellipse">
            <a:avLst/>
          </a:prstGeom>
          <a:solidFill>
            <a:schemeClr val="accent2"/>
          </a:solidFill>
          <a:ln/>
        </p:spPr>
      </p:sp>
      <p:pic>
        <p:nvPicPr>
          <p:cNvPr id="7" name="icon-FaHeartbeat" descr="Heartbeat icon">    </p:cNvPr>
          <p:cNvPicPr>
            <a:picLocks noChangeAspect="1"/>
          </p:cNvPicPr>
          <p:nvPr/>
        </p:nvPicPr>
        <p:blipFill>
          <a:blip r:embed="rId1"/>
          <a:stretch>
            <a:fillRect/>
          </a:stretch>
        </p:blipFill>
        <p:spPr>
          <a:xfrm>
            <a:off x="6188659" y="1570939"/>
            <a:ext cx="332842" cy="332842"/>
          </a:xfrm>
          <a:prstGeom prst="rect">
            <a:avLst/>
          </a:prstGeom>
        </p:spPr>
      </p:pic>
      <p:sp>
        <p:nvSpPr>
          <p:cNvPr id="8" name="Text 5"/>
          <p:cNvSpPr txBox="1"/>
          <p:nvPr/>
        </p:nvSpPr>
        <p:spPr>
          <a:xfrm>
            <a:off x="6858000" y="1371600"/>
            <a:ext cx="4754880" cy="32004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Time-critical care</a:t>
            </a:r>
            <a:endParaRPr lang="en-US" sz="1600" dirty="0"/>
          </a:p>
        </p:txBody>
      </p:sp>
      <p:sp>
        <p:nvSpPr>
          <p:cNvPr id="9" name="Text 6"/>
          <p:cNvSpPr txBox="1"/>
          <p:nvPr/>
        </p:nvSpPr>
        <p:spPr>
          <a:xfrm>
            <a:off x="6858000" y="1700784"/>
            <a:ext cx="4754880" cy="5486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1.9 million neurons are lost every minute an ischaemic stroke goes untreated (Saver, 2006)</a:t>
            </a:r>
            <a:endParaRPr lang="en-US" sz="1400" dirty="0"/>
          </a:p>
        </p:txBody>
      </p:sp>
      <p:sp>
        <p:nvSpPr>
          <p:cNvPr id="10" name="icon-bg-FaCogs"/>
          <p:cNvSpPr/>
          <p:nvPr/>
        </p:nvSpPr>
        <p:spPr>
          <a:xfrm>
            <a:off x="6035040" y="2350008"/>
            <a:ext cx="640080" cy="640080"/>
          </a:xfrm>
          <a:prstGeom prst="ellipse">
            <a:avLst/>
          </a:prstGeom>
          <a:solidFill>
            <a:schemeClr val="accent1"/>
          </a:solidFill>
          <a:ln/>
        </p:spPr>
      </p:sp>
      <p:pic>
        <p:nvPicPr>
          <p:cNvPr id="11" name="icon-FaCogs" descr="Cogs icon">    </p:cNvPr>
          <p:cNvPicPr>
            <a:picLocks noChangeAspect="1"/>
          </p:cNvPicPr>
          <p:nvPr/>
        </p:nvPicPr>
        <p:blipFill>
          <a:blip r:embed="rId2"/>
          <a:stretch>
            <a:fillRect/>
          </a:stretch>
        </p:blipFill>
        <p:spPr>
          <a:xfrm>
            <a:off x="6188659" y="2503627"/>
            <a:ext cx="332842" cy="332842"/>
          </a:xfrm>
          <a:prstGeom prst="rect">
            <a:avLst/>
          </a:prstGeom>
        </p:spPr>
      </p:pic>
      <p:sp>
        <p:nvSpPr>
          <p:cNvPr id="12" name="Text 8"/>
          <p:cNvSpPr txBox="1"/>
          <p:nvPr/>
        </p:nvSpPr>
        <p:spPr>
          <a:xfrm>
            <a:off x="6858000" y="2304288"/>
            <a:ext cx="4754880" cy="32004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Heavier algorithms</a:t>
            </a:r>
            <a:endParaRPr lang="en-US" sz="1600" dirty="0"/>
          </a:p>
        </p:txBody>
      </p:sp>
      <p:sp>
        <p:nvSpPr>
          <p:cNvPr id="13" name="Text 9"/>
          <p:cNvSpPr txBox="1"/>
          <p:nvPr/>
        </p:nvSpPr>
        <p:spPr>
          <a:xfrm>
            <a:off x="6858000" y="2633472"/>
            <a:ext cx="4754880" cy="5486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Iterative reconstruction and deep learning need 10–100× the compute of classic methods</a:t>
            </a:r>
            <a:endParaRPr lang="en-US" sz="1400" dirty="0"/>
          </a:p>
        </p:txBody>
      </p:sp>
      <p:sp>
        <p:nvSpPr>
          <p:cNvPr id="14" name="icon-bg-FaUserMd"/>
          <p:cNvSpPr/>
          <p:nvPr/>
        </p:nvSpPr>
        <p:spPr>
          <a:xfrm>
            <a:off x="6035040" y="3282696"/>
            <a:ext cx="640080" cy="640080"/>
          </a:xfrm>
          <a:prstGeom prst="ellipse">
            <a:avLst/>
          </a:prstGeom>
          <a:solidFill>
            <a:schemeClr val="accent1"/>
          </a:solidFill>
          <a:ln/>
        </p:spPr>
      </p:sp>
      <p:pic>
        <p:nvPicPr>
          <p:cNvPr id="15" name="icon-FaUserMd" descr="UserMd icon">    </p:cNvPr>
          <p:cNvPicPr>
            <a:picLocks noChangeAspect="1"/>
          </p:cNvPicPr>
          <p:nvPr/>
        </p:nvPicPr>
        <p:blipFill>
          <a:blip r:embed="rId3"/>
          <a:stretch>
            <a:fillRect/>
          </a:stretch>
        </p:blipFill>
        <p:spPr>
          <a:xfrm>
            <a:off x="6188659" y="3436315"/>
            <a:ext cx="332842" cy="332842"/>
          </a:xfrm>
          <a:prstGeom prst="rect">
            <a:avLst/>
          </a:prstGeom>
        </p:spPr>
      </p:pic>
      <p:sp>
        <p:nvSpPr>
          <p:cNvPr id="16" name="Text 11"/>
          <p:cNvSpPr txBox="1"/>
          <p:nvPr/>
        </p:nvSpPr>
        <p:spPr>
          <a:xfrm>
            <a:off x="6858000" y="3236976"/>
            <a:ext cx="4754880" cy="32004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Clinical workflow</a:t>
            </a:r>
            <a:endParaRPr lang="en-US" sz="1600" dirty="0"/>
          </a:p>
        </p:txBody>
      </p:sp>
      <p:sp>
        <p:nvSpPr>
          <p:cNvPr id="17" name="Text 12"/>
          <p:cNvSpPr txBox="1"/>
          <p:nvPr/>
        </p:nvSpPr>
        <p:spPr>
          <a:xfrm>
            <a:off x="6858000" y="3566160"/>
            <a:ext cx="4754880" cy="5486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Results must be ready while the patient is still on the table</a:t>
            </a:r>
            <a:endParaRPr lang="en-US" sz="1400" dirty="0"/>
          </a:p>
        </p:txBody>
      </p:sp>
      <p:sp>
        <p:nvSpPr>
          <p:cNvPr id="18" name="Text 13"/>
          <p:cNvSpPr txBox="1"/>
          <p:nvPr/>
        </p:nvSpPr>
        <p:spPr>
          <a:xfrm>
            <a:off x="548640" y="4389120"/>
            <a:ext cx="4572000" cy="365760"/>
          </a:xfrm>
          <a:prstGeom prst="rect">
            <a:avLst/>
          </a:prstGeom>
          <a:noFill/>
          <a:ln/>
        </p:spPr>
        <p:txBody>
          <a:bodyPr wrap="square" lIns="0" tIns="0" rIns="0" bIns="0" rtlCol="0" anchor="t"/>
          <a:lstStyle/>
          <a:p>
            <a:pPr indent="0" marL="0">
              <a:buNone/>
            </a:pPr>
            <a:r>
              <a:rPr lang="en-US" sz="1800" b="1" dirty="0">
                <a:solidFill>
                  <a:schemeClr val="tx2"/>
                </a:solidFill>
                <a:latin typeface="Calibri" pitchFamily="34" charset="0"/>
                <a:ea typeface="Calibri" pitchFamily="34" charset="-122"/>
                <a:cs typeface="Calibri" pitchFamily="34" charset="-120"/>
              </a:rPr>
              <a:t>Objectives</a:t>
            </a:r>
            <a:endParaRPr lang="en-US" sz="1800" dirty="0"/>
          </a:p>
        </p:txBody>
      </p:sp>
      <p:sp>
        <p:nvSpPr>
          <p:cNvPr id="19" name="obj-0"/>
          <p:cNvSpPr/>
          <p:nvPr/>
        </p:nvSpPr>
        <p:spPr>
          <a:xfrm>
            <a:off x="548640" y="4846320"/>
            <a:ext cx="2633472" cy="1234440"/>
          </a:xfrm>
          <a:prstGeom prst="roundRect">
            <a:avLst>
              <a:gd name="adj" fmla="val 5926"/>
            </a:avLst>
          </a:prstGeom>
          <a:solidFill>
            <a:schemeClr val="bg2"/>
          </a:solidFill>
          <a:ln w="9525">
            <a:solidFill>
              <a:srgbClr val="D9D9D9"/>
            </a:solidFill>
            <a:prstDash val="solid"/>
          </a:ln>
        </p:spPr>
      </p:sp>
      <p:sp>
        <p:nvSpPr>
          <p:cNvPr id="20" name="Text 15"/>
          <p:cNvSpPr txBox="1"/>
          <p:nvPr/>
        </p:nvSpPr>
        <p:spPr>
          <a:xfrm>
            <a:off x="731520" y="4956048"/>
            <a:ext cx="548640" cy="36576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O1</a:t>
            </a:r>
            <a:endParaRPr lang="en-US" sz="1800" dirty="0"/>
          </a:p>
        </p:txBody>
      </p:sp>
      <p:sp>
        <p:nvSpPr>
          <p:cNvPr id="21" name="Text 16"/>
          <p:cNvSpPr txBox="1"/>
          <p:nvPr/>
        </p:nvSpPr>
        <p:spPr>
          <a:xfrm>
            <a:off x="731520" y="5321808"/>
            <a:ext cx="228600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Build a 5-stage CT/MRI pipeline in both CPU and GPU versions</a:t>
            </a:r>
            <a:endParaRPr lang="en-US" sz="1300" dirty="0"/>
          </a:p>
        </p:txBody>
      </p:sp>
      <p:sp>
        <p:nvSpPr>
          <p:cNvPr id="22" name="obj-1"/>
          <p:cNvSpPr/>
          <p:nvPr/>
        </p:nvSpPr>
        <p:spPr>
          <a:xfrm>
            <a:off x="3364992" y="4846320"/>
            <a:ext cx="2633472" cy="1234440"/>
          </a:xfrm>
          <a:prstGeom prst="roundRect">
            <a:avLst>
              <a:gd name="adj" fmla="val 5926"/>
            </a:avLst>
          </a:prstGeom>
          <a:solidFill>
            <a:schemeClr val="bg2"/>
          </a:solidFill>
          <a:ln w="9525">
            <a:solidFill>
              <a:srgbClr val="D9D9D9"/>
            </a:solidFill>
            <a:prstDash val="solid"/>
          </a:ln>
        </p:spPr>
      </p:sp>
      <p:sp>
        <p:nvSpPr>
          <p:cNvPr id="23" name="Text 18"/>
          <p:cNvSpPr txBox="1"/>
          <p:nvPr/>
        </p:nvSpPr>
        <p:spPr>
          <a:xfrm>
            <a:off x="3547872" y="4956048"/>
            <a:ext cx="548640" cy="36576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O2</a:t>
            </a:r>
            <a:endParaRPr lang="en-US" sz="1800" dirty="0"/>
          </a:p>
        </p:txBody>
      </p:sp>
      <p:sp>
        <p:nvSpPr>
          <p:cNvPr id="24" name="Text 19"/>
          <p:cNvSpPr txBox="1"/>
          <p:nvPr/>
        </p:nvSpPr>
        <p:spPr>
          <a:xfrm>
            <a:off x="3547872" y="5321808"/>
            <a:ext cx="228600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Write our own CUDA kernels (FBP, naive and tiled 3D convolution)</a:t>
            </a:r>
            <a:endParaRPr lang="en-US" sz="1300" dirty="0"/>
          </a:p>
        </p:txBody>
      </p:sp>
      <p:sp>
        <p:nvSpPr>
          <p:cNvPr id="25" name="obj-2"/>
          <p:cNvSpPr/>
          <p:nvPr/>
        </p:nvSpPr>
        <p:spPr>
          <a:xfrm>
            <a:off x="6181344" y="4846320"/>
            <a:ext cx="2633472" cy="1234440"/>
          </a:xfrm>
          <a:prstGeom prst="roundRect">
            <a:avLst>
              <a:gd name="adj" fmla="val 5926"/>
            </a:avLst>
          </a:prstGeom>
          <a:solidFill>
            <a:schemeClr val="bg2"/>
          </a:solidFill>
          <a:ln w="9525">
            <a:solidFill>
              <a:srgbClr val="D9D9D9"/>
            </a:solidFill>
            <a:prstDash val="solid"/>
          </a:ln>
        </p:spPr>
      </p:sp>
      <p:sp>
        <p:nvSpPr>
          <p:cNvPr id="26" name="Text 21"/>
          <p:cNvSpPr txBox="1"/>
          <p:nvPr/>
        </p:nvSpPr>
        <p:spPr>
          <a:xfrm>
            <a:off x="6364224" y="4956048"/>
            <a:ext cx="548640" cy="36576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O3</a:t>
            </a:r>
            <a:endParaRPr lang="en-US" sz="1800" dirty="0"/>
          </a:p>
        </p:txBody>
      </p:sp>
      <p:sp>
        <p:nvSpPr>
          <p:cNvPr id="27" name="Text 22"/>
          <p:cNvSpPr txBox="1"/>
          <p:nvPr/>
        </p:nvSpPr>
        <p:spPr>
          <a:xfrm>
            <a:off x="6364224" y="5321808"/>
            <a:ext cx="228600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Measure speedup, scaling with size, and data-transfer cost</a:t>
            </a:r>
            <a:endParaRPr lang="en-US" sz="1300" dirty="0"/>
          </a:p>
        </p:txBody>
      </p:sp>
      <p:sp>
        <p:nvSpPr>
          <p:cNvPr id="28" name="obj-3"/>
          <p:cNvSpPr/>
          <p:nvPr/>
        </p:nvSpPr>
        <p:spPr>
          <a:xfrm>
            <a:off x="8997696" y="4846320"/>
            <a:ext cx="2633472" cy="1234440"/>
          </a:xfrm>
          <a:prstGeom prst="roundRect">
            <a:avLst>
              <a:gd name="adj" fmla="val 5926"/>
            </a:avLst>
          </a:prstGeom>
          <a:solidFill>
            <a:schemeClr val="bg2"/>
          </a:solidFill>
          <a:ln w="9525">
            <a:solidFill>
              <a:srgbClr val="D9D9D9"/>
            </a:solidFill>
            <a:prstDash val="solid"/>
          </a:ln>
        </p:spPr>
      </p:sp>
      <p:sp>
        <p:nvSpPr>
          <p:cNvPr id="29" name="Text 24"/>
          <p:cNvSpPr txBox="1"/>
          <p:nvPr/>
        </p:nvSpPr>
        <p:spPr>
          <a:xfrm>
            <a:off x="9180576" y="4956048"/>
            <a:ext cx="548640" cy="36576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O4</a:t>
            </a:r>
            <a:endParaRPr lang="en-US" sz="1800" dirty="0"/>
          </a:p>
        </p:txBody>
      </p:sp>
      <p:sp>
        <p:nvSpPr>
          <p:cNvPr id="30" name="Text 25"/>
          <p:cNvSpPr txBox="1"/>
          <p:nvPr/>
        </p:nvSpPr>
        <p:spPr>
          <a:xfrm>
            <a:off x="9180576" y="5321808"/>
            <a:ext cx="228600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Prove outputs are identical: max error, PSNR, Dice</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CPU vs GPU: latency vs throughput</a:t>
            </a:r>
            <a:endParaRPr lang="en-US" sz="3400" dirty="0"/>
          </a:p>
        </p:txBody>
      </p:sp>
      <p:sp>
        <p:nvSpPr>
          <p:cNvPr id="3" name="cpu-panel"/>
          <p:cNvSpPr/>
          <p:nvPr/>
        </p:nvSpPr>
        <p:spPr>
          <a:xfrm>
            <a:off x="548640" y="1371600"/>
            <a:ext cx="5120640" cy="3566160"/>
          </a:xfrm>
          <a:prstGeom prst="roundRect">
            <a:avLst>
              <a:gd name="adj" fmla="val 2051"/>
            </a:avLst>
          </a:prstGeom>
          <a:solidFill>
            <a:schemeClr val="bg1"/>
          </a:solidFill>
          <a:ln w="9525">
            <a:solidFill>
              <a:srgbClr val="D9D9D9"/>
            </a:solidFill>
            <a:prstDash val="solid"/>
          </a:ln>
          <a:effectLst>
            <a:outerShdw sx="100000" sy="100000" kx="0" ky="0" algn="bl" rotWithShape="0" blurRad="76200" dist="19050" dir="5400000">
              <a:srgbClr val="000000">
                <a:alpha val="12000"/>
              </a:srgbClr>
            </a:outerShdw>
          </a:effectLst>
        </p:spPr>
      </p:sp>
      <p:sp>
        <p:nvSpPr>
          <p:cNvPr id="4" name="Text 2"/>
          <p:cNvSpPr txBox="1"/>
          <p:nvPr/>
        </p:nvSpPr>
        <p:spPr>
          <a:xfrm>
            <a:off x="777240" y="1508760"/>
            <a:ext cx="4663440" cy="365760"/>
          </a:xfrm>
          <a:prstGeom prst="rect">
            <a:avLst/>
          </a:prstGeom>
          <a:noFill/>
          <a:ln/>
        </p:spPr>
        <p:txBody>
          <a:bodyPr wrap="square" lIns="0" tIns="0" rIns="0" bIns="0" rtlCol="0" anchor="t"/>
          <a:lstStyle/>
          <a:p>
            <a:pPr indent="0" marL="0">
              <a:buNone/>
            </a:pPr>
            <a:r>
              <a:rPr lang="en-US" sz="1700" b="1" dirty="0">
                <a:solidFill>
                  <a:schemeClr val="accent5"/>
                </a:solidFill>
                <a:latin typeface="Calibri" pitchFamily="34" charset="0"/>
                <a:ea typeface="Calibri" pitchFamily="34" charset="-122"/>
                <a:cs typeface="Calibri" pitchFamily="34" charset="-120"/>
              </a:rPr>
              <a:t>CPU  ·  latency-optimised</a:t>
            </a:r>
            <a:endParaRPr lang="en-US" sz="1700" dirty="0"/>
          </a:p>
        </p:txBody>
      </p:sp>
      <p:sp>
        <p:nvSpPr>
          <p:cNvPr id="5" name="cpu-control"/>
          <p:cNvSpPr/>
          <p:nvPr/>
        </p:nvSpPr>
        <p:spPr>
          <a:xfrm>
            <a:off x="777240" y="1965960"/>
            <a:ext cx="1463040" cy="1143000"/>
          </a:xfrm>
          <a:prstGeom prst="rect">
            <a:avLst/>
          </a:prstGeom>
          <a:solidFill>
            <a:srgbClr val="E6E6E6"/>
          </a:solidFill>
          <a:ln/>
        </p:spPr>
      </p:sp>
      <p:sp>
        <p:nvSpPr>
          <p:cNvPr id="6" name="Text 4"/>
          <p:cNvSpPr txBox="1"/>
          <p:nvPr/>
        </p:nvSpPr>
        <p:spPr>
          <a:xfrm>
            <a:off x="777240" y="1965960"/>
            <a:ext cx="1463040" cy="1143000"/>
          </a:xfrm>
          <a:prstGeom prst="rect">
            <a:avLst/>
          </a:prstGeom>
          <a:noFill/>
          <a:ln/>
        </p:spPr>
        <p:txBody>
          <a:bodyPr wrap="square" lIns="0" tIns="0" rIns="0" bIns="0" rtlCol="0" anchor="ctr"/>
          <a:lstStyle/>
          <a:p>
            <a:pPr algn="ctr" indent="0" marL="0">
              <a:buNone/>
            </a:pPr>
            <a:r>
              <a:rPr lang="en-US" sz="1300" dirty="0">
                <a:solidFill>
                  <a:srgbClr val="000000"/>
                </a:solidFill>
                <a:latin typeface="Calibri" pitchFamily="34" charset="0"/>
                <a:ea typeface="Calibri" pitchFamily="34" charset="-122"/>
                <a:cs typeface="Calibri" pitchFamily="34" charset="-120"/>
              </a:rPr>
              <a:t>Control</a:t>
            </a:r>
            <a:endParaRPr lang="en-US" sz="1300" dirty="0"/>
          </a:p>
        </p:txBody>
      </p:sp>
      <p:sp>
        <p:nvSpPr>
          <p:cNvPr id="7" name="cpu-core-0"/>
          <p:cNvSpPr/>
          <p:nvPr/>
        </p:nvSpPr>
        <p:spPr>
          <a:xfrm>
            <a:off x="2377440" y="1965960"/>
            <a:ext cx="914400" cy="502920"/>
          </a:xfrm>
          <a:prstGeom prst="rect">
            <a:avLst/>
          </a:prstGeom>
          <a:solidFill>
            <a:schemeClr val="accent5"/>
          </a:solidFill>
          <a:ln/>
        </p:spPr>
      </p:sp>
      <p:sp>
        <p:nvSpPr>
          <p:cNvPr id="8" name="Text 6"/>
          <p:cNvSpPr txBox="1"/>
          <p:nvPr/>
        </p:nvSpPr>
        <p:spPr>
          <a:xfrm>
            <a:off x="2377440" y="1965960"/>
            <a:ext cx="914400" cy="502920"/>
          </a:xfrm>
          <a:prstGeom prst="rect">
            <a:avLst/>
          </a:prstGeom>
          <a:noFill/>
          <a:ln/>
        </p:spPr>
        <p:txBody>
          <a:bodyPr wrap="square" lIns="0" tIns="0" rIns="0" bIns="0" rtlCol="0" anchor="ctr"/>
          <a:lstStyle/>
          <a:p>
            <a:pPr algn="ctr" indent="0" marL="0">
              <a:buNone/>
            </a:pPr>
            <a:r>
              <a:rPr lang="en-US" sz="1200" dirty="0">
                <a:solidFill>
                  <a:schemeClr val="bg1"/>
                </a:solidFill>
                <a:latin typeface="Calibri" pitchFamily="34" charset="0"/>
                <a:ea typeface="Calibri" pitchFamily="34" charset="-122"/>
                <a:cs typeface="Calibri" pitchFamily="34" charset="-120"/>
              </a:rPr>
              <a:t>Core</a:t>
            </a:r>
            <a:endParaRPr lang="en-US" sz="1200" dirty="0"/>
          </a:p>
        </p:txBody>
      </p:sp>
      <p:sp>
        <p:nvSpPr>
          <p:cNvPr id="9" name="cpu-core-1"/>
          <p:cNvSpPr/>
          <p:nvPr/>
        </p:nvSpPr>
        <p:spPr>
          <a:xfrm>
            <a:off x="3401568" y="1965960"/>
            <a:ext cx="914400" cy="502920"/>
          </a:xfrm>
          <a:prstGeom prst="rect">
            <a:avLst/>
          </a:prstGeom>
          <a:solidFill>
            <a:schemeClr val="accent5"/>
          </a:solidFill>
          <a:ln/>
        </p:spPr>
      </p:sp>
      <p:sp>
        <p:nvSpPr>
          <p:cNvPr id="10" name="Text 8"/>
          <p:cNvSpPr txBox="1"/>
          <p:nvPr/>
        </p:nvSpPr>
        <p:spPr>
          <a:xfrm>
            <a:off x="3401568" y="1965960"/>
            <a:ext cx="914400" cy="502920"/>
          </a:xfrm>
          <a:prstGeom prst="rect">
            <a:avLst/>
          </a:prstGeom>
          <a:noFill/>
          <a:ln/>
        </p:spPr>
        <p:txBody>
          <a:bodyPr wrap="square" lIns="0" tIns="0" rIns="0" bIns="0" rtlCol="0" anchor="ctr"/>
          <a:lstStyle/>
          <a:p>
            <a:pPr algn="ctr" indent="0" marL="0">
              <a:buNone/>
            </a:pPr>
            <a:r>
              <a:rPr lang="en-US" sz="1200" dirty="0">
                <a:solidFill>
                  <a:schemeClr val="bg1"/>
                </a:solidFill>
                <a:latin typeface="Calibri" pitchFamily="34" charset="0"/>
                <a:ea typeface="Calibri" pitchFamily="34" charset="-122"/>
                <a:cs typeface="Calibri" pitchFamily="34" charset="-120"/>
              </a:rPr>
              <a:t>Core</a:t>
            </a:r>
            <a:endParaRPr lang="en-US" sz="1200" dirty="0"/>
          </a:p>
        </p:txBody>
      </p:sp>
      <p:sp>
        <p:nvSpPr>
          <p:cNvPr id="11" name="cpu-core-2"/>
          <p:cNvSpPr/>
          <p:nvPr/>
        </p:nvSpPr>
        <p:spPr>
          <a:xfrm>
            <a:off x="4425696" y="1965960"/>
            <a:ext cx="914400" cy="502920"/>
          </a:xfrm>
          <a:prstGeom prst="rect">
            <a:avLst/>
          </a:prstGeom>
          <a:solidFill>
            <a:schemeClr val="accent5"/>
          </a:solidFill>
          <a:ln/>
        </p:spPr>
      </p:sp>
      <p:sp>
        <p:nvSpPr>
          <p:cNvPr id="12" name="Text 10"/>
          <p:cNvSpPr txBox="1"/>
          <p:nvPr/>
        </p:nvSpPr>
        <p:spPr>
          <a:xfrm>
            <a:off x="4425696" y="1965960"/>
            <a:ext cx="914400" cy="502920"/>
          </a:xfrm>
          <a:prstGeom prst="rect">
            <a:avLst/>
          </a:prstGeom>
          <a:noFill/>
          <a:ln/>
        </p:spPr>
        <p:txBody>
          <a:bodyPr wrap="square" lIns="0" tIns="0" rIns="0" bIns="0" rtlCol="0" anchor="ctr"/>
          <a:lstStyle/>
          <a:p>
            <a:pPr algn="ctr" indent="0" marL="0">
              <a:buNone/>
            </a:pPr>
            <a:r>
              <a:rPr lang="en-US" sz="1200" dirty="0">
                <a:solidFill>
                  <a:schemeClr val="bg1"/>
                </a:solidFill>
                <a:latin typeface="Calibri" pitchFamily="34" charset="0"/>
                <a:ea typeface="Calibri" pitchFamily="34" charset="-122"/>
                <a:cs typeface="Calibri" pitchFamily="34" charset="-120"/>
              </a:rPr>
              <a:t>Core</a:t>
            </a:r>
            <a:endParaRPr lang="en-US" sz="1200" dirty="0"/>
          </a:p>
        </p:txBody>
      </p:sp>
      <p:sp>
        <p:nvSpPr>
          <p:cNvPr id="13" name="cpu-core-3"/>
          <p:cNvSpPr/>
          <p:nvPr/>
        </p:nvSpPr>
        <p:spPr>
          <a:xfrm>
            <a:off x="2377440" y="2560320"/>
            <a:ext cx="914400" cy="502920"/>
          </a:xfrm>
          <a:prstGeom prst="rect">
            <a:avLst/>
          </a:prstGeom>
          <a:solidFill>
            <a:schemeClr val="accent5"/>
          </a:solidFill>
          <a:ln/>
        </p:spPr>
      </p:sp>
      <p:sp>
        <p:nvSpPr>
          <p:cNvPr id="14" name="Text 12"/>
          <p:cNvSpPr txBox="1"/>
          <p:nvPr/>
        </p:nvSpPr>
        <p:spPr>
          <a:xfrm>
            <a:off x="2377440" y="2560320"/>
            <a:ext cx="914400" cy="502920"/>
          </a:xfrm>
          <a:prstGeom prst="rect">
            <a:avLst/>
          </a:prstGeom>
          <a:noFill/>
          <a:ln/>
        </p:spPr>
        <p:txBody>
          <a:bodyPr wrap="square" lIns="0" tIns="0" rIns="0" bIns="0" rtlCol="0" anchor="ctr"/>
          <a:lstStyle/>
          <a:p>
            <a:pPr algn="ctr" indent="0" marL="0">
              <a:buNone/>
            </a:pPr>
            <a:r>
              <a:rPr lang="en-US" sz="1200" dirty="0">
                <a:solidFill>
                  <a:schemeClr val="bg1"/>
                </a:solidFill>
                <a:latin typeface="Calibri" pitchFamily="34" charset="0"/>
                <a:ea typeface="Calibri" pitchFamily="34" charset="-122"/>
                <a:cs typeface="Calibri" pitchFamily="34" charset="-120"/>
              </a:rPr>
              <a:t>Core</a:t>
            </a:r>
            <a:endParaRPr lang="en-US" sz="1200" dirty="0"/>
          </a:p>
        </p:txBody>
      </p:sp>
      <p:sp>
        <p:nvSpPr>
          <p:cNvPr id="15" name="cpu-core-4"/>
          <p:cNvSpPr/>
          <p:nvPr/>
        </p:nvSpPr>
        <p:spPr>
          <a:xfrm>
            <a:off x="3401568" y="2560320"/>
            <a:ext cx="914400" cy="502920"/>
          </a:xfrm>
          <a:prstGeom prst="rect">
            <a:avLst/>
          </a:prstGeom>
          <a:solidFill>
            <a:schemeClr val="accent5"/>
          </a:solidFill>
          <a:ln/>
        </p:spPr>
      </p:sp>
      <p:sp>
        <p:nvSpPr>
          <p:cNvPr id="16" name="Text 14"/>
          <p:cNvSpPr txBox="1"/>
          <p:nvPr/>
        </p:nvSpPr>
        <p:spPr>
          <a:xfrm>
            <a:off x="3401568" y="2560320"/>
            <a:ext cx="914400" cy="502920"/>
          </a:xfrm>
          <a:prstGeom prst="rect">
            <a:avLst/>
          </a:prstGeom>
          <a:noFill/>
          <a:ln/>
        </p:spPr>
        <p:txBody>
          <a:bodyPr wrap="square" lIns="0" tIns="0" rIns="0" bIns="0" rtlCol="0" anchor="ctr"/>
          <a:lstStyle/>
          <a:p>
            <a:pPr algn="ctr" indent="0" marL="0">
              <a:buNone/>
            </a:pPr>
            <a:r>
              <a:rPr lang="en-US" sz="1200" dirty="0">
                <a:solidFill>
                  <a:schemeClr val="bg1"/>
                </a:solidFill>
                <a:latin typeface="Calibri" pitchFamily="34" charset="0"/>
                <a:ea typeface="Calibri" pitchFamily="34" charset="-122"/>
                <a:cs typeface="Calibri" pitchFamily="34" charset="-120"/>
              </a:rPr>
              <a:t>Core</a:t>
            </a:r>
            <a:endParaRPr lang="en-US" sz="1200" dirty="0"/>
          </a:p>
        </p:txBody>
      </p:sp>
      <p:sp>
        <p:nvSpPr>
          <p:cNvPr id="17" name="cpu-core-5"/>
          <p:cNvSpPr/>
          <p:nvPr/>
        </p:nvSpPr>
        <p:spPr>
          <a:xfrm>
            <a:off x="4425696" y="2560320"/>
            <a:ext cx="914400" cy="502920"/>
          </a:xfrm>
          <a:prstGeom prst="rect">
            <a:avLst/>
          </a:prstGeom>
          <a:solidFill>
            <a:schemeClr val="accent5"/>
          </a:solidFill>
          <a:ln/>
        </p:spPr>
      </p:sp>
      <p:sp>
        <p:nvSpPr>
          <p:cNvPr id="18" name="Text 16"/>
          <p:cNvSpPr txBox="1"/>
          <p:nvPr/>
        </p:nvSpPr>
        <p:spPr>
          <a:xfrm>
            <a:off x="4425696" y="2560320"/>
            <a:ext cx="914400" cy="502920"/>
          </a:xfrm>
          <a:prstGeom prst="rect">
            <a:avLst/>
          </a:prstGeom>
          <a:noFill/>
          <a:ln/>
        </p:spPr>
        <p:txBody>
          <a:bodyPr wrap="square" lIns="0" tIns="0" rIns="0" bIns="0" rtlCol="0" anchor="ctr"/>
          <a:lstStyle/>
          <a:p>
            <a:pPr algn="ctr" indent="0" marL="0">
              <a:buNone/>
            </a:pPr>
            <a:r>
              <a:rPr lang="en-US" sz="1200" dirty="0">
                <a:solidFill>
                  <a:schemeClr val="bg1"/>
                </a:solidFill>
                <a:latin typeface="Calibri" pitchFamily="34" charset="0"/>
                <a:ea typeface="Calibri" pitchFamily="34" charset="-122"/>
                <a:cs typeface="Calibri" pitchFamily="34" charset="-120"/>
              </a:rPr>
              <a:t>Core</a:t>
            </a:r>
            <a:endParaRPr lang="en-US" sz="1200" dirty="0"/>
          </a:p>
        </p:txBody>
      </p:sp>
      <p:sp>
        <p:nvSpPr>
          <p:cNvPr id="19" name="cpu-cache"/>
          <p:cNvSpPr/>
          <p:nvPr/>
        </p:nvSpPr>
        <p:spPr>
          <a:xfrm>
            <a:off x="777240" y="3246120"/>
            <a:ext cx="4663440" cy="640080"/>
          </a:xfrm>
          <a:prstGeom prst="rect">
            <a:avLst/>
          </a:prstGeom>
          <a:solidFill>
            <a:srgbClr val="CCCCCC"/>
          </a:solidFill>
          <a:ln/>
        </p:spPr>
      </p:sp>
      <p:sp>
        <p:nvSpPr>
          <p:cNvPr id="20" name="Text 18"/>
          <p:cNvSpPr txBox="1"/>
          <p:nvPr/>
        </p:nvSpPr>
        <p:spPr>
          <a:xfrm>
            <a:off x="777240" y="3246120"/>
            <a:ext cx="4663440" cy="640080"/>
          </a:xfrm>
          <a:prstGeom prst="rect">
            <a:avLst/>
          </a:prstGeom>
          <a:noFill/>
          <a:ln/>
        </p:spPr>
        <p:txBody>
          <a:bodyPr wrap="square" lIns="0" tIns="0" rIns="0" bIns="0" rtlCol="0" anchor="ctr"/>
          <a:lstStyle/>
          <a:p>
            <a:pPr algn="ctr" indent="0" marL="0">
              <a:buNone/>
            </a:pPr>
            <a:r>
              <a:rPr lang="en-US" sz="1300" dirty="0">
                <a:solidFill>
                  <a:srgbClr val="000000"/>
                </a:solidFill>
                <a:latin typeface="Calibri" pitchFamily="34" charset="0"/>
                <a:ea typeface="Calibri" pitchFamily="34" charset="-122"/>
                <a:cs typeface="Calibri" pitchFamily="34" charset="-120"/>
              </a:rPr>
              <a:t>Large cache</a:t>
            </a:r>
            <a:endParaRPr lang="en-US" sz="1300" dirty="0"/>
          </a:p>
        </p:txBody>
      </p:sp>
      <p:sp>
        <p:nvSpPr>
          <p:cNvPr id="21" name="Text 19"/>
          <p:cNvSpPr txBox="1"/>
          <p:nvPr/>
        </p:nvSpPr>
        <p:spPr>
          <a:xfrm>
            <a:off x="777240" y="4023360"/>
            <a:ext cx="4663440" cy="777240"/>
          </a:xfrm>
          <a:prstGeom prst="rect">
            <a:avLst/>
          </a:prstGeom>
          <a:noFill/>
          <a:ln/>
        </p:spPr>
        <p:txBody>
          <a:bodyPr wrap="square" lIns="0" tIns="0" rIns="0" bIns="0" rtlCol="0" anchor="t"/>
          <a:lstStyle/>
          <a:p>
            <a:pPr indent="0" marL="0">
              <a:buNone/>
            </a:pPr>
            <a:r>
              <a:rPr lang="en-US" sz="1300" dirty="0">
                <a:solidFill>
                  <a:srgbClr val="595959"/>
                </a:solidFill>
                <a:latin typeface="Calibri" pitchFamily="34" charset="0"/>
                <a:ea typeface="Calibri" pitchFamily="34" charset="-122"/>
                <a:cs typeface="Calibri" pitchFamily="34" charset="-120"/>
              </a:rPr>
              <a:t>AMD Ryzen 5 7600 6-Core Processor</a:t>
            </a:r>
            <a:endParaRPr lang="en-US" sz="1300" dirty="0"/>
          </a:p>
          <a:p>
            <a:pPr indent="0" marL="0">
              <a:buNone/>
            </a:pPr>
            <a:r>
              <a:rPr lang="en-US" sz="1300" dirty="0">
                <a:solidFill>
                  <a:srgbClr val="595959"/>
                </a:solidFill>
                <a:latin typeface="Calibri" pitchFamily="34" charset="0"/>
                <a:ea typeface="Calibri" pitchFamily="34" charset="-122"/>
                <a:cs typeface="Calibri" pitchFamily="34" charset="-120"/>
              </a:rPr>
              <a:t>12 hardware threads</a:t>
            </a:r>
            <a:endParaRPr lang="en-US" sz="1300" dirty="0"/>
          </a:p>
        </p:txBody>
      </p:sp>
      <p:sp>
        <p:nvSpPr>
          <p:cNvPr id="22" name="gpu-panel"/>
          <p:cNvSpPr/>
          <p:nvPr/>
        </p:nvSpPr>
        <p:spPr>
          <a:xfrm>
            <a:off x="6035040" y="1371600"/>
            <a:ext cx="5577840" cy="3566160"/>
          </a:xfrm>
          <a:prstGeom prst="roundRect">
            <a:avLst>
              <a:gd name="adj" fmla="val 2051"/>
            </a:avLst>
          </a:prstGeom>
          <a:solidFill>
            <a:schemeClr val="bg1"/>
          </a:solidFill>
          <a:ln w="9525">
            <a:solidFill>
              <a:srgbClr val="D9D9D9"/>
            </a:solidFill>
            <a:prstDash val="solid"/>
          </a:ln>
          <a:effectLst>
            <a:outerShdw sx="100000" sy="100000" kx="0" ky="0" algn="bl" rotWithShape="0" blurRad="76200" dist="19050" dir="5400000">
              <a:srgbClr val="000000">
                <a:alpha val="12000"/>
              </a:srgbClr>
            </a:outerShdw>
          </a:effectLst>
        </p:spPr>
      </p:sp>
      <p:sp>
        <p:nvSpPr>
          <p:cNvPr id="23" name="Text 21"/>
          <p:cNvSpPr txBox="1"/>
          <p:nvPr/>
        </p:nvSpPr>
        <p:spPr>
          <a:xfrm>
            <a:off x="6263640" y="1508760"/>
            <a:ext cx="5120640" cy="365760"/>
          </a:xfrm>
          <a:prstGeom prst="rect">
            <a:avLst/>
          </a:prstGeom>
          <a:noFill/>
          <a:ln/>
        </p:spPr>
        <p:txBody>
          <a:bodyPr wrap="square" lIns="0" tIns="0" rIns="0" bIns="0" rtlCol="0" anchor="t"/>
          <a:lstStyle/>
          <a:p>
            <a:pPr indent="0" marL="0">
              <a:buNone/>
            </a:pPr>
            <a:r>
              <a:rPr lang="en-US" sz="1700" b="1" dirty="0">
                <a:solidFill>
                  <a:schemeClr val="accent1"/>
                </a:solidFill>
                <a:latin typeface="Calibri" pitchFamily="34" charset="0"/>
                <a:ea typeface="Calibri" pitchFamily="34" charset="-122"/>
                <a:cs typeface="Calibri" pitchFamily="34" charset="-120"/>
              </a:rPr>
              <a:t>GPU  ·  throughput-optimised</a:t>
            </a:r>
            <a:endParaRPr lang="en-US" sz="1700" dirty="0"/>
          </a:p>
        </p:txBody>
      </p:sp>
      <p:sp>
        <p:nvSpPr>
          <p:cNvPr id="24" name="gpu-core-0-0"/>
          <p:cNvSpPr/>
          <p:nvPr/>
        </p:nvSpPr>
        <p:spPr>
          <a:xfrm>
            <a:off x="6263640" y="1965960"/>
            <a:ext cx="228600" cy="210312"/>
          </a:xfrm>
          <a:prstGeom prst="rect">
            <a:avLst/>
          </a:prstGeom>
          <a:solidFill>
            <a:srgbClr val="A6A6A6"/>
          </a:solidFill>
          <a:ln/>
        </p:spPr>
      </p:sp>
      <p:sp>
        <p:nvSpPr>
          <p:cNvPr id="25" name="gpu-core-0-1"/>
          <p:cNvSpPr/>
          <p:nvPr/>
        </p:nvSpPr>
        <p:spPr>
          <a:xfrm>
            <a:off x="6547104" y="1965960"/>
            <a:ext cx="228600" cy="210312"/>
          </a:xfrm>
          <a:prstGeom prst="rect">
            <a:avLst/>
          </a:prstGeom>
          <a:solidFill>
            <a:srgbClr val="A6A6A6"/>
          </a:solidFill>
          <a:ln/>
        </p:spPr>
      </p:sp>
      <p:sp>
        <p:nvSpPr>
          <p:cNvPr id="26" name="gpu-core-0-2"/>
          <p:cNvSpPr/>
          <p:nvPr/>
        </p:nvSpPr>
        <p:spPr>
          <a:xfrm>
            <a:off x="6830568" y="1965960"/>
            <a:ext cx="228600" cy="210312"/>
          </a:xfrm>
          <a:prstGeom prst="rect">
            <a:avLst/>
          </a:prstGeom>
          <a:solidFill>
            <a:srgbClr val="A6A6A6"/>
          </a:solidFill>
          <a:ln/>
        </p:spPr>
      </p:sp>
      <p:sp>
        <p:nvSpPr>
          <p:cNvPr id="27" name="gpu-core-0-3"/>
          <p:cNvSpPr/>
          <p:nvPr/>
        </p:nvSpPr>
        <p:spPr>
          <a:xfrm>
            <a:off x="7114032" y="1965960"/>
            <a:ext cx="228600" cy="210312"/>
          </a:xfrm>
          <a:prstGeom prst="rect">
            <a:avLst/>
          </a:prstGeom>
          <a:solidFill>
            <a:srgbClr val="A6A6A6"/>
          </a:solidFill>
          <a:ln/>
        </p:spPr>
      </p:sp>
      <p:sp>
        <p:nvSpPr>
          <p:cNvPr id="28" name="gpu-core-0-4"/>
          <p:cNvSpPr/>
          <p:nvPr/>
        </p:nvSpPr>
        <p:spPr>
          <a:xfrm>
            <a:off x="7397496" y="1965960"/>
            <a:ext cx="228600" cy="210312"/>
          </a:xfrm>
          <a:prstGeom prst="rect">
            <a:avLst/>
          </a:prstGeom>
          <a:solidFill>
            <a:schemeClr val="accent1"/>
          </a:solidFill>
          <a:ln/>
        </p:spPr>
      </p:sp>
      <p:sp>
        <p:nvSpPr>
          <p:cNvPr id="29" name="gpu-core-0-5"/>
          <p:cNvSpPr/>
          <p:nvPr/>
        </p:nvSpPr>
        <p:spPr>
          <a:xfrm>
            <a:off x="7680960" y="1965960"/>
            <a:ext cx="228600" cy="210312"/>
          </a:xfrm>
          <a:prstGeom prst="rect">
            <a:avLst/>
          </a:prstGeom>
          <a:solidFill>
            <a:schemeClr val="accent1"/>
          </a:solidFill>
          <a:ln/>
        </p:spPr>
      </p:sp>
      <p:sp>
        <p:nvSpPr>
          <p:cNvPr id="30" name="gpu-core-0-6"/>
          <p:cNvSpPr/>
          <p:nvPr/>
        </p:nvSpPr>
        <p:spPr>
          <a:xfrm>
            <a:off x="7964424" y="1965960"/>
            <a:ext cx="228600" cy="210312"/>
          </a:xfrm>
          <a:prstGeom prst="rect">
            <a:avLst/>
          </a:prstGeom>
          <a:solidFill>
            <a:schemeClr val="accent1"/>
          </a:solidFill>
          <a:ln/>
        </p:spPr>
      </p:sp>
      <p:sp>
        <p:nvSpPr>
          <p:cNvPr id="31" name="gpu-core-0-7"/>
          <p:cNvSpPr/>
          <p:nvPr/>
        </p:nvSpPr>
        <p:spPr>
          <a:xfrm>
            <a:off x="8247888" y="1965960"/>
            <a:ext cx="228600" cy="210312"/>
          </a:xfrm>
          <a:prstGeom prst="rect">
            <a:avLst/>
          </a:prstGeom>
          <a:solidFill>
            <a:schemeClr val="accent1"/>
          </a:solidFill>
          <a:ln/>
        </p:spPr>
      </p:sp>
      <p:sp>
        <p:nvSpPr>
          <p:cNvPr id="32" name="gpu-core-0-8"/>
          <p:cNvSpPr/>
          <p:nvPr/>
        </p:nvSpPr>
        <p:spPr>
          <a:xfrm>
            <a:off x="8531352" y="1965960"/>
            <a:ext cx="228600" cy="210312"/>
          </a:xfrm>
          <a:prstGeom prst="rect">
            <a:avLst/>
          </a:prstGeom>
          <a:solidFill>
            <a:schemeClr val="accent1"/>
          </a:solidFill>
          <a:ln/>
        </p:spPr>
      </p:sp>
      <p:sp>
        <p:nvSpPr>
          <p:cNvPr id="33" name="gpu-core-0-9"/>
          <p:cNvSpPr/>
          <p:nvPr/>
        </p:nvSpPr>
        <p:spPr>
          <a:xfrm>
            <a:off x="8814816" y="1965960"/>
            <a:ext cx="228600" cy="210312"/>
          </a:xfrm>
          <a:prstGeom prst="rect">
            <a:avLst/>
          </a:prstGeom>
          <a:solidFill>
            <a:schemeClr val="accent1"/>
          </a:solidFill>
          <a:ln/>
        </p:spPr>
      </p:sp>
      <p:sp>
        <p:nvSpPr>
          <p:cNvPr id="34" name="gpu-core-0-10"/>
          <p:cNvSpPr/>
          <p:nvPr/>
        </p:nvSpPr>
        <p:spPr>
          <a:xfrm>
            <a:off x="9098280" y="1965960"/>
            <a:ext cx="228600" cy="210312"/>
          </a:xfrm>
          <a:prstGeom prst="rect">
            <a:avLst/>
          </a:prstGeom>
          <a:solidFill>
            <a:schemeClr val="accent1"/>
          </a:solidFill>
          <a:ln/>
        </p:spPr>
      </p:sp>
      <p:sp>
        <p:nvSpPr>
          <p:cNvPr id="35" name="gpu-core-0-11"/>
          <p:cNvSpPr/>
          <p:nvPr/>
        </p:nvSpPr>
        <p:spPr>
          <a:xfrm>
            <a:off x="9381744" y="1965960"/>
            <a:ext cx="228600" cy="210312"/>
          </a:xfrm>
          <a:prstGeom prst="rect">
            <a:avLst/>
          </a:prstGeom>
          <a:solidFill>
            <a:schemeClr val="accent1"/>
          </a:solidFill>
          <a:ln/>
        </p:spPr>
      </p:sp>
      <p:sp>
        <p:nvSpPr>
          <p:cNvPr id="36" name="gpu-core-0-12"/>
          <p:cNvSpPr/>
          <p:nvPr/>
        </p:nvSpPr>
        <p:spPr>
          <a:xfrm>
            <a:off x="9665208" y="1965960"/>
            <a:ext cx="228600" cy="210312"/>
          </a:xfrm>
          <a:prstGeom prst="rect">
            <a:avLst/>
          </a:prstGeom>
          <a:solidFill>
            <a:schemeClr val="accent1"/>
          </a:solidFill>
          <a:ln/>
        </p:spPr>
      </p:sp>
      <p:sp>
        <p:nvSpPr>
          <p:cNvPr id="37" name="gpu-core-0-13"/>
          <p:cNvSpPr/>
          <p:nvPr/>
        </p:nvSpPr>
        <p:spPr>
          <a:xfrm>
            <a:off x="9948672" y="1965960"/>
            <a:ext cx="228600" cy="210312"/>
          </a:xfrm>
          <a:prstGeom prst="rect">
            <a:avLst/>
          </a:prstGeom>
          <a:solidFill>
            <a:schemeClr val="accent1"/>
          </a:solidFill>
          <a:ln/>
        </p:spPr>
      </p:sp>
      <p:sp>
        <p:nvSpPr>
          <p:cNvPr id="38" name="gpu-core-0-14"/>
          <p:cNvSpPr/>
          <p:nvPr/>
        </p:nvSpPr>
        <p:spPr>
          <a:xfrm>
            <a:off x="10232136" y="1965960"/>
            <a:ext cx="228600" cy="210312"/>
          </a:xfrm>
          <a:prstGeom prst="rect">
            <a:avLst/>
          </a:prstGeom>
          <a:solidFill>
            <a:schemeClr val="accent1"/>
          </a:solidFill>
          <a:ln/>
        </p:spPr>
      </p:sp>
      <p:sp>
        <p:nvSpPr>
          <p:cNvPr id="39" name="gpu-core-0-15"/>
          <p:cNvSpPr/>
          <p:nvPr/>
        </p:nvSpPr>
        <p:spPr>
          <a:xfrm>
            <a:off x="10515600" y="1965960"/>
            <a:ext cx="228600" cy="210312"/>
          </a:xfrm>
          <a:prstGeom prst="rect">
            <a:avLst/>
          </a:prstGeom>
          <a:solidFill>
            <a:schemeClr val="accent1"/>
          </a:solidFill>
          <a:ln/>
        </p:spPr>
      </p:sp>
      <p:sp>
        <p:nvSpPr>
          <p:cNvPr id="40" name="gpu-core-0-16"/>
          <p:cNvSpPr/>
          <p:nvPr/>
        </p:nvSpPr>
        <p:spPr>
          <a:xfrm>
            <a:off x="10799064" y="1965960"/>
            <a:ext cx="228600" cy="210312"/>
          </a:xfrm>
          <a:prstGeom prst="rect">
            <a:avLst/>
          </a:prstGeom>
          <a:solidFill>
            <a:schemeClr val="accent1"/>
          </a:solidFill>
          <a:ln/>
        </p:spPr>
      </p:sp>
      <p:sp>
        <p:nvSpPr>
          <p:cNvPr id="41" name="gpu-core-0-17"/>
          <p:cNvSpPr/>
          <p:nvPr/>
        </p:nvSpPr>
        <p:spPr>
          <a:xfrm>
            <a:off x="11082528" y="1965960"/>
            <a:ext cx="228600" cy="210312"/>
          </a:xfrm>
          <a:prstGeom prst="rect">
            <a:avLst/>
          </a:prstGeom>
          <a:solidFill>
            <a:schemeClr val="accent1"/>
          </a:solidFill>
          <a:ln/>
        </p:spPr>
      </p:sp>
      <p:sp>
        <p:nvSpPr>
          <p:cNvPr id="42" name="gpu-core-1-0"/>
          <p:cNvSpPr/>
          <p:nvPr/>
        </p:nvSpPr>
        <p:spPr>
          <a:xfrm>
            <a:off x="6263640" y="2231136"/>
            <a:ext cx="228600" cy="210312"/>
          </a:xfrm>
          <a:prstGeom prst="rect">
            <a:avLst/>
          </a:prstGeom>
          <a:solidFill>
            <a:schemeClr val="accent1"/>
          </a:solidFill>
          <a:ln/>
        </p:spPr>
      </p:sp>
      <p:sp>
        <p:nvSpPr>
          <p:cNvPr id="43" name="gpu-core-1-1"/>
          <p:cNvSpPr/>
          <p:nvPr/>
        </p:nvSpPr>
        <p:spPr>
          <a:xfrm>
            <a:off x="6547104" y="2231136"/>
            <a:ext cx="228600" cy="210312"/>
          </a:xfrm>
          <a:prstGeom prst="rect">
            <a:avLst/>
          </a:prstGeom>
          <a:solidFill>
            <a:schemeClr val="accent1"/>
          </a:solidFill>
          <a:ln/>
        </p:spPr>
      </p:sp>
      <p:sp>
        <p:nvSpPr>
          <p:cNvPr id="44" name="gpu-core-1-2"/>
          <p:cNvSpPr/>
          <p:nvPr/>
        </p:nvSpPr>
        <p:spPr>
          <a:xfrm>
            <a:off x="6830568" y="2231136"/>
            <a:ext cx="228600" cy="210312"/>
          </a:xfrm>
          <a:prstGeom prst="rect">
            <a:avLst/>
          </a:prstGeom>
          <a:solidFill>
            <a:schemeClr val="accent1"/>
          </a:solidFill>
          <a:ln/>
        </p:spPr>
      </p:sp>
      <p:sp>
        <p:nvSpPr>
          <p:cNvPr id="45" name="gpu-core-1-3"/>
          <p:cNvSpPr/>
          <p:nvPr/>
        </p:nvSpPr>
        <p:spPr>
          <a:xfrm>
            <a:off x="7114032" y="2231136"/>
            <a:ext cx="228600" cy="210312"/>
          </a:xfrm>
          <a:prstGeom prst="rect">
            <a:avLst/>
          </a:prstGeom>
          <a:solidFill>
            <a:schemeClr val="accent1"/>
          </a:solidFill>
          <a:ln/>
        </p:spPr>
      </p:sp>
      <p:sp>
        <p:nvSpPr>
          <p:cNvPr id="46" name="gpu-core-1-4"/>
          <p:cNvSpPr/>
          <p:nvPr/>
        </p:nvSpPr>
        <p:spPr>
          <a:xfrm>
            <a:off x="7397496" y="2231136"/>
            <a:ext cx="228600" cy="210312"/>
          </a:xfrm>
          <a:prstGeom prst="rect">
            <a:avLst/>
          </a:prstGeom>
          <a:solidFill>
            <a:schemeClr val="accent1"/>
          </a:solidFill>
          <a:ln/>
        </p:spPr>
      </p:sp>
      <p:sp>
        <p:nvSpPr>
          <p:cNvPr id="47" name="gpu-core-1-5"/>
          <p:cNvSpPr/>
          <p:nvPr/>
        </p:nvSpPr>
        <p:spPr>
          <a:xfrm>
            <a:off x="7680960" y="2231136"/>
            <a:ext cx="228600" cy="210312"/>
          </a:xfrm>
          <a:prstGeom prst="rect">
            <a:avLst/>
          </a:prstGeom>
          <a:solidFill>
            <a:schemeClr val="accent1"/>
          </a:solidFill>
          <a:ln/>
        </p:spPr>
      </p:sp>
      <p:sp>
        <p:nvSpPr>
          <p:cNvPr id="48" name="gpu-core-1-6"/>
          <p:cNvSpPr/>
          <p:nvPr/>
        </p:nvSpPr>
        <p:spPr>
          <a:xfrm>
            <a:off x="7964424" y="2231136"/>
            <a:ext cx="228600" cy="210312"/>
          </a:xfrm>
          <a:prstGeom prst="rect">
            <a:avLst/>
          </a:prstGeom>
          <a:solidFill>
            <a:schemeClr val="accent1"/>
          </a:solidFill>
          <a:ln/>
        </p:spPr>
      </p:sp>
      <p:sp>
        <p:nvSpPr>
          <p:cNvPr id="49" name="gpu-core-1-7"/>
          <p:cNvSpPr/>
          <p:nvPr/>
        </p:nvSpPr>
        <p:spPr>
          <a:xfrm>
            <a:off x="8247888" y="2231136"/>
            <a:ext cx="228600" cy="210312"/>
          </a:xfrm>
          <a:prstGeom prst="rect">
            <a:avLst/>
          </a:prstGeom>
          <a:solidFill>
            <a:schemeClr val="accent1"/>
          </a:solidFill>
          <a:ln/>
        </p:spPr>
      </p:sp>
      <p:sp>
        <p:nvSpPr>
          <p:cNvPr id="50" name="gpu-core-1-8"/>
          <p:cNvSpPr/>
          <p:nvPr/>
        </p:nvSpPr>
        <p:spPr>
          <a:xfrm>
            <a:off x="8531352" y="2231136"/>
            <a:ext cx="228600" cy="210312"/>
          </a:xfrm>
          <a:prstGeom prst="rect">
            <a:avLst/>
          </a:prstGeom>
          <a:solidFill>
            <a:schemeClr val="accent1"/>
          </a:solidFill>
          <a:ln/>
        </p:spPr>
      </p:sp>
      <p:sp>
        <p:nvSpPr>
          <p:cNvPr id="51" name="gpu-core-1-9"/>
          <p:cNvSpPr/>
          <p:nvPr/>
        </p:nvSpPr>
        <p:spPr>
          <a:xfrm>
            <a:off x="8814816" y="2231136"/>
            <a:ext cx="228600" cy="210312"/>
          </a:xfrm>
          <a:prstGeom prst="rect">
            <a:avLst/>
          </a:prstGeom>
          <a:solidFill>
            <a:schemeClr val="accent1"/>
          </a:solidFill>
          <a:ln/>
        </p:spPr>
      </p:sp>
      <p:sp>
        <p:nvSpPr>
          <p:cNvPr id="52" name="gpu-core-1-10"/>
          <p:cNvSpPr/>
          <p:nvPr/>
        </p:nvSpPr>
        <p:spPr>
          <a:xfrm>
            <a:off x="9098280" y="2231136"/>
            <a:ext cx="228600" cy="210312"/>
          </a:xfrm>
          <a:prstGeom prst="rect">
            <a:avLst/>
          </a:prstGeom>
          <a:solidFill>
            <a:schemeClr val="accent1"/>
          </a:solidFill>
          <a:ln/>
        </p:spPr>
      </p:sp>
      <p:sp>
        <p:nvSpPr>
          <p:cNvPr id="53" name="gpu-core-1-11"/>
          <p:cNvSpPr/>
          <p:nvPr/>
        </p:nvSpPr>
        <p:spPr>
          <a:xfrm>
            <a:off x="9381744" y="2231136"/>
            <a:ext cx="228600" cy="210312"/>
          </a:xfrm>
          <a:prstGeom prst="rect">
            <a:avLst/>
          </a:prstGeom>
          <a:solidFill>
            <a:schemeClr val="accent1"/>
          </a:solidFill>
          <a:ln/>
        </p:spPr>
      </p:sp>
      <p:sp>
        <p:nvSpPr>
          <p:cNvPr id="54" name="gpu-core-1-12"/>
          <p:cNvSpPr/>
          <p:nvPr/>
        </p:nvSpPr>
        <p:spPr>
          <a:xfrm>
            <a:off x="9665208" y="2231136"/>
            <a:ext cx="228600" cy="210312"/>
          </a:xfrm>
          <a:prstGeom prst="rect">
            <a:avLst/>
          </a:prstGeom>
          <a:solidFill>
            <a:schemeClr val="accent1"/>
          </a:solidFill>
          <a:ln/>
        </p:spPr>
      </p:sp>
      <p:sp>
        <p:nvSpPr>
          <p:cNvPr id="55" name="gpu-core-1-13"/>
          <p:cNvSpPr/>
          <p:nvPr/>
        </p:nvSpPr>
        <p:spPr>
          <a:xfrm>
            <a:off x="9948672" y="2231136"/>
            <a:ext cx="228600" cy="210312"/>
          </a:xfrm>
          <a:prstGeom prst="rect">
            <a:avLst/>
          </a:prstGeom>
          <a:solidFill>
            <a:schemeClr val="accent1"/>
          </a:solidFill>
          <a:ln/>
        </p:spPr>
      </p:sp>
      <p:sp>
        <p:nvSpPr>
          <p:cNvPr id="56" name="gpu-core-1-14"/>
          <p:cNvSpPr/>
          <p:nvPr/>
        </p:nvSpPr>
        <p:spPr>
          <a:xfrm>
            <a:off x="10232136" y="2231136"/>
            <a:ext cx="228600" cy="210312"/>
          </a:xfrm>
          <a:prstGeom prst="rect">
            <a:avLst/>
          </a:prstGeom>
          <a:solidFill>
            <a:schemeClr val="accent1"/>
          </a:solidFill>
          <a:ln/>
        </p:spPr>
      </p:sp>
      <p:sp>
        <p:nvSpPr>
          <p:cNvPr id="57" name="gpu-core-1-15"/>
          <p:cNvSpPr/>
          <p:nvPr/>
        </p:nvSpPr>
        <p:spPr>
          <a:xfrm>
            <a:off x="10515600" y="2231136"/>
            <a:ext cx="228600" cy="210312"/>
          </a:xfrm>
          <a:prstGeom prst="rect">
            <a:avLst/>
          </a:prstGeom>
          <a:solidFill>
            <a:schemeClr val="accent1"/>
          </a:solidFill>
          <a:ln/>
        </p:spPr>
      </p:sp>
      <p:sp>
        <p:nvSpPr>
          <p:cNvPr id="58" name="gpu-core-1-16"/>
          <p:cNvSpPr/>
          <p:nvPr/>
        </p:nvSpPr>
        <p:spPr>
          <a:xfrm>
            <a:off x="10799064" y="2231136"/>
            <a:ext cx="228600" cy="210312"/>
          </a:xfrm>
          <a:prstGeom prst="rect">
            <a:avLst/>
          </a:prstGeom>
          <a:solidFill>
            <a:schemeClr val="accent1"/>
          </a:solidFill>
          <a:ln/>
        </p:spPr>
      </p:sp>
      <p:sp>
        <p:nvSpPr>
          <p:cNvPr id="59" name="gpu-core-1-17"/>
          <p:cNvSpPr/>
          <p:nvPr/>
        </p:nvSpPr>
        <p:spPr>
          <a:xfrm>
            <a:off x="11082528" y="2231136"/>
            <a:ext cx="228600" cy="210312"/>
          </a:xfrm>
          <a:prstGeom prst="rect">
            <a:avLst/>
          </a:prstGeom>
          <a:solidFill>
            <a:schemeClr val="accent1"/>
          </a:solidFill>
          <a:ln/>
        </p:spPr>
      </p:sp>
      <p:sp>
        <p:nvSpPr>
          <p:cNvPr id="60" name="gpu-core-2-0"/>
          <p:cNvSpPr/>
          <p:nvPr/>
        </p:nvSpPr>
        <p:spPr>
          <a:xfrm>
            <a:off x="6263640" y="2496312"/>
            <a:ext cx="228600" cy="210312"/>
          </a:xfrm>
          <a:prstGeom prst="rect">
            <a:avLst/>
          </a:prstGeom>
          <a:solidFill>
            <a:schemeClr val="accent1"/>
          </a:solidFill>
          <a:ln/>
        </p:spPr>
      </p:sp>
      <p:sp>
        <p:nvSpPr>
          <p:cNvPr id="61" name="gpu-core-2-1"/>
          <p:cNvSpPr/>
          <p:nvPr/>
        </p:nvSpPr>
        <p:spPr>
          <a:xfrm>
            <a:off x="6547104" y="2496312"/>
            <a:ext cx="228600" cy="210312"/>
          </a:xfrm>
          <a:prstGeom prst="rect">
            <a:avLst/>
          </a:prstGeom>
          <a:solidFill>
            <a:schemeClr val="accent1"/>
          </a:solidFill>
          <a:ln/>
        </p:spPr>
      </p:sp>
      <p:sp>
        <p:nvSpPr>
          <p:cNvPr id="62" name="gpu-core-2-2"/>
          <p:cNvSpPr/>
          <p:nvPr/>
        </p:nvSpPr>
        <p:spPr>
          <a:xfrm>
            <a:off x="6830568" y="2496312"/>
            <a:ext cx="228600" cy="210312"/>
          </a:xfrm>
          <a:prstGeom prst="rect">
            <a:avLst/>
          </a:prstGeom>
          <a:solidFill>
            <a:schemeClr val="accent1"/>
          </a:solidFill>
          <a:ln/>
        </p:spPr>
      </p:sp>
      <p:sp>
        <p:nvSpPr>
          <p:cNvPr id="63" name="gpu-core-2-3"/>
          <p:cNvSpPr/>
          <p:nvPr/>
        </p:nvSpPr>
        <p:spPr>
          <a:xfrm>
            <a:off x="7114032" y="2496312"/>
            <a:ext cx="228600" cy="210312"/>
          </a:xfrm>
          <a:prstGeom prst="rect">
            <a:avLst/>
          </a:prstGeom>
          <a:solidFill>
            <a:schemeClr val="accent1"/>
          </a:solidFill>
          <a:ln/>
        </p:spPr>
      </p:sp>
      <p:sp>
        <p:nvSpPr>
          <p:cNvPr id="64" name="gpu-core-2-4"/>
          <p:cNvSpPr/>
          <p:nvPr/>
        </p:nvSpPr>
        <p:spPr>
          <a:xfrm>
            <a:off x="7397496" y="2496312"/>
            <a:ext cx="228600" cy="210312"/>
          </a:xfrm>
          <a:prstGeom prst="rect">
            <a:avLst/>
          </a:prstGeom>
          <a:solidFill>
            <a:schemeClr val="accent1"/>
          </a:solidFill>
          <a:ln/>
        </p:spPr>
      </p:sp>
      <p:sp>
        <p:nvSpPr>
          <p:cNvPr id="65" name="gpu-core-2-5"/>
          <p:cNvSpPr/>
          <p:nvPr/>
        </p:nvSpPr>
        <p:spPr>
          <a:xfrm>
            <a:off x="7680960" y="2496312"/>
            <a:ext cx="228600" cy="210312"/>
          </a:xfrm>
          <a:prstGeom prst="rect">
            <a:avLst/>
          </a:prstGeom>
          <a:solidFill>
            <a:schemeClr val="accent1"/>
          </a:solidFill>
          <a:ln/>
        </p:spPr>
      </p:sp>
      <p:sp>
        <p:nvSpPr>
          <p:cNvPr id="66" name="gpu-core-2-6"/>
          <p:cNvSpPr/>
          <p:nvPr/>
        </p:nvSpPr>
        <p:spPr>
          <a:xfrm>
            <a:off x="7964424" y="2496312"/>
            <a:ext cx="228600" cy="210312"/>
          </a:xfrm>
          <a:prstGeom prst="rect">
            <a:avLst/>
          </a:prstGeom>
          <a:solidFill>
            <a:schemeClr val="accent1"/>
          </a:solidFill>
          <a:ln/>
        </p:spPr>
      </p:sp>
      <p:sp>
        <p:nvSpPr>
          <p:cNvPr id="67" name="gpu-core-2-7"/>
          <p:cNvSpPr/>
          <p:nvPr/>
        </p:nvSpPr>
        <p:spPr>
          <a:xfrm>
            <a:off x="8247888" y="2496312"/>
            <a:ext cx="228600" cy="210312"/>
          </a:xfrm>
          <a:prstGeom prst="rect">
            <a:avLst/>
          </a:prstGeom>
          <a:solidFill>
            <a:schemeClr val="accent1"/>
          </a:solidFill>
          <a:ln/>
        </p:spPr>
      </p:sp>
      <p:sp>
        <p:nvSpPr>
          <p:cNvPr id="68" name="gpu-core-2-8"/>
          <p:cNvSpPr/>
          <p:nvPr/>
        </p:nvSpPr>
        <p:spPr>
          <a:xfrm>
            <a:off x="8531352" y="2496312"/>
            <a:ext cx="228600" cy="210312"/>
          </a:xfrm>
          <a:prstGeom prst="rect">
            <a:avLst/>
          </a:prstGeom>
          <a:solidFill>
            <a:schemeClr val="accent1"/>
          </a:solidFill>
          <a:ln/>
        </p:spPr>
      </p:sp>
      <p:sp>
        <p:nvSpPr>
          <p:cNvPr id="69" name="gpu-core-2-9"/>
          <p:cNvSpPr/>
          <p:nvPr/>
        </p:nvSpPr>
        <p:spPr>
          <a:xfrm>
            <a:off x="8814816" y="2496312"/>
            <a:ext cx="228600" cy="210312"/>
          </a:xfrm>
          <a:prstGeom prst="rect">
            <a:avLst/>
          </a:prstGeom>
          <a:solidFill>
            <a:schemeClr val="accent1"/>
          </a:solidFill>
          <a:ln/>
        </p:spPr>
      </p:sp>
      <p:sp>
        <p:nvSpPr>
          <p:cNvPr id="70" name="gpu-core-2-10"/>
          <p:cNvSpPr/>
          <p:nvPr/>
        </p:nvSpPr>
        <p:spPr>
          <a:xfrm>
            <a:off x="9098280" y="2496312"/>
            <a:ext cx="228600" cy="210312"/>
          </a:xfrm>
          <a:prstGeom prst="rect">
            <a:avLst/>
          </a:prstGeom>
          <a:solidFill>
            <a:schemeClr val="accent1"/>
          </a:solidFill>
          <a:ln/>
        </p:spPr>
      </p:sp>
      <p:sp>
        <p:nvSpPr>
          <p:cNvPr id="71" name="gpu-core-2-11"/>
          <p:cNvSpPr/>
          <p:nvPr/>
        </p:nvSpPr>
        <p:spPr>
          <a:xfrm>
            <a:off x="9381744" y="2496312"/>
            <a:ext cx="228600" cy="210312"/>
          </a:xfrm>
          <a:prstGeom prst="rect">
            <a:avLst/>
          </a:prstGeom>
          <a:solidFill>
            <a:schemeClr val="accent1"/>
          </a:solidFill>
          <a:ln/>
        </p:spPr>
      </p:sp>
      <p:sp>
        <p:nvSpPr>
          <p:cNvPr id="72" name="gpu-core-2-12"/>
          <p:cNvSpPr/>
          <p:nvPr/>
        </p:nvSpPr>
        <p:spPr>
          <a:xfrm>
            <a:off x="9665208" y="2496312"/>
            <a:ext cx="228600" cy="210312"/>
          </a:xfrm>
          <a:prstGeom prst="rect">
            <a:avLst/>
          </a:prstGeom>
          <a:solidFill>
            <a:schemeClr val="accent1"/>
          </a:solidFill>
          <a:ln/>
        </p:spPr>
      </p:sp>
      <p:sp>
        <p:nvSpPr>
          <p:cNvPr id="73" name="gpu-core-2-13"/>
          <p:cNvSpPr/>
          <p:nvPr/>
        </p:nvSpPr>
        <p:spPr>
          <a:xfrm>
            <a:off x="9948672" y="2496312"/>
            <a:ext cx="228600" cy="210312"/>
          </a:xfrm>
          <a:prstGeom prst="rect">
            <a:avLst/>
          </a:prstGeom>
          <a:solidFill>
            <a:schemeClr val="accent1"/>
          </a:solidFill>
          <a:ln/>
        </p:spPr>
      </p:sp>
      <p:sp>
        <p:nvSpPr>
          <p:cNvPr id="74" name="gpu-core-2-14"/>
          <p:cNvSpPr/>
          <p:nvPr/>
        </p:nvSpPr>
        <p:spPr>
          <a:xfrm>
            <a:off x="10232136" y="2496312"/>
            <a:ext cx="228600" cy="210312"/>
          </a:xfrm>
          <a:prstGeom prst="rect">
            <a:avLst/>
          </a:prstGeom>
          <a:solidFill>
            <a:schemeClr val="accent1"/>
          </a:solidFill>
          <a:ln/>
        </p:spPr>
      </p:sp>
      <p:sp>
        <p:nvSpPr>
          <p:cNvPr id="75" name="gpu-core-2-15"/>
          <p:cNvSpPr/>
          <p:nvPr/>
        </p:nvSpPr>
        <p:spPr>
          <a:xfrm>
            <a:off x="10515600" y="2496312"/>
            <a:ext cx="228600" cy="210312"/>
          </a:xfrm>
          <a:prstGeom prst="rect">
            <a:avLst/>
          </a:prstGeom>
          <a:solidFill>
            <a:schemeClr val="accent1"/>
          </a:solidFill>
          <a:ln/>
        </p:spPr>
      </p:sp>
      <p:sp>
        <p:nvSpPr>
          <p:cNvPr id="76" name="gpu-core-2-16"/>
          <p:cNvSpPr/>
          <p:nvPr/>
        </p:nvSpPr>
        <p:spPr>
          <a:xfrm>
            <a:off x="10799064" y="2496312"/>
            <a:ext cx="228600" cy="210312"/>
          </a:xfrm>
          <a:prstGeom prst="rect">
            <a:avLst/>
          </a:prstGeom>
          <a:solidFill>
            <a:schemeClr val="accent1"/>
          </a:solidFill>
          <a:ln/>
        </p:spPr>
      </p:sp>
      <p:sp>
        <p:nvSpPr>
          <p:cNvPr id="77" name="gpu-core-2-17"/>
          <p:cNvSpPr/>
          <p:nvPr/>
        </p:nvSpPr>
        <p:spPr>
          <a:xfrm>
            <a:off x="11082528" y="2496312"/>
            <a:ext cx="228600" cy="210312"/>
          </a:xfrm>
          <a:prstGeom prst="rect">
            <a:avLst/>
          </a:prstGeom>
          <a:solidFill>
            <a:schemeClr val="accent1"/>
          </a:solidFill>
          <a:ln/>
        </p:spPr>
      </p:sp>
      <p:sp>
        <p:nvSpPr>
          <p:cNvPr id="78" name="gpu-core-3-0"/>
          <p:cNvSpPr/>
          <p:nvPr/>
        </p:nvSpPr>
        <p:spPr>
          <a:xfrm>
            <a:off x="6263640" y="2761488"/>
            <a:ext cx="228600" cy="210312"/>
          </a:xfrm>
          <a:prstGeom prst="rect">
            <a:avLst/>
          </a:prstGeom>
          <a:solidFill>
            <a:schemeClr val="accent1"/>
          </a:solidFill>
          <a:ln/>
        </p:spPr>
      </p:sp>
      <p:sp>
        <p:nvSpPr>
          <p:cNvPr id="79" name="gpu-core-3-1"/>
          <p:cNvSpPr/>
          <p:nvPr/>
        </p:nvSpPr>
        <p:spPr>
          <a:xfrm>
            <a:off x="6547104" y="2761488"/>
            <a:ext cx="228600" cy="210312"/>
          </a:xfrm>
          <a:prstGeom prst="rect">
            <a:avLst/>
          </a:prstGeom>
          <a:solidFill>
            <a:schemeClr val="accent1"/>
          </a:solidFill>
          <a:ln/>
        </p:spPr>
      </p:sp>
      <p:sp>
        <p:nvSpPr>
          <p:cNvPr id="80" name="gpu-core-3-2"/>
          <p:cNvSpPr/>
          <p:nvPr/>
        </p:nvSpPr>
        <p:spPr>
          <a:xfrm>
            <a:off x="6830568" y="2761488"/>
            <a:ext cx="228600" cy="210312"/>
          </a:xfrm>
          <a:prstGeom prst="rect">
            <a:avLst/>
          </a:prstGeom>
          <a:solidFill>
            <a:schemeClr val="accent1"/>
          </a:solidFill>
          <a:ln/>
        </p:spPr>
      </p:sp>
      <p:sp>
        <p:nvSpPr>
          <p:cNvPr id="81" name="gpu-core-3-3"/>
          <p:cNvSpPr/>
          <p:nvPr/>
        </p:nvSpPr>
        <p:spPr>
          <a:xfrm>
            <a:off x="7114032" y="2761488"/>
            <a:ext cx="228600" cy="210312"/>
          </a:xfrm>
          <a:prstGeom prst="rect">
            <a:avLst/>
          </a:prstGeom>
          <a:solidFill>
            <a:schemeClr val="accent1"/>
          </a:solidFill>
          <a:ln/>
        </p:spPr>
      </p:sp>
      <p:sp>
        <p:nvSpPr>
          <p:cNvPr id="82" name="gpu-core-3-4"/>
          <p:cNvSpPr/>
          <p:nvPr/>
        </p:nvSpPr>
        <p:spPr>
          <a:xfrm>
            <a:off x="7397496" y="2761488"/>
            <a:ext cx="228600" cy="210312"/>
          </a:xfrm>
          <a:prstGeom prst="rect">
            <a:avLst/>
          </a:prstGeom>
          <a:solidFill>
            <a:schemeClr val="accent1"/>
          </a:solidFill>
          <a:ln/>
        </p:spPr>
      </p:sp>
      <p:sp>
        <p:nvSpPr>
          <p:cNvPr id="83" name="gpu-core-3-5"/>
          <p:cNvSpPr/>
          <p:nvPr/>
        </p:nvSpPr>
        <p:spPr>
          <a:xfrm>
            <a:off x="7680960" y="2761488"/>
            <a:ext cx="228600" cy="210312"/>
          </a:xfrm>
          <a:prstGeom prst="rect">
            <a:avLst/>
          </a:prstGeom>
          <a:solidFill>
            <a:schemeClr val="accent1"/>
          </a:solidFill>
          <a:ln/>
        </p:spPr>
      </p:sp>
      <p:sp>
        <p:nvSpPr>
          <p:cNvPr id="84" name="gpu-core-3-6"/>
          <p:cNvSpPr/>
          <p:nvPr/>
        </p:nvSpPr>
        <p:spPr>
          <a:xfrm>
            <a:off x="7964424" y="2761488"/>
            <a:ext cx="228600" cy="210312"/>
          </a:xfrm>
          <a:prstGeom prst="rect">
            <a:avLst/>
          </a:prstGeom>
          <a:solidFill>
            <a:schemeClr val="accent1"/>
          </a:solidFill>
          <a:ln/>
        </p:spPr>
      </p:sp>
      <p:sp>
        <p:nvSpPr>
          <p:cNvPr id="85" name="gpu-core-3-7"/>
          <p:cNvSpPr/>
          <p:nvPr/>
        </p:nvSpPr>
        <p:spPr>
          <a:xfrm>
            <a:off x="8247888" y="2761488"/>
            <a:ext cx="228600" cy="210312"/>
          </a:xfrm>
          <a:prstGeom prst="rect">
            <a:avLst/>
          </a:prstGeom>
          <a:solidFill>
            <a:schemeClr val="accent1"/>
          </a:solidFill>
          <a:ln/>
        </p:spPr>
      </p:sp>
      <p:sp>
        <p:nvSpPr>
          <p:cNvPr id="86" name="gpu-core-3-8"/>
          <p:cNvSpPr/>
          <p:nvPr/>
        </p:nvSpPr>
        <p:spPr>
          <a:xfrm>
            <a:off x="8531352" y="2761488"/>
            <a:ext cx="228600" cy="210312"/>
          </a:xfrm>
          <a:prstGeom prst="rect">
            <a:avLst/>
          </a:prstGeom>
          <a:solidFill>
            <a:schemeClr val="accent1"/>
          </a:solidFill>
          <a:ln/>
        </p:spPr>
      </p:sp>
      <p:sp>
        <p:nvSpPr>
          <p:cNvPr id="87" name="gpu-core-3-9"/>
          <p:cNvSpPr/>
          <p:nvPr/>
        </p:nvSpPr>
        <p:spPr>
          <a:xfrm>
            <a:off x="8814816" y="2761488"/>
            <a:ext cx="228600" cy="210312"/>
          </a:xfrm>
          <a:prstGeom prst="rect">
            <a:avLst/>
          </a:prstGeom>
          <a:solidFill>
            <a:schemeClr val="accent1"/>
          </a:solidFill>
          <a:ln/>
        </p:spPr>
      </p:sp>
      <p:sp>
        <p:nvSpPr>
          <p:cNvPr id="88" name="gpu-core-3-10"/>
          <p:cNvSpPr/>
          <p:nvPr/>
        </p:nvSpPr>
        <p:spPr>
          <a:xfrm>
            <a:off x="9098280" y="2761488"/>
            <a:ext cx="228600" cy="210312"/>
          </a:xfrm>
          <a:prstGeom prst="rect">
            <a:avLst/>
          </a:prstGeom>
          <a:solidFill>
            <a:schemeClr val="accent1"/>
          </a:solidFill>
          <a:ln/>
        </p:spPr>
      </p:sp>
      <p:sp>
        <p:nvSpPr>
          <p:cNvPr id="89" name="gpu-core-3-11"/>
          <p:cNvSpPr/>
          <p:nvPr/>
        </p:nvSpPr>
        <p:spPr>
          <a:xfrm>
            <a:off x="9381744" y="2761488"/>
            <a:ext cx="228600" cy="210312"/>
          </a:xfrm>
          <a:prstGeom prst="rect">
            <a:avLst/>
          </a:prstGeom>
          <a:solidFill>
            <a:schemeClr val="accent1"/>
          </a:solidFill>
          <a:ln/>
        </p:spPr>
      </p:sp>
      <p:sp>
        <p:nvSpPr>
          <p:cNvPr id="90" name="gpu-core-3-12"/>
          <p:cNvSpPr/>
          <p:nvPr/>
        </p:nvSpPr>
        <p:spPr>
          <a:xfrm>
            <a:off x="9665208" y="2761488"/>
            <a:ext cx="228600" cy="210312"/>
          </a:xfrm>
          <a:prstGeom prst="rect">
            <a:avLst/>
          </a:prstGeom>
          <a:solidFill>
            <a:schemeClr val="accent1"/>
          </a:solidFill>
          <a:ln/>
        </p:spPr>
      </p:sp>
      <p:sp>
        <p:nvSpPr>
          <p:cNvPr id="91" name="gpu-core-3-13"/>
          <p:cNvSpPr/>
          <p:nvPr/>
        </p:nvSpPr>
        <p:spPr>
          <a:xfrm>
            <a:off x="9948672" y="2761488"/>
            <a:ext cx="228600" cy="210312"/>
          </a:xfrm>
          <a:prstGeom prst="rect">
            <a:avLst/>
          </a:prstGeom>
          <a:solidFill>
            <a:schemeClr val="accent1"/>
          </a:solidFill>
          <a:ln/>
        </p:spPr>
      </p:sp>
      <p:sp>
        <p:nvSpPr>
          <p:cNvPr id="92" name="gpu-core-3-14"/>
          <p:cNvSpPr/>
          <p:nvPr/>
        </p:nvSpPr>
        <p:spPr>
          <a:xfrm>
            <a:off x="10232136" y="2761488"/>
            <a:ext cx="228600" cy="210312"/>
          </a:xfrm>
          <a:prstGeom prst="rect">
            <a:avLst/>
          </a:prstGeom>
          <a:solidFill>
            <a:schemeClr val="accent1"/>
          </a:solidFill>
          <a:ln/>
        </p:spPr>
      </p:sp>
      <p:sp>
        <p:nvSpPr>
          <p:cNvPr id="93" name="gpu-core-3-15"/>
          <p:cNvSpPr/>
          <p:nvPr/>
        </p:nvSpPr>
        <p:spPr>
          <a:xfrm>
            <a:off x="10515600" y="2761488"/>
            <a:ext cx="228600" cy="210312"/>
          </a:xfrm>
          <a:prstGeom prst="rect">
            <a:avLst/>
          </a:prstGeom>
          <a:solidFill>
            <a:schemeClr val="accent1"/>
          </a:solidFill>
          <a:ln/>
        </p:spPr>
      </p:sp>
      <p:sp>
        <p:nvSpPr>
          <p:cNvPr id="94" name="gpu-core-3-16"/>
          <p:cNvSpPr/>
          <p:nvPr/>
        </p:nvSpPr>
        <p:spPr>
          <a:xfrm>
            <a:off x="10799064" y="2761488"/>
            <a:ext cx="228600" cy="210312"/>
          </a:xfrm>
          <a:prstGeom prst="rect">
            <a:avLst/>
          </a:prstGeom>
          <a:solidFill>
            <a:schemeClr val="accent1"/>
          </a:solidFill>
          <a:ln/>
        </p:spPr>
      </p:sp>
      <p:sp>
        <p:nvSpPr>
          <p:cNvPr id="95" name="gpu-core-3-17"/>
          <p:cNvSpPr/>
          <p:nvPr/>
        </p:nvSpPr>
        <p:spPr>
          <a:xfrm>
            <a:off x="11082528" y="2761488"/>
            <a:ext cx="228600" cy="210312"/>
          </a:xfrm>
          <a:prstGeom prst="rect">
            <a:avLst/>
          </a:prstGeom>
          <a:solidFill>
            <a:schemeClr val="accent1"/>
          </a:solidFill>
          <a:ln/>
        </p:spPr>
      </p:sp>
      <p:sp>
        <p:nvSpPr>
          <p:cNvPr id="96" name="gpu-core-4-0"/>
          <p:cNvSpPr/>
          <p:nvPr/>
        </p:nvSpPr>
        <p:spPr>
          <a:xfrm>
            <a:off x="6263640" y="3026664"/>
            <a:ext cx="228600" cy="210312"/>
          </a:xfrm>
          <a:prstGeom prst="rect">
            <a:avLst/>
          </a:prstGeom>
          <a:solidFill>
            <a:schemeClr val="accent1"/>
          </a:solidFill>
          <a:ln/>
        </p:spPr>
      </p:sp>
      <p:sp>
        <p:nvSpPr>
          <p:cNvPr id="97" name="gpu-core-4-1"/>
          <p:cNvSpPr/>
          <p:nvPr/>
        </p:nvSpPr>
        <p:spPr>
          <a:xfrm>
            <a:off x="6547104" y="3026664"/>
            <a:ext cx="228600" cy="210312"/>
          </a:xfrm>
          <a:prstGeom prst="rect">
            <a:avLst/>
          </a:prstGeom>
          <a:solidFill>
            <a:schemeClr val="accent1"/>
          </a:solidFill>
          <a:ln/>
        </p:spPr>
      </p:sp>
      <p:sp>
        <p:nvSpPr>
          <p:cNvPr id="98" name="gpu-core-4-2"/>
          <p:cNvSpPr/>
          <p:nvPr/>
        </p:nvSpPr>
        <p:spPr>
          <a:xfrm>
            <a:off x="6830568" y="3026664"/>
            <a:ext cx="228600" cy="210312"/>
          </a:xfrm>
          <a:prstGeom prst="rect">
            <a:avLst/>
          </a:prstGeom>
          <a:solidFill>
            <a:schemeClr val="accent1"/>
          </a:solidFill>
          <a:ln/>
        </p:spPr>
      </p:sp>
      <p:sp>
        <p:nvSpPr>
          <p:cNvPr id="99" name="gpu-core-4-3"/>
          <p:cNvSpPr/>
          <p:nvPr/>
        </p:nvSpPr>
        <p:spPr>
          <a:xfrm>
            <a:off x="7114032" y="3026664"/>
            <a:ext cx="228600" cy="210312"/>
          </a:xfrm>
          <a:prstGeom prst="rect">
            <a:avLst/>
          </a:prstGeom>
          <a:solidFill>
            <a:schemeClr val="accent1"/>
          </a:solidFill>
          <a:ln/>
        </p:spPr>
      </p:sp>
      <p:sp>
        <p:nvSpPr>
          <p:cNvPr id="100" name="gpu-core-4-4"/>
          <p:cNvSpPr/>
          <p:nvPr/>
        </p:nvSpPr>
        <p:spPr>
          <a:xfrm>
            <a:off x="7397496" y="3026664"/>
            <a:ext cx="228600" cy="210312"/>
          </a:xfrm>
          <a:prstGeom prst="rect">
            <a:avLst/>
          </a:prstGeom>
          <a:solidFill>
            <a:schemeClr val="accent1"/>
          </a:solidFill>
          <a:ln/>
        </p:spPr>
      </p:sp>
      <p:sp>
        <p:nvSpPr>
          <p:cNvPr id="101" name="gpu-core-4-5"/>
          <p:cNvSpPr/>
          <p:nvPr/>
        </p:nvSpPr>
        <p:spPr>
          <a:xfrm>
            <a:off x="7680960" y="3026664"/>
            <a:ext cx="228600" cy="210312"/>
          </a:xfrm>
          <a:prstGeom prst="rect">
            <a:avLst/>
          </a:prstGeom>
          <a:solidFill>
            <a:schemeClr val="accent1"/>
          </a:solidFill>
          <a:ln/>
        </p:spPr>
      </p:sp>
      <p:sp>
        <p:nvSpPr>
          <p:cNvPr id="102" name="gpu-core-4-6"/>
          <p:cNvSpPr/>
          <p:nvPr/>
        </p:nvSpPr>
        <p:spPr>
          <a:xfrm>
            <a:off x="7964424" y="3026664"/>
            <a:ext cx="228600" cy="210312"/>
          </a:xfrm>
          <a:prstGeom prst="rect">
            <a:avLst/>
          </a:prstGeom>
          <a:solidFill>
            <a:schemeClr val="accent1"/>
          </a:solidFill>
          <a:ln/>
        </p:spPr>
      </p:sp>
      <p:sp>
        <p:nvSpPr>
          <p:cNvPr id="103" name="gpu-core-4-7"/>
          <p:cNvSpPr/>
          <p:nvPr/>
        </p:nvSpPr>
        <p:spPr>
          <a:xfrm>
            <a:off x="8247888" y="3026664"/>
            <a:ext cx="228600" cy="210312"/>
          </a:xfrm>
          <a:prstGeom prst="rect">
            <a:avLst/>
          </a:prstGeom>
          <a:solidFill>
            <a:schemeClr val="accent1"/>
          </a:solidFill>
          <a:ln/>
        </p:spPr>
      </p:sp>
      <p:sp>
        <p:nvSpPr>
          <p:cNvPr id="104" name="gpu-core-4-8"/>
          <p:cNvSpPr/>
          <p:nvPr/>
        </p:nvSpPr>
        <p:spPr>
          <a:xfrm>
            <a:off x="8531352" y="3026664"/>
            <a:ext cx="228600" cy="210312"/>
          </a:xfrm>
          <a:prstGeom prst="rect">
            <a:avLst/>
          </a:prstGeom>
          <a:solidFill>
            <a:schemeClr val="accent1"/>
          </a:solidFill>
          <a:ln/>
        </p:spPr>
      </p:sp>
      <p:sp>
        <p:nvSpPr>
          <p:cNvPr id="105" name="gpu-core-4-9"/>
          <p:cNvSpPr/>
          <p:nvPr/>
        </p:nvSpPr>
        <p:spPr>
          <a:xfrm>
            <a:off x="8814816" y="3026664"/>
            <a:ext cx="228600" cy="210312"/>
          </a:xfrm>
          <a:prstGeom prst="rect">
            <a:avLst/>
          </a:prstGeom>
          <a:solidFill>
            <a:schemeClr val="accent1"/>
          </a:solidFill>
          <a:ln/>
        </p:spPr>
      </p:sp>
      <p:sp>
        <p:nvSpPr>
          <p:cNvPr id="106" name="gpu-core-4-10"/>
          <p:cNvSpPr/>
          <p:nvPr/>
        </p:nvSpPr>
        <p:spPr>
          <a:xfrm>
            <a:off x="9098280" y="3026664"/>
            <a:ext cx="228600" cy="210312"/>
          </a:xfrm>
          <a:prstGeom prst="rect">
            <a:avLst/>
          </a:prstGeom>
          <a:solidFill>
            <a:schemeClr val="accent1"/>
          </a:solidFill>
          <a:ln/>
        </p:spPr>
      </p:sp>
      <p:sp>
        <p:nvSpPr>
          <p:cNvPr id="107" name="gpu-core-4-11"/>
          <p:cNvSpPr/>
          <p:nvPr/>
        </p:nvSpPr>
        <p:spPr>
          <a:xfrm>
            <a:off x="9381744" y="3026664"/>
            <a:ext cx="228600" cy="210312"/>
          </a:xfrm>
          <a:prstGeom prst="rect">
            <a:avLst/>
          </a:prstGeom>
          <a:solidFill>
            <a:schemeClr val="accent1"/>
          </a:solidFill>
          <a:ln/>
        </p:spPr>
      </p:sp>
      <p:sp>
        <p:nvSpPr>
          <p:cNvPr id="108" name="gpu-core-4-12"/>
          <p:cNvSpPr/>
          <p:nvPr/>
        </p:nvSpPr>
        <p:spPr>
          <a:xfrm>
            <a:off x="9665208" y="3026664"/>
            <a:ext cx="228600" cy="210312"/>
          </a:xfrm>
          <a:prstGeom prst="rect">
            <a:avLst/>
          </a:prstGeom>
          <a:solidFill>
            <a:schemeClr val="accent1"/>
          </a:solidFill>
          <a:ln/>
        </p:spPr>
      </p:sp>
      <p:sp>
        <p:nvSpPr>
          <p:cNvPr id="109" name="gpu-core-4-13"/>
          <p:cNvSpPr/>
          <p:nvPr/>
        </p:nvSpPr>
        <p:spPr>
          <a:xfrm>
            <a:off x="9948672" y="3026664"/>
            <a:ext cx="228600" cy="210312"/>
          </a:xfrm>
          <a:prstGeom prst="rect">
            <a:avLst/>
          </a:prstGeom>
          <a:solidFill>
            <a:schemeClr val="accent1"/>
          </a:solidFill>
          <a:ln/>
        </p:spPr>
      </p:sp>
      <p:sp>
        <p:nvSpPr>
          <p:cNvPr id="110" name="gpu-core-4-14"/>
          <p:cNvSpPr/>
          <p:nvPr/>
        </p:nvSpPr>
        <p:spPr>
          <a:xfrm>
            <a:off x="10232136" y="3026664"/>
            <a:ext cx="228600" cy="210312"/>
          </a:xfrm>
          <a:prstGeom prst="rect">
            <a:avLst/>
          </a:prstGeom>
          <a:solidFill>
            <a:schemeClr val="accent1"/>
          </a:solidFill>
          <a:ln/>
        </p:spPr>
      </p:sp>
      <p:sp>
        <p:nvSpPr>
          <p:cNvPr id="111" name="gpu-core-4-15"/>
          <p:cNvSpPr/>
          <p:nvPr/>
        </p:nvSpPr>
        <p:spPr>
          <a:xfrm>
            <a:off x="10515600" y="3026664"/>
            <a:ext cx="228600" cy="210312"/>
          </a:xfrm>
          <a:prstGeom prst="rect">
            <a:avLst/>
          </a:prstGeom>
          <a:solidFill>
            <a:schemeClr val="accent1"/>
          </a:solidFill>
          <a:ln/>
        </p:spPr>
      </p:sp>
      <p:sp>
        <p:nvSpPr>
          <p:cNvPr id="112" name="gpu-core-4-16"/>
          <p:cNvSpPr/>
          <p:nvPr/>
        </p:nvSpPr>
        <p:spPr>
          <a:xfrm>
            <a:off x="10799064" y="3026664"/>
            <a:ext cx="228600" cy="210312"/>
          </a:xfrm>
          <a:prstGeom prst="rect">
            <a:avLst/>
          </a:prstGeom>
          <a:solidFill>
            <a:schemeClr val="accent1"/>
          </a:solidFill>
          <a:ln/>
        </p:spPr>
      </p:sp>
      <p:sp>
        <p:nvSpPr>
          <p:cNvPr id="113" name="gpu-core-4-17"/>
          <p:cNvSpPr/>
          <p:nvPr/>
        </p:nvSpPr>
        <p:spPr>
          <a:xfrm>
            <a:off x="11082528" y="3026664"/>
            <a:ext cx="228600" cy="210312"/>
          </a:xfrm>
          <a:prstGeom prst="rect">
            <a:avLst/>
          </a:prstGeom>
          <a:solidFill>
            <a:schemeClr val="accent1"/>
          </a:solidFill>
          <a:ln/>
        </p:spPr>
      </p:sp>
      <p:sp>
        <p:nvSpPr>
          <p:cNvPr id="114" name="gpu-core-5-0"/>
          <p:cNvSpPr/>
          <p:nvPr/>
        </p:nvSpPr>
        <p:spPr>
          <a:xfrm>
            <a:off x="6263640" y="3291840"/>
            <a:ext cx="228600" cy="210312"/>
          </a:xfrm>
          <a:prstGeom prst="rect">
            <a:avLst/>
          </a:prstGeom>
          <a:solidFill>
            <a:schemeClr val="accent1"/>
          </a:solidFill>
          <a:ln/>
        </p:spPr>
      </p:sp>
      <p:sp>
        <p:nvSpPr>
          <p:cNvPr id="115" name="gpu-core-5-1"/>
          <p:cNvSpPr/>
          <p:nvPr/>
        </p:nvSpPr>
        <p:spPr>
          <a:xfrm>
            <a:off x="6547104" y="3291840"/>
            <a:ext cx="228600" cy="210312"/>
          </a:xfrm>
          <a:prstGeom prst="rect">
            <a:avLst/>
          </a:prstGeom>
          <a:solidFill>
            <a:schemeClr val="accent1"/>
          </a:solidFill>
          <a:ln/>
        </p:spPr>
      </p:sp>
      <p:sp>
        <p:nvSpPr>
          <p:cNvPr id="116" name="gpu-core-5-2"/>
          <p:cNvSpPr/>
          <p:nvPr/>
        </p:nvSpPr>
        <p:spPr>
          <a:xfrm>
            <a:off x="6830568" y="3291840"/>
            <a:ext cx="228600" cy="210312"/>
          </a:xfrm>
          <a:prstGeom prst="rect">
            <a:avLst/>
          </a:prstGeom>
          <a:solidFill>
            <a:schemeClr val="accent1"/>
          </a:solidFill>
          <a:ln/>
        </p:spPr>
      </p:sp>
      <p:sp>
        <p:nvSpPr>
          <p:cNvPr id="117" name="gpu-core-5-3"/>
          <p:cNvSpPr/>
          <p:nvPr/>
        </p:nvSpPr>
        <p:spPr>
          <a:xfrm>
            <a:off x="7114032" y="3291840"/>
            <a:ext cx="228600" cy="210312"/>
          </a:xfrm>
          <a:prstGeom prst="rect">
            <a:avLst/>
          </a:prstGeom>
          <a:solidFill>
            <a:schemeClr val="accent1"/>
          </a:solidFill>
          <a:ln/>
        </p:spPr>
      </p:sp>
      <p:sp>
        <p:nvSpPr>
          <p:cNvPr id="118" name="gpu-core-5-4"/>
          <p:cNvSpPr/>
          <p:nvPr/>
        </p:nvSpPr>
        <p:spPr>
          <a:xfrm>
            <a:off x="7397496" y="3291840"/>
            <a:ext cx="228600" cy="210312"/>
          </a:xfrm>
          <a:prstGeom prst="rect">
            <a:avLst/>
          </a:prstGeom>
          <a:solidFill>
            <a:schemeClr val="accent1"/>
          </a:solidFill>
          <a:ln/>
        </p:spPr>
      </p:sp>
      <p:sp>
        <p:nvSpPr>
          <p:cNvPr id="119" name="gpu-core-5-5"/>
          <p:cNvSpPr/>
          <p:nvPr/>
        </p:nvSpPr>
        <p:spPr>
          <a:xfrm>
            <a:off x="7680960" y="3291840"/>
            <a:ext cx="228600" cy="210312"/>
          </a:xfrm>
          <a:prstGeom prst="rect">
            <a:avLst/>
          </a:prstGeom>
          <a:solidFill>
            <a:schemeClr val="accent1"/>
          </a:solidFill>
          <a:ln/>
        </p:spPr>
      </p:sp>
      <p:sp>
        <p:nvSpPr>
          <p:cNvPr id="120" name="gpu-core-5-6"/>
          <p:cNvSpPr/>
          <p:nvPr/>
        </p:nvSpPr>
        <p:spPr>
          <a:xfrm>
            <a:off x="7964424" y="3291840"/>
            <a:ext cx="228600" cy="210312"/>
          </a:xfrm>
          <a:prstGeom prst="rect">
            <a:avLst/>
          </a:prstGeom>
          <a:solidFill>
            <a:schemeClr val="accent1"/>
          </a:solidFill>
          <a:ln/>
        </p:spPr>
      </p:sp>
      <p:sp>
        <p:nvSpPr>
          <p:cNvPr id="121" name="gpu-core-5-7"/>
          <p:cNvSpPr/>
          <p:nvPr/>
        </p:nvSpPr>
        <p:spPr>
          <a:xfrm>
            <a:off x="8247888" y="3291840"/>
            <a:ext cx="228600" cy="210312"/>
          </a:xfrm>
          <a:prstGeom prst="rect">
            <a:avLst/>
          </a:prstGeom>
          <a:solidFill>
            <a:schemeClr val="accent1"/>
          </a:solidFill>
          <a:ln/>
        </p:spPr>
      </p:sp>
      <p:sp>
        <p:nvSpPr>
          <p:cNvPr id="122" name="gpu-core-5-8"/>
          <p:cNvSpPr/>
          <p:nvPr/>
        </p:nvSpPr>
        <p:spPr>
          <a:xfrm>
            <a:off x="8531352" y="3291840"/>
            <a:ext cx="228600" cy="210312"/>
          </a:xfrm>
          <a:prstGeom prst="rect">
            <a:avLst/>
          </a:prstGeom>
          <a:solidFill>
            <a:schemeClr val="accent1"/>
          </a:solidFill>
          <a:ln/>
        </p:spPr>
      </p:sp>
      <p:sp>
        <p:nvSpPr>
          <p:cNvPr id="123" name="gpu-core-5-9"/>
          <p:cNvSpPr/>
          <p:nvPr/>
        </p:nvSpPr>
        <p:spPr>
          <a:xfrm>
            <a:off x="8814816" y="3291840"/>
            <a:ext cx="228600" cy="210312"/>
          </a:xfrm>
          <a:prstGeom prst="rect">
            <a:avLst/>
          </a:prstGeom>
          <a:solidFill>
            <a:schemeClr val="accent1"/>
          </a:solidFill>
          <a:ln/>
        </p:spPr>
      </p:sp>
      <p:sp>
        <p:nvSpPr>
          <p:cNvPr id="124" name="gpu-core-5-10"/>
          <p:cNvSpPr/>
          <p:nvPr/>
        </p:nvSpPr>
        <p:spPr>
          <a:xfrm>
            <a:off x="9098280" y="3291840"/>
            <a:ext cx="228600" cy="210312"/>
          </a:xfrm>
          <a:prstGeom prst="rect">
            <a:avLst/>
          </a:prstGeom>
          <a:solidFill>
            <a:schemeClr val="accent1"/>
          </a:solidFill>
          <a:ln/>
        </p:spPr>
      </p:sp>
      <p:sp>
        <p:nvSpPr>
          <p:cNvPr id="125" name="gpu-core-5-11"/>
          <p:cNvSpPr/>
          <p:nvPr/>
        </p:nvSpPr>
        <p:spPr>
          <a:xfrm>
            <a:off x="9381744" y="3291840"/>
            <a:ext cx="228600" cy="210312"/>
          </a:xfrm>
          <a:prstGeom prst="rect">
            <a:avLst/>
          </a:prstGeom>
          <a:solidFill>
            <a:schemeClr val="accent1"/>
          </a:solidFill>
          <a:ln/>
        </p:spPr>
      </p:sp>
      <p:sp>
        <p:nvSpPr>
          <p:cNvPr id="126" name="gpu-core-5-12"/>
          <p:cNvSpPr/>
          <p:nvPr/>
        </p:nvSpPr>
        <p:spPr>
          <a:xfrm>
            <a:off x="9665208" y="3291840"/>
            <a:ext cx="228600" cy="210312"/>
          </a:xfrm>
          <a:prstGeom prst="rect">
            <a:avLst/>
          </a:prstGeom>
          <a:solidFill>
            <a:schemeClr val="accent1"/>
          </a:solidFill>
          <a:ln/>
        </p:spPr>
      </p:sp>
      <p:sp>
        <p:nvSpPr>
          <p:cNvPr id="127" name="gpu-core-5-13"/>
          <p:cNvSpPr/>
          <p:nvPr/>
        </p:nvSpPr>
        <p:spPr>
          <a:xfrm>
            <a:off x="9948672" y="3291840"/>
            <a:ext cx="228600" cy="210312"/>
          </a:xfrm>
          <a:prstGeom prst="rect">
            <a:avLst/>
          </a:prstGeom>
          <a:solidFill>
            <a:schemeClr val="accent1"/>
          </a:solidFill>
          <a:ln/>
        </p:spPr>
      </p:sp>
      <p:sp>
        <p:nvSpPr>
          <p:cNvPr id="128" name="gpu-core-5-14"/>
          <p:cNvSpPr/>
          <p:nvPr/>
        </p:nvSpPr>
        <p:spPr>
          <a:xfrm>
            <a:off x="10232136" y="3291840"/>
            <a:ext cx="228600" cy="210312"/>
          </a:xfrm>
          <a:prstGeom prst="rect">
            <a:avLst/>
          </a:prstGeom>
          <a:solidFill>
            <a:schemeClr val="accent1"/>
          </a:solidFill>
          <a:ln/>
        </p:spPr>
      </p:sp>
      <p:sp>
        <p:nvSpPr>
          <p:cNvPr id="129" name="gpu-core-5-15"/>
          <p:cNvSpPr/>
          <p:nvPr/>
        </p:nvSpPr>
        <p:spPr>
          <a:xfrm>
            <a:off x="10515600" y="3291840"/>
            <a:ext cx="228600" cy="210312"/>
          </a:xfrm>
          <a:prstGeom prst="rect">
            <a:avLst/>
          </a:prstGeom>
          <a:solidFill>
            <a:schemeClr val="accent1"/>
          </a:solidFill>
          <a:ln/>
        </p:spPr>
      </p:sp>
      <p:sp>
        <p:nvSpPr>
          <p:cNvPr id="130" name="gpu-core-5-16"/>
          <p:cNvSpPr/>
          <p:nvPr/>
        </p:nvSpPr>
        <p:spPr>
          <a:xfrm>
            <a:off x="10799064" y="3291840"/>
            <a:ext cx="228600" cy="210312"/>
          </a:xfrm>
          <a:prstGeom prst="rect">
            <a:avLst/>
          </a:prstGeom>
          <a:solidFill>
            <a:schemeClr val="accent1"/>
          </a:solidFill>
          <a:ln/>
        </p:spPr>
      </p:sp>
      <p:sp>
        <p:nvSpPr>
          <p:cNvPr id="131" name="gpu-core-5-17"/>
          <p:cNvSpPr/>
          <p:nvPr/>
        </p:nvSpPr>
        <p:spPr>
          <a:xfrm>
            <a:off x="11082528" y="3291840"/>
            <a:ext cx="228600" cy="210312"/>
          </a:xfrm>
          <a:prstGeom prst="rect">
            <a:avLst/>
          </a:prstGeom>
          <a:solidFill>
            <a:schemeClr val="accent1"/>
          </a:solidFill>
          <a:ln/>
        </p:spPr>
      </p:sp>
      <p:sp>
        <p:nvSpPr>
          <p:cNvPr id="132" name="gpu-core-6-0"/>
          <p:cNvSpPr/>
          <p:nvPr/>
        </p:nvSpPr>
        <p:spPr>
          <a:xfrm>
            <a:off x="6263640" y="3557016"/>
            <a:ext cx="228600" cy="210312"/>
          </a:xfrm>
          <a:prstGeom prst="rect">
            <a:avLst/>
          </a:prstGeom>
          <a:solidFill>
            <a:schemeClr val="accent1"/>
          </a:solidFill>
          <a:ln/>
        </p:spPr>
      </p:sp>
      <p:sp>
        <p:nvSpPr>
          <p:cNvPr id="133" name="gpu-core-6-1"/>
          <p:cNvSpPr/>
          <p:nvPr/>
        </p:nvSpPr>
        <p:spPr>
          <a:xfrm>
            <a:off x="6547104" y="3557016"/>
            <a:ext cx="228600" cy="210312"/>
          </a:xfrm>
          <a:prstGeom prst="rect">
            <a:avLst/>
          </a:prstGeom>
          <a:solidFill>
            <a:schemeClr val="accent1"/>
          </a:solidFill>
          <a:ln/>
        </p:spPr>
      </p:sp>
      <p:sp>
        <p:nvSpPr>
          <p:cNvPr id="134" name="gpu-core-6-2"/>
          <p:cNvSpPr/>
          <p:nvPr/>
        </p:nvSpPr>
        <p:spPr>
          <a:xfrm>
            <a:off x="6830568" y="3557016"/>
            <a:ext cx="228600" cy="210312"/>
          </a:xfrm>
          <a:prstGeom prst="rect">
            <a:avLst/>
          </a:prstGeom>
          <a:solidFill>
            <a:schemeClr val="accent1"/>
          </a:solidFill>
          <a:ln/>
        </p:spPr>
      </p:sp>
      <p:sp>
        <p:nvSpPr>
          <p:cNvPr id="135" name="gpu-core-6-3"/>
          <p:cNvSpPr/>
          <p:nvPr/>
        </p:nvSpPr>
        <p:spPr>
          <a:xfrm>
            <a:off x="7114032" y="3557016"/>
            <a:ext cx="228600" cy="210312"/>
          </a:xfrm>
          <a:prstGeom prst="rect">
            <a:avLst/>
          </a:prstGeom>
          <a:solidFill>
            <a:schemeClr val="accent1"/>
          </a:solidFill>
          <a:ln/>
        </p:spPr>
      </p:sp>
      <p:sp>
        <p:nvSpPr>
          <p:cNvPr id="136" name="gpu-core-6-4"/>
          <p:cNvSpPr/>
          <p:nvPr/>
        </p:nvSpPr>
        <p:spPr>
          <a:xfrm>
            <a:off x="7397496" y="3557016"/>
            <a:ext cx="228600" cy="210312"/>
          </a:xfrm>
          <a:prstGeom prst="rect">
            <a:avLst/>
          </a:prstGeom>
          <a:solidFill>
            <a:schemeClr val="accent1"/>
          </a:solidFill>
          <a:ln/>
        </p:spPr>
      </p:sp>
      <p:sp>
        <p:nvSpPr>
          <p:cNvPr id="137" name="gpu-core-6-5"/>
          <p:cNvSpPr/>
          <p:nvPr/>
        </p:nvSpPr>
        <p:spPr>
          <a:xfrm>
            <a:off x="7680960" y="3557016"/>
            <a:ext cx="228600" cy="210312"/>
          </a:xfrm>
          <a:prstGeom prst="rect">
            <a:avLst/>
          </a:prstGeom>
          <a:solidFill>
            <a:schemeClr val="accent1"/>
          </a:solidFill>
          <a:ln/>
        </p:spPr>
      </p:sp>
      <p:sp>
        <p:nvSpPr>
          <p:cNvPr id="138" name="gpu-core-6-6"/>
          <p:cNvSpPr/>
          <p:nvPr/>
        </p:nvSpPr>
        <p:spPr>
          <a:xfrm>
            <a:off x="7964424" y="3557016"/>
            <a:ext cx="228600" cy="210312"/>
          </a:xfrm>
          <a:prstGeom prst="rect">
            <a:avLst/>
          </a:prstGeom>
          <a:solidFill>
            <a:schemeClr val="accent1"/>
          </a:solidFill>
          <a:ln/>
        </p:spPr>
      </p:sp>
      <p:sp>
        <p:nvSpPr>
          <p:cNvPr id="139" name="gpu-core-6-7"/>
          <p:cNvSpPr/>
          <p:nvPr/>
        </p:nvSpPr>
        <p:spPr>
          <a:xfrm>
            <a:off x="8247888" y="3557016"/>
            <a:ext cx="228600" cy="210312"/>
          </a:xfrm>
          <a:prstGeom prst="rect">
            <a:avLst/>
          </a:prstGeom>
          <a:solidFill>
            <a:schemeClr val="accent1"/>
          </a:solidFill>
          <a:ln/>
        </p:spPr>
      </p:sp>
      <p:sp>
        <p:nvSpPr>
          <p:cNvPr id="140" name="gpu-core-6-8"/>
          <p:cNvSpPr/>
          <p:nvPr/>
        </p:nvSpPr>
        <p:spPr>
          <a:xfrm>
            <a:off x="8531352" y="3557016"/>
            <a:ext cx="228600" cy="210312"/>
          </a:xfrm>
          <a:prstGeom prst="rect">
            <a:avLst/>
          </a:prstGeom>
          <a:solidFill>
            <a:schemeClr val="accent1"/>
          </a:solidFill>
          <a:ln/>
        </p:spPr>
      </p:sp>
      <p:sp>
        <p:nvSpPr>
          <p:cNvPr id="141" name="gpu-core-6-9"/>
          <p:cNvSpPr/>
          <p:nvPr/>
        </p:nvSpPr>
        <p:spPr>
          <a:xfrm>
            <a:off x="8814816" y="3557016"/>
            <a:ext cx="228600" cy="210312"/>
          </a:xfrm>
          <a:prstGeom prst="rect">
            <a:avLst/>
          </a:prstGeom>
          <a:solidFill>
            <a:schemeClr val="accent1"/>
          </a:solidFill>
          <a:ln/>
        </p:spPr>
      </p:sp>
      <p:sp>
        <p:nvSpPr>
          <p:cNvPr id="142" name="gpu-core-6-10"/>
          <p:cNvSpPr/>
          <p:nvPr/>
        </p:nvSpPr>
        <p:spPr>
          <a:xfrm>
            <a:off x="9098280" y="3557016"/>
            <a:ext cx="228600" cy="210312"/>
          </a:xfrm>
          <a:prstGeom prst="rect">
            <a:avLst/>
          </a:prstGeom>
          <a:solidFill>
            <a:schemeClr val="accent1"/>
          </a:solidFill>
          <a:ln/>
        </p:spPr>
      </p:sp>
      <p:sp>
        <p:nvSpPr>
          <p:cNvPr id="143" name="gpu-core-6-11"/>
          <p:cNvSpPr/>
          <p:nvPr/>
        </p:nvSpPr>
        <p:spPr>
          <a:xfrm>
            <a:off x="9381744" y="3557016"/>
            <a:ext cx="228600" cy="210312"/>
          </a:xfrm>
          <a:prstGeom prst="rect">
            <a:avLst/>
          </a:prstGeom>
          <a:solidFill>
            <a:schemeClr val="accent1"/>
          </a:solidFill>
          <a:ln/>
        </p:spPr>
      </p:sp>
      <p:sp>
        <p:nvSpPr>
          <p:cNvPr id="144" name="gpu-core-6-12"/>
          <p:cNvSpPr/>
          <p:nvPr/>
        </p:nvSpPr>
        <p:spPr>
          <a:xfrm>
            <a:off x="9665208" y="3557016"/>
            <a:ext cx="228600" cy="210312"/>
          </a:xfrm>
          <a:prstGeom prst="rect">
            <a:avLst/>
          </a:prstGeom>
          <a:solidFill>
            <a:schemeClr val="accent1"/>
          </a:solidFill>
          <a:ln/>
        </p:spPr>
      </p:sp>
      <p:sp>
        <p:nvSpPr>
          <p:cNvPr id="145" name="gpu-core-6-13"/>
          <p:cNvSpPr/>
          <p:nvPr/>
        </p:nvSpPr>
        <p:spPr>
          <a:xfrm>
            <a:off x="9948672" y="3557016"/>
            <a:ext cx="228600" cy="210312"/>
          </a:xfrm>
          <a:prstGeom prst="rect">
            <a:avLst/>
          </a:prstGeom>
          <a:solidFill>
            <a:schemeClr val="accent1"/>
          </a:solidFill>
          <a:ln/>
        </p:spPr>
      </p:sp>
      <p:sp>
        <p:nvSpPr>
          <p:cNvPr id="146" name="gpu-core-6-14"/>
          <p:cNvSpPr/>
          <p:nvPr/>
        </p:nvSpPr>
        <p:spPr>
          <a:xfrm>
            <a:off x="10232136" y="3557016"/>
            <a:ext cx="228600" cy="210312"/>
          </a:xfrm>
          <a:prstGeom prst="rect">
            <a:avLst/>
          </a:prstGeom>
          <a:solidFill>
            <a:schemeClr val="accent1"/>
          </a:solidFill>
          <a:ln/>
        </p:spPr>
      </p:sp>
      <p:sp>
        <p:nvSpPr>
          <p:cNvPr id="147" name="gpu-core-6-15"/>
          <p:cNvSpPr/>
          <p:nvPr/>
        </p:nvSpPr>
        <p:spPr>
          <a:xfrm>
            <a:off x="10515600" y="3557016"/>
            <a:ext cx="228600" cy="210312"/>
          </a:xfrm>
          <a:prstGeom prst="rect">
            <a:avLst/>
          </a:prstGeom>
          <a:solidFill>
            <a:schemeClr val="accent1"/>
          </a:solidFill>
          <a:ln/>
        </p:spPr>
      </p:sp>
      <p:sp>
        <p:nvSpPr>
          <p:cNvPr id="148" name="gpu-core-6-16"/>
          <p:cNvSpPr/>
          <p:nvPr/>
        </p:nvSpPr>
        <p:spPr>
          <a:xfrm>
            <a:off x="10799064" y="3557016"/>
            <a:ext cx="228600" cy="210312"/>
          </a:xfrm>
          <a:prstGeom prst="rect">
            <a:avLst/>
          </a:prstGeom>
          <a:solidFill>
            <a:schemeClr val="accent1"/>
          </a:solidFill>
          <a:ln/>
        </p:spPr>
      </p:sp>
      <p:sp>
        <p:nvSpPr>
          <p:cNvPr id="149" name="gpu-core-6-17"/>
          <p:cNvSpPr/>
          <p:nvPr/>
        </p:nvSpPr>
        <p:spPr>
          <a:xfrm>
            <a:off x="11082528" y="3557016"/>
            <a:ext cx="228600" cy="210312"/>
          </a:xfrm>
          <a:prstGeom prst="rect">
            <a:avLst/>
          </a:prstGeom>
          <a:solidFill>
            <a:schemeClr val="accent1"/>
          </a:solidFill>
          <a:ln/>
        </p:spPr>
      </p:sp>
      <p:sp>
        <p:nvSpPr>
          <p:cNvPr id="150" name="Text 148"/>
          <p:cNvSpPr txBox="1"/>
          <p:nvPr/>
        </p:nvSpPr>
        <p:spPr>
          <a:xfrm>
            <a:off x="6263640" y="4023360"/>
            <a:ext cx="5120640" cy="777240"/>
          </a:xfrm>
          <a:prstGeom prst="rect">
            <a:avLst/>
          </a:prstGeom>
          <a:noFill/>
          <a:ln/>
        </p:spPr>
        <p:txBody>
          <a:bodyPr wrap="square" lIns="0" tIns="0" rIns="0" bIns="0" rtlCol="0" anchor="t"/>
          <a:lstStyle/>
          <a:p>
            <a:pPr indent="0" marL="0">
              <a:buNone/>
            </a:pPr>
            <a:r>
              <a:rPr lang="en-US" sz="1300" dirty="0">
                <a:solidFill>
                  <a:srgbClr val="595959"/>
                </a:solidFill>
                <a:latin typeface="Calibri" pitchFamily="34" charset="0"/>
                <a:ea typeface="Calibri" pitchFamily="34" charset="-122"/>
                <a:cs typeface="Calibri" pitchFamily="34" charset="-120"/>
              </a:rPr>
              <a:t>NVIDIA GeForce RTX 5060  ·  30 SMs  ·  3,840 CUDA cores  ·  8 GB GDDR7</a:t>
            </a:r>
            <a:endParaRPr lang="en-US" sz="1300" dirty="0"/>
          </a:p>
        </p:txBody>
      </p:sp>
      <p:sp>
        <p:nvSpPr>
          <p:cNvPr id="151" name="takeaway6"/>
          <p:cNvSpPr/>
          <p:nvPr/>
        </p:nvSpPr>
        <p:spPr>
          <a:xfrm>
            <a:off x="548640" y="5212080"/>
            <a:ext cx="11064240" cy="914400"/>
          </a:xfrm>
          <a:prstGeom prst="roundRect">
            <a:avLst>
              <a:gd name="adj" fmla="val 8000"/>
            </a:avLst>
          </a:prstGeom>
          <a:solidFill>
            <a:schemeClr val="bg2"/>
          </a:solidFill>
          <a:ln w="9525">
            <a:solidFill>
              <a:srgbClr val="D9D9D9"/>
            </a:solidFill>
            <a:prstDash val="solid"/>
          </a:ln>
        </p:spPr>
      </p:sp>
      <p:sp>
        <p:nvSpPr>
          <p:cNvPr id="152" name="icon-bg-FaLightbulb"/>
          <p:cNvSpPr/>
          <p:nvPr/>
        </p:nvSpPr>
        <p:spPr>
          <a:xfrm>
            <a:off x="777240" y="5349240"/>
            <a:ext cx="640080" cy="640080"/>
          </a:xfrm>
          <a:prstGeom prst="ellipse">
            <a:avLst/>
          </a:prstGeom>
          <a:solidFill>
            <a:schemeClr val="accent3"/>
          </a:solidFill>
          <a:ln/>
        </p:spPr>
      </p:sp>
      <p:pic>
        <p:nvPicPr>
          <p:cNvPr id="153" name="icon-FaLightbulb" descr="Lightbulb icon">    </p:cNvPr>
          <p:cNvPicPr>
            <a:picLocks noChangeAspect="1"/>
          </p:cNvPicPr>
          <p:nvPr/>
        </p:nvPicPr>
        <p:blipFill>
          <a:blip r:embed="rId1"/>
          <a:stretch>
            <a:fillRect/>
          </a:stretch>
        </p:blipFill>
        <p:spPr>
          <a:xfrm>
            <a:off x="930859" y="5502859"/>
            <a:ext cx="332842" cy="332842"/>
          </a:xfrm>
          <a:prstGeom prst="rect">
            <a:avLst/>
          </a:prstGeom>
        </p:spPr>
      </p:pic>
      <p:sp>
        <p:nvSpPr>
          <p:cNvPr id="154" name="Text 151"/>
          <p:cNvSpPr txBox="1"/>
          <p:nvPr/>
        </p:nvSpPr>
        <p:spPr>
          <a:xfrm>
            <a:off x="1645920" y="5349240"/>
            <a:ext cx="9784080" cy="640080"/>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Why it fits medical imaging: </a:t>
            </a:r>
            <a:pPr indent="0" marL="0">
              <a:buNone/>
            </a:pPr>
            <a:r>
              <a:rPr lang="en-US" sz="1500" dirty="0">
                <a:solidFill>
                  <a:schemeClr val="tx1"/>
                </a:solidFill>
                <a:latin typeface="Calibri" pitchFamily="34" charset="0"/>
                <a:ea typeface="Calibri" pitchFamily="34" charset="-122"/>
                <a:cs typeface="Calibri" pitchFamily="34" charset="-120"/>
              </a:rPr>
              <a:t>the same operation runs on millions of independent pixels or voxels. That is data parallelism, which the GPU's SIMT model is built for.</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GPU architecture and the memory hierarchy</a:t>
            </a:r>
            <a:endParaRPr lang="en-US" sz="3400" dirty="0"/>
          </a:p>
        </p:txBody>
      </p:sp>
      <p:sp>
        <p:nvSpPr>
          <p:cNvPr id="3" name="arch-panel"/>
          <p:cNvSpPr/>
          <p:nvPr/>
        </p:nvSpPr>
        <p:spPr>
          <a:xfrm>
            <a:off x="548640" y="1371600"/>
            <a:ext cx="5394960" cy="4709160"/>
          </a:xfrm>
          <a:prstGeom prst="roundRect">
            <a:avLst>
              <a:gd name="adj" fmla="val 1553"/>
            </a:avLst>
          </a:prstGeom>
          <a:solidFill>
            <a:schemeClr val="bg1"/>
          </a:solidFill>
          <a:ln w="9525">
            <a:solidFill>
              <a:srgbClr val="D9D9D9"/>
            </a:solidFill>
            <a:prstDash val="solid"/>
          </a:ln>
          <a:effectLst>
            <a:outerShdw sx="100000" sy="100000" kx="0" ky="0" algn="bl" rotWithShape="0" blurRad="76200" dist="19050" dir="5400000">
              <a:srgbClr val="000000">
                <a:alpha val="12000"/>
              </a:srgbClr>
            </a:outerShdw>
          </a:effectLst>
        </p:spPr>
      </p:sp>
      <p:sp>
        <p:nvSpPr>
          <p:cNvPr id="4" name="Text 2"/>
          <p:cNvSpPr txBox="1"/>
          <p:nvPr/>
        </p:nvSpPr>
        <p:spPr>
          <a:xfrm>
            <a:off x="777240" y="1481328"/>
            <a:ext cx="4937760" cy="320040"/>
          </a:xfrm>
          <a:prstGeom prst="rect">
            <a:avLst/>
          </a:prstGeom>
          <a:noFill/>
          <a:ln/>
        </p:spPr>
        <p:txBody>
          <a:bodyPr wrap="square" lIns="0" tIns="0" rIns="0" bIns="0" rtlCol="0" anchor="t"/>
          <a:lstStyle/>
          <a:p>
            <a:pPr indent="0" marL="0">
              <a:buNone/>
            </a:pPr>
            <a:r>
              <a:rPr lang="en-US" sz="1500" b="1" dirty="0">
                <a:solidFill>
                  <a:schemeClr val="tx2"/>
                </a:solidFill>
                <a:latin typeface="Calibri" pitchFamily="34" charset="0"/>
                <a:ea typeface="Calibri" pitchFamily="34" charset="-122"/>
                <a:cs typeface="Calibri" pitchFamily="34" charset="-120"/>
              </a:rPr>
              <a:t>GeForce RTX 5060 (Blackwell)</a:t>
            </a:r>
            <a:endParaRPr lang="en-US" sz="1500" dirty="0"/>
          </a:p>
        </p:txBody>
      </p:sp>
      <p:sp>
        <p:nvSpPr>
          <p:cNvPr id="5" name="sm-0"/>
          <p:cNvSpPr/>
          <p:nvPr/>
        </p:nvSpPr>
        <p:spPr>
          <a:xfrm>
            <a:off x="777240" y="1874520"/>
            <a:ext cx="1536192" cy="2057400"/>
          </a:xfrm>
          <a:prstGeom prst="roundRect">
            <a:avLst>
              <a:gd name="adj" fmla="val 2976"/>
            </a:avLst>
          </a:prstGeom>
          <a:solidFill>
            <a:schemeClr val="bg2"/>
          </a:solidFill>
          <a:ln w="12700">
            <a:solidFill>
              <a:srgbClr val="000000"/>
            </a:solidFill>
            <a:prstDash val="solid"/>
          </a:ln>
        </p:spPr>
      </p:sp>
      <p:sp>
        <p:nvSpPr>
          <p:cNvPr id="6" name="Text 4"/>
          <p:cNvSpPr txBox="1"/>
          <p:nvPr/>
        </p:nvSpPr>
        <p:spPr>
          <a:xfrm>
            <a:off x="777240" y="1920240"/>
            <a:ext cx="1536192" cy="274320"/>
          </a:xfrm>
          <a:prstGeom prst="rect">
            <a:avLst/>
          </a:prstGeom>
          <a:noFill/>
          <a:ln/>
        </p:spPr>
        <p:txBody>
          <a:bodyPr wrap="square" lIns="0" tIns="0" rIns="0" bIns="0" rtlCol="0" anchor="t"/>
          <a:lstStyle/>
          <a:p>
            <a:pPr algn="ctr" indent="0" marL="0">
              <a:buNone/>
            </a:pPr>
            <a:r>
              <a:rPr lang="en-US" sz="1200" b="1" dirty="0">
                <a:solidFill>
                  <a:schemeClr val="tx2"/>
                </a:solidFill>
                <a:latin typeface="Calibri" pitchFamily="34" charset="0"/>
                <a:ea typeface="Calibri" pitchFamily="34" charset="-122"/>
                <a:cs typeface="Calibri" pitchFamily="34" charset="-120"/>
              </a:rPr>
              <a:t>SM 0</a:t>
            </a:r>
            <a:endParaRPr lang="en-US" sz="1200" dirty="0"/>
          </a:p>
        </p:txBody>
      </p:sp>
      <p:sp>
        <p:nvSpPr>
          <p:cNvPr id="7" name="sm0-0"/>
          <p:cNvSpPr/>
          <p:nvPr/>
        </p:nvSpPr>
        <p:spPr>
          <a:xfrm>
            <a:off x="868680" y="2240280"/>
            <a:ext cx="1353312" cy="347472"/>
          </a:xfrm>
          <a:prstGeom prst="rect">
            <a:avLst/>
          </a:prstGeom>
          <a:solidFill>
            <a:schemeClr val="accent1"/>
          </a:solidFill>
          <a:ln/>
        </p:spPr>
      </p:sp>
      <p:sp>
        <p:nvSpPr>
          <p:cNvPr id="8" name="Text 6"/>
          <p:cNvSpPr txBox="1"/>
          <p:nvPr/>
        </p:nvSpPr>
        <p:spPr>
          <a:xfrm>
            <a:off x="868680" y="2240280"/>
            <a:ext cx="1353312" cy="347472"/>
          </a:xfrm>
          <a:prstGeom prst="rect">
            <a:avLst/>
          </a:prstGeom>
          <a:noFill/>
          <a:ln/>
        </p:spPr>
        <p:txBody>
          <a:bodyPr wrap="square" lIns="0" tIns="0" rIns="0" bIns="0"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128 CUDA cores</a:t>
            </a:r>
            <a:endParaRPr lang="en-US" sz="1100" dirty="0"/>
          </a:p>
        </p:txBody>
      </p:sp>
      <p:sp>
        <p:nvSpPr>
          <p:cNvPr id="9" name="sm0-1"/>
          <p:cNvSpPr/>
          <p:nvPr/>
        </p:nvSpPr>
        <p:spPr>
          <a:xfrm>
            <a:off x="868680" y="2651760"/>
            <a:ext cx="1353312" cy="347472"/>
          </a:xfrm>
          <a:prstGeom prst="rect">
            <a:avLst/>
          </a:prstGeom>
          <a:solidFill>
            <a:schemeClr val="accent2"/>
          </a:solidFill>
          <a:ln/>
        </p:spPr>
      </p:sp>
      <p:sp>
        <p:nvSpPr>
          <p:cNvPr id="10" name="Text 8"/>
          <p:cNvSpPr txBox="1"/>
          <p:nvPr/>
        </p:nvSpPr>
        <p:spPr>
          <a:xfrm>
            <a:off x="868680" y="2651760"/>
            <a:ext cx="1353312" cy="347472"/>
          </a:xfrm>
          <a:prstGeom prst="rect">
            <a:avLst/>
          </a:prstGeom>
          <a:noFill/>
          <a:ln/>
        </p:spPr>
        <p:txBody>
          <a:bodyPr wrap="square" lIns="0" tIns="0" rIns="0" bIns="0"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Tensor Cores</a:t>
            </a:r>
            <a:endParaRPr lang="en-US" sz="1100" dirty="0"/>
          </a:p>
        </p:txBody>
      </p:sp>
      <p:sp>
        <p:nvSpPr>
          <p:cNvPr id="11" name="sm0-2"/>
          <p:cNvSpPr/>
          <p:nvPr/>
        </p:nvSpPr>
        <p:spPr>
          <a:xfrm>
            <a:off x="868680" y="3063240"/>
            <a:ext cx="1353312" cy="347472"/>
          </a:xfrm>
          <a:prstGeom prst="rect">
            <a:avLst/>
          </a:prstGeom>
          <a:solidFill>
            <a:schemeClr val="accent5"/>
          </a:solidFill>
          <a:ln/>
        </p:spPr>
      </p:sp>
      <p:sp>
        <p:nvSpPr>
          <p:cNvPr id="12" name="Text 10"/>
          <p:cNvSpPr txBox="1"/>
          <p:nvPr/>
        </p:nvSpPr>
        <p:spPr>
          <a:xfrm>
            <a:off x="868680" y="3063240"/>
            <a:ext cx="1353312" cy="347472"/>
          </a:xfrm>
          <a:prstGeom prst="rect">
            <a:avLst/>
          </a:prstGeom>
          <a:noFill/>
          <a:ln/>
        </p:spPr>
        <p:txBody>
          <a:bodyPr wrap="square" lIns="0" tIns="0" rIns="0" bIns="0"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Registers</a:t>
            </a:r>
            <a:endParaRPr lang="en-US" sz="1100" dirty="0"/>
          </a:p>
        </p:txBody>
      </p:sp>
      <p:sp>
        <p:nvSpPr>
          <p:cNvPr id="13" name="sm0-3"/>
          <p:cNvSpPr/>
          <p:nvPr/>
        </p:nvSpPr>
        <p:spPr>
          <a:xfrm>
            <a:off x="868680" y="3474720"/>
            <a:ext cx="1353312" cy="347472"/>
          </a:xfrm>
          <a:prstGeom prst="rect">
            <a:avLst/>
          </a:prstGeom>
          <a:solidFill>
            <a:schemeClr val="accent6"/>
          </a:solidFill>
          <a:ln/>
        </p:spPr>
      </p:sp>
      <p:sp>
        <p:nvSpPr>
          <p:cNvPr id="14" name="Text 12"/>
          <p:cNvSpPr txBox="1"/>
          <p:nvPr/>
        </p:nvSpPr>
        <p:spPr>
          <a:xfrm>
            <a:off x="868680" y="3474720"/>
            <a:ext cx="1353312" cy="347472"/>
          </a:xfrm>
          <a:prstGeom prst="rect">
            <a:avLst/>
          </a:prstGeom>
          <a:noFill/>
          <a:ln/>
        </p:spPr>
        <p:txBody>
          <a:bodyPr wrap="square" lIns="0" tIns="0" rIns="0" bIns="0"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Shared mem / L1</a:t>
            </a:r>
            <a:endParaRPr lang="en-US" sz="1100" dirty="0"/>
          </a:p>
        </p:txBody>
      </p:sp>
      <p:sp>
        <p:nvSpPr>
          <p:cNvPr id="15" name="sm-1"/>
          <p:cNvSpPr/>
          <p:nvPr/>
        </p:nvSpPr>
        <p:spPr>
          <a:xfrm>
            <a:off x="2441448" y="1874520"/>
            <a:ext cx="1536192" cy="2057400"/>
          </a:xfrm>
          <a:prstGeom prst="roundRect">
            <a:avLst>
              <a:gd name="adj" fmla="val 2976"/>
            </a:avLst>
          </a:prstGeom>
          <a:solidFill>
            <a:schemeClr val="bg2"/>
          </a:solidFill>
          <a:ln w="12700">
            <a:solidFill>
              <a:srgbClr val="000000"/>
            </a:solidFill>
            <a:prstDash val="solid"/>
          </a:ln>
        </p:spPr>
      </p:sp>
      <p:sp>
        <p:nvSpPr>
          <p:cNvPr id="16" name="Text 14"/>
          <p:cNvSpPr txBox="1"/>
          <p:nvPr/>
        </p:nvSpPr>
        <p:spPr>
          <a:xfrm>
            <a:off x="2441448" y="1920240"/>
            <a:ext cx="1536192" cy="274320"/>
          </a:xfrm>
          <a:prstGeom prst="rect">
            <a:avLst/>
          </a:prstGeom>
          <a:noFill/>
          <a:ln/>
        </p:spPr>
        <p:txBody>
          <a:bodyPr wrap="square" lIns="0" tIns="0" rIns="0" bIns="0" rtlCol="0" anchor="t"/>
          <a:lstStyle/>
          <a:p>
            <a:pPr algn="ctr" indent="0" marL="0">
              <a:buNone/>
            </a:pPr>
            <a:r>
              <a:rPr lang="en-US" sz="1200" b="1" dirty="0">
                <a:solidFill>
                  <a:schemeClr val="tx2"/>
                </a:solidFill>
                <a:latin typeface="Calibri" pitchFamily="34" charset="0"/>
                <a:ea typeface="Calibri" pitchFamily="34" charset="-122"/>
                <a:cs typeface="Calibri" pitchFamily="34" charset="-120"/>
              </a:rPr>
              <a:t>SM 1</a:t>
            </a:r>
            <a:endParaRPr lang="en-US" sz="1200" dirty="0"/>
          </a:p>
        </p:txBody>
      </p:sp>
      <p:sp>
        <p:nvSpPr>
          <p:cNvPr id="17" name="sm1-0"/>
          <p:cNvSpPr/>
          <p:nvPr/>
        </p:nvSpPr>
        <p:spPr>
          <a:xfrm>
            <a:off x="2532888" y="2240280"/>
            <a:ext cx="1353312" cy="347472"/>
          </a:xfrm>
          <a:prstGeom prst="rect">
            <a:avLst/>
          </a:prstGeom>
          <a:solidFill>
            <a:schemeClr val="accent1"/>
          </a:solidFill>
          <a:ln/>
        </p:spPr>
      </p:sp>
      <p:sp>
        <p:nvSpPr>
          <p:cNvPr id="18" name="Text 16"/>
          <p:cNvSpPr txBox="1"/>
          <p:nvPr/>
        </p:nvSpPr>
        <p:spPr>
          <a:xfrm>
            <a:off x="2532888" y="2240280"/>
            <a:ext cx="1353312" cy="347472"/>
          </a:xfrm>
          <a:prstGeom prst="rect">
            <a:avLst/>
          </a:prstGeom>
          <a:noFill/>
          <a:ln/>
        </p:spPr>
        <p:txBody>
          <a:bodyPr wrap="square" lIns="0" tIns="0" rIns="0" bIns="0"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128 CUDA cores</a:t>
            </a:r>
            <a:endParaRPr lang="en-US" sz="1100" dirty="0"/>
          </a:p>
        </p:txBody>
      </p:sp>
      <p:sp>
        <p:nvSpPr>
          <p:cNvPr id="19" name="sm1-1"/>
          <p:cNvSpPr/>
          <p:nvPr/>
        </p:nvSpPr>
        <p:spPr>
          <a:xfrm>
            <a:off x="2532888" y="2651760"/>
            <a:ext cx="1353312" cy="347472"/>
          </a:xfrm>
          <a:prstGeom prst="rect">
            <a:avLst/>
          </a:prstGeom>
          <a:solidFill>
            <a:schemeClr val="accent2"/>
          </a:solidFill>
          <a:ln/>
        </p:spPr>
      </p:sp>
      <p:sp>
        <p:nvSpPr>
          <p:cNvPr id="20" name="Text 18"/>
          <p:cNvSpPr txBox="1"/>
          <p:nvPr/>
        </p:nvSpPr>
        <p:spPr>
          <a:xfrm>
            <a:off x="2532888" y="2651760"/>
            <a:ext cx="1353312" cy="347472"/>
          </a:xfrm>
          <a:prstGeom prst="rect">
            <a:avLst/>
          </a:prstGeom>
          <a:noFill/>
          <a:ln/>
        </p:spPr>
        <p:txBody>
          <a:bodyPr wrap="square" lIns="0" tIns="0" rIns="0" bIns="0"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Tensor Cores</a:t>
            </a:r>
            <a:endParaRPr lang="en-US" sz="1100" dirty="0"/>
          </a:p>
        </p:txBody>
      </p:sp>
      <p:sp>
        <p:nvSpPr>
          <p:cNvPr id="21" name="sm1-2"/>
          <p:cNvSpPr/>
          <p:nvPr/>
        </p:nvSpPr>
        <p:spPr>
          <a:xfrm>
            <a:off x="2532888" y="3063240"/>
            <a:ext cx="1353312" cy="347472"/>
          </a:xfrm>
          <a:prstGeom prst="rect">
            <a:avLst/>
          </a:prstGeom>
          <a:solidFill>
            <a:schemeClr val="accent5"/>
          </a:solidFill>
          <a:ln/>
        </p:spPr>
      </p:sp>
      <p:sp>
        <p:nvSpPr>
          <p:cNvPr id="22" name="Text 20"/>
          <p:cNvSpPr txBox="1"/>
          <p:nvPr/>
        </p:nvSpPr>
        <p:spPr>
          <a:xfrm>
            <a:off x="2532888" y="3063240"/>
            <a:ext cx="1353312" cy="347472"/>
          </a:xfrm>
          <a:prstGeom prst="rect">
            <a:avLst/>
          </a:prstGeom>
          <a:noFill/>
          <a:ln/>
        </p:spPr>
        <p:txBody>
          <a:bodyPr wrap="square" lIns="0" tIns="0" rIns="0" bIns="0"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Registers</a:t>
            </a:r>
            <a:endParaRPr lang="en-US" sz="1100" dirty="0"/>
          </a:p>
        </p:txBody>
      </p:sp>
      <p:sp>
        <p:nvSpPr>
          <p:cNvPr id="23" name="sm1-3"/>
          <p:cNvSpPr/>
          <p:nvPr/>
        </p:nvSpPr>
        <p:spPr>
          <a:xfrm>
            <a:off x="2532888" y="3474720"/>
            <a:ext cx="1353312" cy="347472"/>
          </a:xfrm>
          <a:prstGeom prst="rect">
            <a:avLst/>
          </a:prstGeom>
          <a:solidFill>
            <a:schemeClr val="accent6"/>
          </a:solidFill>
          <a:ln/>
        </p:spPr>
      </p:sp>
      <p:sp>
        <p:nvSpPr>
          <p:cNvPr id="24" name="Text 22"/>
          <p:cNvSpPr txBox="1"/>
          <p:nvPr/>
        </p:nvSpPr>
        <p:spPr>
          <a:xfrm>
            <a:off x="2532888" y="3474720"/>
            <a:ext cx="1353312" cy="347472"/>
          </a:xfrm>
          <a:prstGeom prst="rect">
            <a:avLst/>
          </a:prstGeom>
          <a:noFill/>
          <a:ln/>
        </p:spPr>
        <p:txBody>
          <a:bodyPr wrap="square" lIns="0" tIns="0" rIns="0" bIns="0"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Shared mem / L1</a:t>
            </a:r>
            <a:endParaRPr lang="en-US" sz="1100" dirty="0"/>
          </a:p>
        </p:txBody>
      </p:sp>
      <p:sp>
        <p:nvSpPr>
          <p:cNvPr id="25" name="sm-2"/>
          <p:cNvSpPr/>
          <p:nvPr/>
        </p:nvSpPr>
        <p:spPr>
          <a:xfrm>
            <a:off x="4105656" y="1874520"/>
            <a:ext cx="1536192" cy="2057400"/>
          </a:xfrm>
          <a:prstGeom prst="roundRect">
            <a:avLst>
              <a:gd name="adj" fmla="val 2976"/>
            </a:avLst>
          </a:prstGeom>
          <a:solidFill>
            <a:schemeClr val="bg2"/>
          </a:solidFill>
          <a:ln w="12700">
            <a:solidFill>
              <a:srgbClr val="000000"/>
            </a:solidFill>
            <a:prstDash val="solid"/>
          </a:ln>
        </p:spPr>
      </p:sp>
      <p:sp>
        <p:nvSpPr>
          <p:cNvPr id="26" name="Text 24"/>
          <p:cNvSpPr txBox="1"/>
          <p:nvPr/>
        </p:nvSpPr>
        <p:spPr>
          <a:xfrm>
            <a:off x="4105656" y="1920240"/>
            <a:ext cx="1536192" cy="274320"/>
          </a:xfrm>
          <a:prstGeom prst="rect">
            <a:avLst/>
          </a:prstGeom>
          <a:noFill/>
          <a:ln/>
        </p:spPr>
        <p:txBody>
          <a:bodyPr wrap="square" lIns="0" tIns="0" rIns="0" bIns="0" rtlCol="0" anchor="t"/>
          <a:lstStyle/>
          <a:p>
            <a:pPr algn="ctr" indent="0" marL="0">
              <a:buNone/>
            </a:pPr>
            <a:r>
              <a:rPr lang="en-US" sz="1200" b="1" dirty="0">
                <a:solidFill>
                  <a:schemeClr val="tx2"/>
                </a:solidFill>
                <a:latin typeface="Calibri" pitchFamily="34" charset="0"/>
                <a:ea typeface="Calibri" pitchFamily="34" charset="-122"/>
                <a:cs typeface="Calibri" pitchFamily="34" charset="-120"/>
              </a:rPr>
              <a:t>… SM 29</a:t>
            </a:r>
            <a:endParaRPr lang="en-US" sz="1200" dirty="0"/>
          </a:p>
        </p:txBody>
      </p:sp>
      <p:sp>
        <p:nvSpPr>
          <p:cNvPr id="27" name="sm2-0"/>
          <p:cNvSpPr/>
          <p:nvPr/>
        </p:nvSpPr>
        <p:spPr>
          <a:xfrm>
            <a:off x="4197096" y="2240280"/>
            <a:ext cx="1353312" cy="347472"/>
          </a:xfrm>
          <a:prstGeom prst="rect">
            <a:avLst/>
          </a:prstGeom>
          <a:solidFill>
            <a:schemeClr val="accent1"/>
          </a:solidFill>
          <a:ln/>
        </p:spPr>
      </p:sp>
      <p:sp>
        <p:nvSpPr>
          <p:cNvPr id="28" name="Text 26"/>
          <p:cNvSpPr txBox="1"/>
          <p:nvPr/>
        </p:nvSpPr>
        <p:spPr>
          <a:xfrm>
            <a:off x="4197096" y="2240280"/>
            <a:ext cx="1353312" cy="347472"/>
          </a:xfrm>
          <a:prstGeom prst="rect">
            <a:avLst/>
          </a:prstGeom>
          <a:noFill/>
          <a:ln/>
        </p:spPr>
        <p:txBody>
          <a:bodyPr wrap="square" lIns="0" tIns="0" rIns="0" bIns="0"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128 CUDA cores</a:t>
            </a:r>
            <a:endParaRPr lang="en-US" sz="1100" dirty="0"/>
          </a:p>
        </p:txBody>
      </p:sp>
      <p:sp>
        <p:nvSpPr>
          <p:cNvPr id="29" name="sm2-1"/>
          <p:cNvSpPr/>
          <p:nvPr/>
        </p:nvSpPr>
        <p:spPr>
          <a:xfrm>
            <a:off x="4197096" y="2651760"/>
            <a:ext cx="1353312" cy="347472"/>
          </a:xfrm>
          <a:prstGeom prst="rect">
            <a:avLst/>
          </a:prstGeom>
          <a:solidFill>
            <a:schemeClr val="accent2"/>
          </a:solidFill>
          <a:ln/>
        </p:spPr>
      </p:sp>
      <p:sp>
        <p:nvSpPr>
          <p:cNvPr id="30" name="Text 28"/>
          <p:cNvSpPr txBox="1"/>
          <p:nvPr/>
        </p:nvSpPr>
        <p:spPr>
          <a:xfrm>
            <a:off x="4197096" y="2651760"/>
            <a:ext cx="1353312" cy="347472"/>
          </a:xfrm>
          <a:prstGeom prst="rect">
            <a:avLst/>
          </a:prstGeom>
          <a:noFill/>
          <a:ln/>
        </p:spPr>
        <p:txBody>
          <a:bodyPr wrap="square" lIns="0" tIns="0" rIns="0" bIns="0"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Tensor Cores</a:t>
            </a:r>
            <a:endParaRPr lang="en-US" sz="1100" dirty="0"/>
          </a:p>
        </p:txBody>
      </p:sp>
      <p:sp>
        <p:nvSpPr>
          <p:cNvPr id="31" name="sm2-2"/>
          <p:cNvSpPr/>
          <p:nvPr/>
        </p:nvSpPr>
        <p:spPr>
          <a:xfrm>
            <a:off x="4197096" y="3063240"/>
            <a:ext cx="1353312" cy="347472"/>
          </a:xfrm>
          <a:prstGeom prst="rect">
            <a:avLst/>
          </a:prstGeom>
          <a:solidFill>
            <a:schemeClr val="accent5"/>
          </a:solidFill>
          <a:ln/>
        </p:spPr>
      </p:sp>
      <p:sp>
        <p:nvSpPr>
          <p:cNvPr id="32" name="Text 30"/>
          <p:cNvSpPr txBox="1"/>
          <p:nvPr/>
        </p:nvSpPr>
        <p:spPr>
          <a:xfrm>
            <a:off x="4197096" y="3063240"/>
            <a:ext cx="1353312" cy="347472"/>
          </a:xfrm>
          <a:prstGeom prst="rect">
            <a:avLst/>
          </a:prstGeom>
          <a:noFill/>
          <a:ln/>
        </p:spPr>
        <p:txBody>
          <a:bodyPr wrap="square" lIns="0" tIns="0" rIns="0" bIns="0"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Registers</a:t>
            </a:r>
            <a:endParaRPr lang="en-US" sz="1100" dirty="0"/>
          </a:p>
        </p:txBody>
      </p:sp>
      <p:sp>
        <p:nvSpPr>
          <p:cNvPr id="33" name="sm2-3"/>
          <p:cNvSpPr/>
          <p:nvPr/>
        </p:nvSpPr>
        <p:spPr>
          <a:xfrm>
            <a:off x="4197096" y="3474720"/>
            <a:ext cx="1353312" cy="347472"/>
          </a:xfrm>
          <a:prstGeom prst="rect">
            <a:avLst/>
          </a:prstGeom>
          <a:solidFill>
            <a:schemeClr val="accent6"/>
          </a:solidFill>
          <a:ln/>
        </p:spPr>
      </p:sp>
      <p:sp>
        <p:nvSpPr>
          <p:cNvPr id="34" name="Text 32"/>
          <p:cNvSpPr txBox="1"/>
          <p:nvPr/>
        </p:nvSpPr>
        <p:spPr>
          <a:xfrm>
            <a:off x="4197096" y="3474720"/>
            <a:ext cx="1353312" cy="347472"/>
          </a:xfrm>
          <a:prstGeom prst="rect">
            <a:avLst/>
          </a:prstGeom>
          <a:noFill/>
          <a:ln/>
        </p:spPr>
        <p:txBody>
          <a:bodyPr wrap="square" lIns="0" tIns="0" rIns="0" bIns="0"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Shared mem / L1</a:t>
            </a:r>
            <a:endParaRPr lang="en-US" sz="1100" dirty="0"/>
          </a:p>
        </p:txBody>
      </p:sp>
      <p:sp>
        <p:nvSpPr>
          <p:cNvPr id="35" name="l2"/>
          <p:cNvSpPr/>
          <p:nvPr/>
        </p:nvSpPr>
        <p:spPr>
          <a:xfrm>
            <a:off x="777240" y="4069080"/>
            <a:ext cx="4937760" cy="438912"/>
          </a:xfrm>
          <a:prstGeom prst="rect">
            <a:avLst/>
          </a:prstGeom>
          <a:solidFill>
            <a:schemeClr val="accent5"/>
          </a:solidFill>
          <a:ln/>
        </p:spPr>
      </p:sp>
      <p:sp>
        <p:nvSpPr>
          <p:cNvPr id="36" name="Text 34"/>
          <p:cNvSpPr txBox="1"/>
          <p:nvPr/>
        </p:nvSpPr>
        <p:spPr>
          <a:xfrm>
            <a:off x="777240" y="4069080"/>
            <a:ext cx="4937760" cy="438912"/>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L2 cache (shared by all SMs)</a:t>
            </a:r>
            <a:endParaRPr lang="en-US" sz="1300" dirty="0"/>
          </a:p>
        </p:txBody>
      </p:sp>
      <p:sp>
        <p:nvSpPr>
          <p:cNvPr id="37" name="gmem"/>
          <p:cNvSpPr/>
          <p:nvPr/>
        </p:nvSpPr>
        <p:spPr>
          <a:xfrm>
            <a:off x="777240" y="4617720"/>
            <a:ext cx="4937760" cy="438912"/>
          </a:xfrm>
          <a:prstGeom prst="rect">
            <a:avLst/>
          </a:prstGeom>
          <a:solidFill>
            <a:schemeClr val="tx2"/>
          </a:solidFill>
          <a:ln/>
        </p:spPr>
      </p:sp>
      <p:sp>
        <p:nvSpPr>
          <p:cNvPr id="38" name="Text 36"/>
          <p:cNvSpPr txBox="1"/>
          <p:nvPr/>
        </p:nvSpPr>
        <p:spPr>
          <a:xfrm>
            <a:off x="777240" y="4617720"/>
            <a:ext cx="4937760" cy="438912"/>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Global memory: 8 GB GDDR7</a:t>
            </a:r>
            <a:endParaRPr lang="en-US" sz="1300" dirty="0"/>
          </a:p>
        </p:txBody>
      </p:sp>
      <p:sp>
        <p:nvSpPr>
          <p:cNvPr id="39" name="pcie-arrow"/>
          <p:cNvSpPr/>
          <p:nvPr/>
        </p:nvSpPr>
        <p:spPr>
          <a:xfrm>
            <a:off x="3246120" y="5074920"/>
            <a:ext cx="0" cy="365760"/>
          </a:xfrm>
          <a:prstGeom prst="line">
            <a:avLst/>
          </a:prstGeom>
          <a:noFill/>
          <a:ln w="38100">
            <a:solidFill>
              <a:srgbClr val="404040"/>
            </a:solidFill>
            <a:prstDash val="solid"/>
            <a:headEnd type="triangle"/>
            <a:tailEnd type="triangle"/>
          </a:ln>
        </p:spPr>
      </p:sp>
      <p:sp>
        <p:nvSpPr>
          <p:cNvPr id="40" name="Text 38"/>
          <p:cNvSpPr txBox="1"/>
          <p:nvPr/>
        </p:nvSpPr>
        <p:spPr>
          <a:xfrm>
            <a:off x="3383280" y="5120640"/>
            <a:ext cx="1371600" cy="274320"/>
          </a:xfrm>
          <a:prstGeom prst="rect">
            <a:avLst/>
          </a:prstGeom>
          <a:noFill/>
          <a:ln/>
        </p:spPr>
        <p:txBody>
          <a:bodyPr wrap="square" lIns="0" tIns="0" rIns="0" bIns="0" rtlCol="0" anchor="t"/>
          <a:lstStyle/>
          <a:p>
            <a:pPr indent="0" marL="0">
              <a:buNone/>
            </a:pPr>
            <a:r>
              <a:rPr lang="en-US" sz="1100" b="1" dirty="0">
                <a:solidFill>
                  <a:schemeClr val="accent2"/>
                </a:solidFill>
                <a:latin typeface="Calibri" pitchFamily="34" charset="0"/>
                <a:ea typeface="Calibri" pitchFamily="34" charset="-122"/>
                <a:cs typeface="Calibri" pitchFamily="34" charset="-120"/>
              </a:rPr>
              <a:t>PCIe link</a:t>
            </a:r>
            <a:endParaRPr lang="en-US" sz="1100" dirty="0"/>
          </a:p>
        </p:txBody>
      </p:sp>
      <p:sp>
        <p:nvSpPr>
          <p:cNvPr id="41" name="host"/>
          <p:cNvSpPr/>
          <p:nvPr/>
        </p:nvSpPr>
        <p:spPr>
          <a:xfrm>
            <a:off x="777240" y="5486400"/>
            <a:ext cx="4937760" cy="438912"/>
          </a:xfrm>
          <a:prstGeom prst="rect">
            <a:avLst/>
          </a:prstGeom>
          <a:solidFill>
            <a:srgbClr val="A6A6A6"/>
          </a:solidFill>
          <a:ln/>
        </p:spPr>
      </p:sp>
      <p:sp>
        <p:nvSpPr>
          <p:cNvPr id="42" name="Text 40"/>
          <p:cNvSpPr txBox="1"/>
          <p:nvPr/>
        </p:nvSpPr>
        <p:spPr>
          <a:xfrm>
            <a:off x="777240" y="5486400"/>
            <a:ext cx="4937760" cy="438912"/>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Host: CPU + system RAM</a:t>
            </a:r>
            <a:endParaRPr lang="en-US" sz="1300" dirty="0"/>
          </a:p>
        </p:txBody>
      </p:sp>
      <p:graphicFrame>
        <p:nvGraphicFramePr>
          <p:cNvPr id="7" name="mem-table"/>
          <p:cNvGraphicFramePr>
            <a:graphicFrameLocks noGrp="1"/>
          </p:cNvGraphicFramePr>
          <p:nvPr>
            <p:extLst>
              <p:ext uri="{D42A27DB-BD31-4B8C-83A1-F6EECF244321}">
                <p14:modId xmlns:p14="http://schemas.microsoft.com/office/powerpoint/2010/main" val="1579011935"/>
              </p:ext>
            </p:extLst>
          </p:nvPr>
        </p:nvGraphicFramePr>
        <p:xfrm>
          <a:off x="6217920" y="1371600"/>
          <a:ext cx="5394960" cy="914400"/>
        </p:xfrm>
        <a:graphic>
          <a:graphicData uri="http://schemas.openxmlformats.org/drawingml/2006/table">
            <a:tbl>
              <a:tblPr/>
              <a:tblGrid>
                <a:gridCol w="1325880"/>
                <a:gridCol w="1188720"/>
                <a:gridCol w="1234440"/>
                <a:gridCol w="1645920"/>
              </a:tblGrid>
              <a:tr h="45720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Memory</a:t>
                      </a:r>
                      <a:endParaRPr lang="en-US" sz="12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0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Size</a:t>
                      </a:r>
                      <a:endParaRPr lang="en-US" sz="12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0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Speed</a:t>
                      </a:r>
                      <a:endParaRPr lang="en-US" sz="12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0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How we used it</a:t>
                      </a:r>
                      <a:endParaRPr lang="en-US" sz="12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00"/>
                    </a:solidFill>
                  </a:tcPr>
                </a:tc>
              </a:tr>
              <a:tr h="457200">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Registers</a:t>
                      </a:r>
                      <a:endParaRPr lang="en-US" sz="12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per thread</a:t>
                      </a:r>
                      <a:endParaRPr lang="en-US" sz="12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fastest</a:t>
                      </a:r>
                      <a:endParaRPr lang="en-US" sz="12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Running sums in every kernel</a:t>
                      </a:r>
                      <a:endParaRPr lang="en-US" sz="12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57200">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Shared memory</a:t>
                      </a:r>
                      <a:endParaRPr lang="en-US" sz="12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up to 128 KB / SM</a:t>
                      </a:r>
                      <a:endParaRPr lang="en-US" sz="12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~20–30 cycles</a:t>
                      </a:r>
                      <a:endParaRPr lang="en-US" sz="12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12³ halo tile in tiled 3D convolution</a:t>
                      </a:r>
                      <a:endParaRPr lang="en-US" sz="12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57200">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Constant memory</a:t>
                      </a:r>
                      <a:endParaRPr lang="en-US" sz="12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64 KB, cached</a:t>
                      </a:r>
                      <a:endParaRPr lang="en-US" sz="12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fast when all threads read the same value</a:t>
                      </a:r>
                      <a:endParaRPr lang="en-US" sz="12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cos/sin tables (FBP), filter weights</a:t>
                      </a:r>
                      <a:endParaRPr lang="en-US" sz="12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57200">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Global (GDDR7)</a:t>
                      </a:r>
                      <a:endParaRPr lang="en-US" sz="12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8 GB</a:t>
                      </a:r>
                      <a:endParaRPr lang="en-US" sz="12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~400–600 cycles</a:t>
                      </a:r>
                      <a:endParaRPr lang="en-US" sz="12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CT/MRI volumes, network weights</a:t>
                      </a:r>
                      <a:endParaRPr lang="en-US" sz="12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57200">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PCIe to host</a:t>
                      </a:r>
                      <a:endParaRPr lang="en-US" sz="12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system RAM</a:t>
                      </a:r>
                      <a:endParaRPr lang="en-US" sz="12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11.8 GB/s measured</a:t>
                      </a:r>
                      <a:endParaRPr lang="en-US" sz="12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Upload scans, download results</a:t>
                      </a:r>
                      <a:endParaRPr lang="en-US" sz="12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44" name="Text 41"/>
          <p:cNvSpPr txBox="1"/>
          <p:nvPr/>
        </p:nvSpPr>
        <p:spPr>
          <a:xfrm>
            <a:off x="6217920" y="4343400"/>
            <a:ext cx="5394960" cy="914400"/>
          </a:xfrm>
          <a:prstGeom prst="rect">
            <a:avLst/>
          </a:prstGeom>
          <a:noFill/>
          <a:ln/>
        </p:spPr>
        <p:txBody>
          <a:bodyPr wrap="square" lIns="0" tIns="0" rIns="0" bIns="0" rtlCol="0" anchor="t"/>
          <a:lstStyle/>
          <a:p>
            <a:pPr indent="0" marL="0">
              <a:buNone/>
            </a:pPr>
            <a:r>
              <a:rPr lang="en-US" sz="1500" i="1" dirty="0">
                <a:solidFill>
                  <a:schemeClr val="tx2"/>
                </a:solidFill>
                <a:latin typeface="Calibri" pitchFamily="34" charset="0"/>
                <a:ea typeface="Calibri" pitchFamily="34" charset="-122"/>
                <a:cs typeface="Calibri" pitchFamily="34" charset="-120"/>
              </a:rPr>
              <a:t>Rule of thumb: keep data on the GPU and reuse it from fast on-chip memory. Every trip to global memory or across PCIe costs time.</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CUDA model: one thread per pixel or voxel</a:t>
            </a:r>
            <a:endParaRPr lang="en-US" sz="3400" dirty="0"/>
          </a:p>
        </p:txBody>
      </p:sp>
      <p:sp>
        <p:nvSpPr>
          <p:cNvPr id="3" name="cuda-panel"/>
          <p:cNvSpPr/>
          <p:nvPr/>
        </p:nvSpPr>
        <p:spPr>
          <a:xfrm>
            <a:off x="548640" y="1371600"/>
            <a:ext cx="5486400" cy="4709160"/>
          </a:xfrm>
          <a:prstGeom prst="roundRect">
            <a:avLst>
              <a:gd name="adj" fmla="val 1553"/>
            </a:avLst>
          </a:prstGeom>
          <a:solidFill>
            <a:schemeClr val="bg1"/>
          </a:solidFill>
          <a:ln w="9525">
            <a:solidFill>
              <a:srgbClr val="D9D9D9"/>
            </a:solidFill>
            <a:prstDash val="solid"/>
          </a:ln>
          <a:effectLst>
            <a:outerShdw sx="100000" sy="100000" kx="0" ky="0" algn="bl" rotWithShape="0" blurRad="76200" dist="19050" dir="5400000">
              <a:srgbClr val="000000">
                <a:alpha val="12000"/>
              </a:srgbClr>
            </a:outerShdw>
          </a:effectLst>
        </p:spPr>
      </p:sp>
      <p:sp>
        <p:nvSpPr>
          <p:cNvPr id="4" name="Text 2"/>
          <p:cNvSpPr txBox="1"/>
          <p:nvPr/>
        </p:nvSpPr>
        <p:spPr>
          <a:xfrm>
            <a:off x="777240" y="1481328"/>
            <a:ext cx="5029200"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Grid  →  Blocks  →  Threads</a:t>
            </a:r>
            <a:endParaRPr lang="en-US" sz="1600" dirty="0"/>
          </a:p>
        </p:txBody>
      </p:sp>
      <p:sp>
        <p:nvSpPr>
          <p:cNvPr id="5" name="blk-0-0"/>
          <p:cNvSpPr/>
          <p:nvPr/>
        </p:nvSpPr>
        <p:spPr>
          <a:xfrm>
            <a:off x="868680" y="2011680"/>
            <a:ext cx="749808" cy="749808"/>
          </a:xfrm>
          <a:prstGeom prst="rect">
            <a:avLst/>
          </a:prstGeom>
          <a:solidFill>
            <a:schemeClr val="bg2"/>
          </a:solidFill>
          <a:ln w="12700">
            <a:solidFill>
              <a:srgbClr val="000000"/>
            </a:solidFill>
            <a:prstDash val="solid"/>
          </a:ln>
        </p:spPr>
      </p:sp>
      <p:sp>
        <p:nvSpPr>
          <p:cNvPr id="6" name="Text 4"/>
          <p:cNvSpPr txBox="1"/>
          <p:nvPr/>
        </p:nvSpPr>
        <p:spPr>
          <a:xfrm>
            <a:off x="868680" y="2011680"/>
            <a:ext cx="749808" cy="749808"/>
          </a:xfrm>
          <a:prstGeom prst="rect">
            <a:avLst/>
          </a:prstGeom>
          <a:noFill/>
          <a:ln/>
        </p:spPr>
        <p:txBody>
          <a:bodyPr wrap="square" lIns="0" tIns="0" rIns="0" bIns="0" rtlCol="0" anchor="ctr"/>
          <a:lstStyle/>
          <a:p>
            <a:pPr algn="ctr" indent="0" marL="0">
              <a:buNone/>
            </a:pPr>
            <a:r>
              <a:rPr lang="en-US" sz="1100" dirty="0">
                <a:solidFill>
                  <a:schemeClr val="tx2"/>
                </a:solidFill>
                <a:latin typeface="Calibri" pitchFamily="34" charset="0"/>
                <a:ea typeface="Calibri" pitchFamily="34" charset="-122"/>
                <a:cs typeface="Calibri" pitchFamily="34" charset="-120"/>
              </a:rPr>
              <a:t>(0,0)</a:t>
            </a:r>
            <a:endParaRPr lang="en-US" sz="1100" dirty="0"/>
          </a:p>
        </p:txBody>
      </p:sp>
      <p:sp>
        <p:nvSpPr>
          <p:cNvPr id="7" name="blk-0-1"/>
          <p:cNvSpPr/>
          <p:nvPr/>
        </p:nvSpPr>
        <p:spPr>
          <a:xfrm>
            <a:off x="1737360" y="2011680"/>
            <a:ext cx="749808" cy="749808"/>
          </a:xfrm>
          <a:prstGeom prst="rect">
            <a:avLst/>
          </a:prstGeom>
          <a:solidFill>
            <a:schemeClr val="bg2"/>
          </a:solidFill>
          <a:ln w="12700">
            <a:solidFill>
              <a:srgbClr val="000000"/>
            </a:solidFill>
            <a:prstDash val="solid"/>
          </a:ln>
        </p:spPr>
      </p:sp>
      <p:sp>
        <p:nvSpPr>
          <p:cNvPr id="8" name="Text 6"/>
          <p:cNvSpPr txBox="1"/>
          <p:nvPr/>
        </p:nvSpPr>
        <p:spPr>
          <a:xfrm>
            <a:off x="1737360" y="2011680"/>
            <a:ext cx="749808" cy="749808"/>
          </a:xfrm>
          <a:prstGeom prst="rect">
            <a:avLst/>
          </a:prstGeom>
          <a:noFill/>
          <a:ln/>
        </p:spPr>
        <p:txBody>
          <a:bodyPr wrap="square" lIns="0" tIns="0" rIns="0" bIns="0" rtlCol="0" anchor="ctr"/>
          <a:lstStyle/>
          <a:p>
            <a:pPr algn="ctr" indent="0" marL="0">
              <a:buNone/>
            </a:pPr>
            <a:r>
              <a:rPr lang="en-US" sz="1100" dirty="0">
                <a:solidFill>
                  <a:schemeClr val="tx2"/>
                </a:solidFill>
                <a:latin typeface="Calibri" pitchFamily="34" charset="0"/>
                <a:ea typeface="Calibri" pitchFamily="34" charset="-122"/>
                <a:cs typeface="Calibri" pitchFamily="34" charset="-120"/>
              </a:rPr>
              <a:t>(1,0)</a:t>
            </a:r>
            <a:endParaRPr lang="en-US" sz="1100" dirty="0"/>
          </a:p>
        </p:txBody>
      </p:sp>
      <p:sp>
        <p:nvSpPr>
          <p:cNvPr id="9" name="blk-0-2"/>
          <p:cNvSpPr/>
          <p:nvPr/>
        </p:nvSpPr>
        <p:spPr>
          <a:xfrm>
            <a:off x="2606040" y="2011680"/>
            <a:ext cx="749808" cy="749808"/>
          </a:xfrm>
          <a:prstGeom prst="rect">
            <a:avLst/>
          </a:prstGeom>
          <a:solidFill>
            <a:schemeClr val="bg2"/>
          </a:solidFill>
          <a:ln w="12700">
            <a:solidFill>
              <a:srgbClr val="000000"/>
            </a:solidFill>
            <a:prstDash val="solid"/>
          </a:ln>
        </p:spPr>
      </p:sp>
      <p:sp>
        <p:nvSpPr>
          <p:cNvPr id="10" name="Text 8"/>
          <p:cNvSpPr txBox="1"/>
          <p:nvPr/>
        </p:nvSpPr>
        <p:spPr>
          <a:xfrm>
            <a:off x="2606040" y="2011680"/>
            <a:ext cx="749808" cy="749808"/>
          </a:xfrm>
          <a:prstGeom prst="rect">
            <a:avLst/>
          </a:prstGeom>
          <a:noFill/>
          <a:ln/>
        </p:spPr>
        <p:txBody>
          <a:bodyPr wrap="square" lIns="0" tIns="0" rIns="0" bIns="0" rtlCol="0" anchor="ctr"/>
          <a:lstStyle/>
          <a:p>
            <a:pPr algn="ctr" indent="0" marL="0">
              <a:buNone/>
            </a:pPr>
            <a:r>
              <a:rPr lang="en-US" sz="1100" dirty="0">
                <a:solidFill>
                  <a:schemeClr val="tx2"/>
                </a:solidFill>
                <a:latin typeface="Calibri" pitchFamily="34" charset="0"/>
                <a:ea typeface="Calibri" pitchFamily="34" charset="-122"/>
                <a:cs typeface="Calibri" pitchFamily="34" charset="-120"/>
              </a:rPr>
              <a:t>(2,0)</a:t>
            </a:r>
            <a:endParaRPr lang="en-US" sz="1100" dirty="0"/>
          </a:p>
        </p:txBody>
      </p:sp>
      <p:sp>
        <p:nvSpPr>
          <p:cNvPr id="11" name="blk-1-0"/>
          <p:cNvSpPr/>
          <p:nvPr/>
        </p:nvSpPr>
        <p:spPr>
          <a:xfrm>
            <a:off x="868680" y="2880360"/>
            <a:ext cx="749808" cy="749808"/>
          </a:xfrm>
          <a:prstGeom prst="rect">
            <a:avLst/>
          </a:prstGeom>
          <a:solidFill>
            <a:schemeClr val="bg2"/>
          </a:solidFill>
          <a:ln w="12700">
            <a:solidFill>
              <a:srgbClr val="000000"/>
            </a:solidFill>
            <a:prstDash val="solid"/>
          </a:ln>
        </p:spPr>
      </p:sp>
      <p:sp>
        <p:nvSpPr>
          <p:cNvPr id="12" name="Text 10"/>
          <p:cNvSpPr txBox="1"/>
          <p:nvPr/>
        </p:nvSpPr>
        <p:spPr>
          <a:xfrm>
            <a:off x="868680" y="2880360"/>
            <a:ext cx="749808" cy="749808"/>
          </a:xfrm>
          <a:prstGeom prst="rect">
            <a:avLst/>
          </a:prstGeom>
          <a:noFill/>
          <a:ln/>
        </p:spPr>
        <p:txBody>
          <a:bodyPr wrap="square" lIns="0" tIns="0" rIns="0" bIns="0" rtlCol="0" anchor="ctr"/>
          <a:lstStyle/>
          <a:p>
            <a:pPr algn="ctr" indent="0" marL="0">
              <a:buNone/>
            </a:pPr>
            <a:r>
              <a:rPr lang="en-US" sz="1100" dirty="0">
                <a:solidFill>
                  <a:schemeClr val="tx2"/>
                </a:solidFill>
                <a:latin typeface="Calibri" pitchFamily="34" charset="0"/>
                <a:ea typeface="Calibri" pitchFamily="34" charset="-122"/>
                <a:cs typeface="Calibri" pitchFamily="34" charset="-120"/>
              </a:rPr>
              <a:t>(0,1)</a:t>
            </a:r>
            <a:endParaRPr lang="en-US" sz="1100" dirty="0"/>
          </a:p>
        </p:txBody>
      </p:sp>
      <p:sp>
        <p:nvSpPr>
          <p:cNvPr id="13" name="blk-1-1"/>
          <p:cNvSpPr/>
          <p:nvPr/>
        </p:nvSpPr>
        <p:spPr>
          <a:xfrm>
            <a:off x="1737360" y="2880360"/>
            <a:ext cx="749808" cy="749808"/>
          </a:xfrm>
          <a:prstGeom prst="rect">
            <a:avLst/>
          </a:prstGeom>
          <a:solidFill>
            <a:schemeClr val="accent2"/>
          </a:solidFill>
          <a:ln w="12700">
            <a:solidFill>
              <a:srgbClr val="000000"/>
            </a:solidFill>
            <a:prstDash val="solid"/>
          </a:ln>
        </p:spPr>
      </p:sp>
      <p:sp>
        <p:nvSpPr>
          <p:cNvPr id="14" name="Text 12"/>
          <p:cNvSpPr txBox="1"/>
          <p:nvPr/>
        </p:nvSpPr>
        <p:spPr>
          <a:xfrm>
            <a:off x="1737360" y="2880360"/>
            <a:ext cx="749808" cy="749808"/>
          </a:xfrm>
          <a:prstGeom prst="rect">
            <a:avLst/>
          </a:prstGeom>
          <a:noFill/>
          <a:ln/>
        </p:spPr>
        <p:txBody>
          <a:bodyPr wrap="square" lIns="0" tIns="0" rIns="0" bIns="0" rtlCol="0" anchor="ctr"/>
          <a:lstStyle/>
          <a:p>
            <a:pPr algn="ctr" indent="0" marL="0">
              <a:buNone/>
            </a:pPr>
            <a:r>
              <a:rPr lang="en-US" sz="1100" dirty="0">
                <a:solidFill>
                  <a:schemeClr val="bg1"/>
                </a:solidFill>
                <a:latin typeface="Calibri" pitchFamily="34" charset="0"/>
                <a:ea typeface="Calibri" pitchFamily="34" charset="-122"/>
                <a:cs typeface="Calibri" pitchFamily="34" charset="-120"/>
              </a:rPr>
              <a:t>(1,1)</a:t>
            </a:r>
            <a:endParaRPr lang="en-US" sz="1100" dirty="0"/>
          </a:p>
        </p:txBody>
      </p:sp>
      <p:sp>
        <p:nvSpPr>
          <p:cNvPr id="15" name="blk-1-2"/>
          <p:cNvSpPr/>
          <p:nvPr/>
        </p:nvSpPr>
        <p:spPr>
          <a:xfrm>
            <a:off x="2606040" y="2880360"/>
            <a:ext cx="749808" cy="749808"/>
          </a:xfrm>
          <a:prstGeom prst="rect">
            <a:avLst/>
          </a:prstGeom>
          <a:solidFill>
            <a:schemeClr val="bg2"/>
          </a:solidFill>
          <a:ln w="12700">
            <a:solidFill>
              <a:srgbClr val="000000"/>
            </a:solidFill>
            <a:prstDash val="solid"/>
          </a:ln>
        </p:spPr>
      </p:sp>
      <p:sp>
        <p:nvSpPr>
          <p:cNvPr id="16" name="Text 14"/>
          <p:cNvSpPr txBox="1"/>
          <p:nvPr/>
        </p:nvSpPr>
        <p:spPr>
          <a:xfrm>
            <a:off x="2606040" y="2880360"/>
            <a:ext cx="749808" cy="749808"/>
          </a:xfrm>
          <a:prstGeom prst="rect">
            <a:avLst/>
          </a:prstGeom>
          <a:noFill/>
          <a:ln/>
        </p:spPr>
        <p:txBody>
          <a:bodyPr wrap="square" lIns="0" tIns="0" rIns="0" bIns="0" rtlCol="0" anchor="ctr"/>
          <a:lstStyle/>
          <a:p>
            <a:pPr algn="ctr" indent="0" marL="0">
              <a:buNone/>
            </a:pPr>
            <a:r>
              <a:rPr lang="en-US" sz="1100" dirty="0">
                <a:solidFill>
                  <a:schemeClr val="tx2"/>
                </a:solidFill>
                <a:latin typeface="Calibri" pitchFamily="34" charset="0"/>
                <a:ea typeface="Calibri" pitchFamily="34" charset="-122"/>
                <a:cs typeface="Calibri" pitchFamily="34" charset="-120"/>
              </a:rPr>
              <a:t>(2,1)</a:t>
            </a:r>
            <a:endParaRPr lang="en-US" sz="1100" dirty="0"/>
          </a:p>
        </p:txBody>
      </p:sp>
      <p:sp>
        <p:nvSpPr>
          <p:cNvPr id="17" name="blk-2-0"/>
          <p:cNvSpPr/>
          <p:nvPr/>
        </p:nvSpPr>
        <p:spPr>
          <a:xfrm>
            <a:off x="868680" y="3749040"/>
            <a:ext cx="749808" cy="749808"/>
          </a:xfrm>
          <a:prstGeom prst="rect">
            <a:avLst/>
          </a:prstGeom>
          <a:solidFill>
            <a:schemeClr val="bg2"/>
          </a:solidFill>
          <a:ln w="12700">
            <a:solidFill>
              <a:srgbClr val="000000"/>
            </a:solidFill>
            <a:prstDash val="solid"/>
          </a:ln>
        </p:spPr>
      </p:sp>
      <p:sp>
        <p:nvSpPr>
          <p:cNvPr id="18" name="Text 16"/>
          <p:cNvSpPr txBox="1"/>
          <p:nvPr/>
        </p:nvSpPr>
        <p:spPr>
          <a:xfrm>
            <a:off x="868680" y="3749040"/>
            <a:ext cx="749808" cy="749808"/>
          </a:xfrm>
          <a:prstGeom prst="rect">
            <a:avLst/>
          </a:prstGeom>
          <a:noFill/>
          <a:ln/>
        </p:spPr>
        <p:txBody>
          <a:bodyPr wrap="square" lIns="0" tIns="0" rIns="0" bIns="0" rtlCol="0" anchor="ctr"/>
          <a:lstStyle/>
          <a:p>
            <a:pPr algn="ctr" indent="0" marL="0">
              <a:buNone/>
            </a:pPr>
            <a:r>
              <a:rPr lang="en-US" sz="1100" dirty="0">
                <a:solidFill>
                  <a:schemeClr val="tx2"/>
                </a:solidFill>
                <a:latin typeface="Calibri" pitchFamily="34" charset="0"/>
                <a:ea typeface="Calibri" pitchFamily="34" charset="-122"/>
                <a:cs typeface="Calibri" pitchFamily="34" charset="-120"/>
              </a:rPr>
              <a:t>(0,2)</a:t>
            </a:r>
            <a:endParaRPr lang="en-US" sz="1100" dirty="0"/>
          </a:p>
        </p:txBody>
      </p:sp>
      <p:sp>
        <p:nvSpPr>
          <p:cNvPr id="19" name="blk-2-1"/>
          <p:cNvSpPr/>
          <p:nvPr/>
        </p:nvSpPr>
        <p:spPr>
          <a:xfrm>
            <a:off x="1737360" y="3749040"/>
            <a:ext cx="749808" cy="749808"/>
          </a:xfrm>
          <a:prstGeom prst="rect">
            <a:avLst/>
          </a:prstGeom>
          <a:solidFill>
            <a:schemeClr val="bg2"/>
          </a:solidFill>
          <a:ln w="12700">
            <a:solidFill>
              <a:srgbClr val="000000"/>
            </a:solidFill>
            <a:prstDash val="solid"/>
          </a:ln>
        </p:spPr>
      </p:sp>
      <p:sp>
        <p:nvSpPr>
          <p:cNvPr id="20" name="Text 18"/>
          <p:cNvSpPr txBox="1"/>
          <p:nvPr/>
        </p:nvSpPr>
        <p:spPr>
          <a:xfrm>
            <a:off x="1737360" y="3749040"/>
            <a:ext cx="749808" cy="749808"/>
          </a:xfrm>
          <a:prstGeom prst="rect">
            <a:avLst/>
          </a:prstGeom>
          <a:noFill/>
          <a:ln/>
        </p:spPr>
        <p:txBody>
          <a:bodyPr wrap="square" lIns="0" tIns="0" rIns="0" bIns="0" rtlCol="0" anchor="ctr"/>
          <a:lstStyle/>
          <a:p>
            <a:pPr algn="ctr" indent="0" marL="0">
              <a:buNone/>
            </a:pPr>
            <a:r>
              <a:rPr lang="en-US" sz="1100" dirty="0">
                <a:solidFill>
                  <a:schemeClr val="tx2"/>
                </a:solidFill>
                <a:latin typeface="Calibri" pitchFamily="34" charset="0"/>
                <a:ea typeface="Calibri" pitchFamily="34" charset="-122"/>
                <a:cs typeface="Calibri" pitchFamily="34" charset="-120"/>
              </a:rPr>
              <a:t>(1,2)</a:t>
            </a:r>
            <a:endParaRPr lang="en-US" sz="1100" dirty="0"/>
          </a:p>
        </p:txBody>
      </p:sp>
      <p:sp>
        <p:nvSpPr>
          <p:cNvPr id="21" name="blk-2-2"/>
          <p:cNvSpPr/>
          <p:nvPr/>
        </p:nvSpPr>
        <p:spPr>
          <a:xfrm>
            <a:off x="2606040" y="3749040"/>
            <a:ext cx="749808" cy="749808"/>
          </a:xfrm>
          <a:prstGeom prst="rect">
            <a:avLst/>
          </a:prstGeom>
          <a:solidFill>
            <a:schemeClr val="bg2"/>
          </a:solidFill>
          <a:ln w="12700">
            <a:solidFill>
              <a:srgbClr val="000000"/>
            </a:solidFill>
            <a:prstDash val="solid"/>
          </a:ln>
        </p:spPr>
      </p:sp>
      <p:sp>
        <p:nvSpPr>
          <p:cNvPr id="22" name="Text 20"/>
          <p:cNvSpPr txBox="1"/>
          <p:nvPr/>
        </p:nvSpPr>
        <p:spPr>
          <a:xfrm>
            <a:off x="2606040" y="3749040"/>
            <a:ext cx="749808" cy="749808"/>
          </a:xfrm>
          <a:prstGeom prst="rect">
            <a:avLst/>
          </a:prstGeom>
          <a:noFill/>
          <a:ln/>
        </p:spPr>
        <p:txBody>
          <a:bodyPr wrap="square" lIns="0" tIns="0" rIns="0" bIns="0" rtlCol="0" anchor="ctr"/>
          <a:lstStyle/>
          <a:p>
            <a:pPr algn="ctr" indent="0" marL="0">
              <a:buNone/>
            </a:pPr>
            <a:r>
              <a:rPr lang="en-US" sz="1100" dirty="0">
                <a:solidFill>
                  <a:schemeClr val="tx2"/>
                </a:solidFill>
                <a:latin typeface="Calibri" pitchFamily="34" charset="0"/>
                <a:ea typeface="Calibri" pitchFamily="34" charset="-122"/>
                <a:cs typeface="Calibri" pitchFamily="34" charset="-120"/>
              </a:rPr>
              <a:t>(2,2)</a:t>
            </a:r>
            <a:endParaRPr lang="en-US" sz="1100" dirty="0"/>
          </a:p>
        </p:txBody>
      </p:sp>
      <p:sp>
        <p:nvSpPr>
          <p:cNvPr id="23" name="Text 21"/>
          <p:cNvSpPr txBox="1"/>
          <p:nvPr/>
        </p:nvSpPr>
        <p:spPr>
          <a:xfrm>
            <a:off x="868680" y="4663440"/>
            <a:ext cx="2560320" cy="274320"/>
          </a:xfrm>
          <a:prstGeom prst="rect">
            <a:avLst/>
          </a:prstGeom>
          <a:noFill/>
          <a:ln/>
        </p:spPr>
        <p:txBody>
          <a:bodyPr wrap="square" lIns="0" tIns="0" rIns="0" bIns="0" rtlCol="0" anchor="t"/>
          <a:lstStyle/>
          <a:p>
            <a:pPr algn="ctr" indent="0" marL="0">
              <a:buNone/>
            </a:pPr>
            <a:r>
              <a:rPr lang="en-US" sz="1200" dirty="0">
                <a:solidFill>
                  <a:srgbClr val="595959"/>
                </a:solidFill>
                <a:latin typeface="Calibri" pitchFamily="34" charset="0"/>
                <a:ea typeface="Calibri" pitchFamily="34" charset="-122"/>
                <a:cs typeface="Calibri" pitchFamily="34" charset="-120"/>
              </a:rPr>
              <a:t>Grid of thread blocks</a:t>
            </a:r>
            <a:endParaRPr lang="en-US" sz="1200" dirty="0"/>
          </a:p>
        </p:txBody>
      </p:sp>
      <p:sp>
        <p:nvSpPr>
          <p:cNvPr id="24" name="arrow-blk"/>
          <p:cNvSpPr/>
          <p:nvPr/>
        </p:nvSpPr>
        <p:spPr>
          <a:xfrm>
            <a:off x="3520440" y="3246120"/>
            <a:ext cx="548640" cy="0"/>
          </a:xfrm>
          <a:prstGeom prst="line">
            <a:avLst/>
          </a:prstGeom>
          <a:noFill/>
          <a:ln w="31750">
            <a:solidFill>
              <a:srgbClr val="404040"/>
            </a:solidFill>
            <a:prstDash val="solid"/>
            <a:tailEnd type="triangle"/>
          </a:ln>
        </p:spPr>
      </p:sp>
      <p:sp>
        <p:nvSpPr>
          <p:cNvPr id="25" name="thr-0-0"/>
          <p:cNvSpPr/>
          <p:nvPr/>
        </p:nvSpPr>
        <p:spPr>
          <a:xfrm>
            <a:off x="4206240" y="2423160"/>
            <a:ext cx="182880" cy="182880"/>
          </a:xfrm>
          <a:prstGeom prst="ellipse">
            <a:avLst/>
          </a:prstGeom>
          <a:solidFill>
            <a:srgbClr val="A6A6A6"/>
          </a:solidFill>
          <a:ln/>
        </p:spPr>
      </p:sp>
      <p:sp>
        <p:nvSpPr>
          <p:cNvPr id="26" name="thr-0-1"/>
          <p:cNvSpPr/>
          <p:nvPr/>
        </p:nvSpPr>
        <p:spPr>
          <a:xfrm>
            <a:off x="4480560" y="2423160"/>
            <a:ext cx="182880" cy="182880"/>
          </a:xfrm>
          <a:prstGeom prst="ellipse">
            <a:avLst/>
          </a:prstGeom>
          <a:solidFill>
            <a:srgbClr val="A6A6A6"/>
          </a:solidFill>
          <a:ln/>
        </p:spPr>
      </p:sp>
      <p:sp>
        <p:nvSpPr>
          <p:cNvPr id="27" name="thr-0-2"/>
          <p:cNvSpPr/>
          <p:nvPr/>
        </p:nvSpPr>
        <p:spPr>
          <a:xfrm>
            <a:off x="4754880" y="2423160"/>
            <a:ext cx="182880" cy="182880"/>
          </a:xfrm>
          <a:prstGeom prst="ellipse">
            <a:avLst/>
          </a:prstGeom>
          <a:solidFill>
            <a:srgbClr val="A6A6A6"/>
          </a:solidFill>
          <a:ln/>
        </p:spPr>
      </p:sp>
      <p:sp>
        <p:nvSpPr>
          <p:cNvPr id="28" name="thr-0-3"/>
          <p:cNvSpPr/>
          <p:nvPr/>
        </p:nvSpPr>
        <p:spPr>
          <a:xfrm>
            <a:off x="5029200" y="2423160"/>
            <a:ext cx="182880" cy="182880"/>
          </a:xfrm>
          <a:prstGeom prst="ellipse">
            <a:avLst/>
          </a:prstGeom>
          <a:solidFill>
            <a:srgbClr val="A6A6A6"/>
          </a:solidFill>
          <a:ln/>
        </p:spPr>
      </p:sp>
      <p:sp>
        <p:nvSpPr>
          <p:cNvPr id="29" name="thr-0-4"/>
          <p:cNvSpPr/>
          <p:nvPr/>
        </p:nvSpPr>
        <p:spPr>
          <a:xfrm>
            <a:off x="5303520" y="2423160"/>
            <a:ext cx="182880" cy="182880"/>
          </a:xfrm>
          <a:prstGeom prst="ellipse">
            <a:avLst/>
          </a:prstGeom>
          <a:solidFill>
            <a:srgbClr val="A6A6A6"/>
          </a:solidFill>
          <a:ln/>
        </p:spPr>
      </p:sp>
      <p:sp>
        <p:nvSpPr>
          <p:cNvPr id="30" name="thr-0-5"/>
          <p:cNvSpPr/>
          <p:nvPr/>
        </p:nvSpPr>
        <p:spPr>
          <a:xfrm>
            <a:off x="5577840" y="2423160"/>
            <a:ext cx="182880" cy="182880"/>
          </a:xfrm>
          <a:prstGeom prst="ellipse">
            <a:avLst/>
          </a:prstGeom>
          <a:solidFill>
            <a:srgbClr val="A6A6A6"/>
          </a:solidFill>
          <a:ln/>
        </p:spPr>
      </p:sp>
      <p:sp>
        <p:nvSpPr>
          <p:cNvPr id="31" name="thr-1-0"/>
          <p:cNvSpPr/>
          <p:nvPr/>
        </p:nvSpPr>
        <p:spPr>
          <a:xfrm>
            <a:off x="4206240" y="2697480"/>
            <a:ext cx="182880" cy="182880"/>
          </a:xfrm>
          <a:prstGeom prst="ellipse">
            <a:avLst/>
          </a:prstGeom>
          <a:solidFill>
            <a:schemeClr val="accent1"/>
          </a:solidFill>
          <a:ln/>
        </p:spPr>
      </p:sp>
      <p:sp>
        <p:nvSpPr>
          <p:cNvPr id="32" name="thr-1-1"/>
          <p:cNvSpPr/>
          <p:nvPr/>
        </p:nvSpPr>
        <p:spPr>
          <a:xfrm>
            <a:off x="4480560" y="2697480"/>
            <a:ext cx="182880" cy="182880"/>
          </a:xfrm>
          <a:prstGeom prst="ellipse">
            <a:avLst/>
          </a:prstGeom>
          <a:solidFill>
            <a:schemeClr val="accent1"/>
          </a:solidFill>
          <a:ln/>
        </p:spPr>
      </p:sp>
      <p:sp>
        <p:nvSpPr>
          <p:cNvPr id="33" name="thr-1-2"/>
          <p:cNvSpPr/>
          <p:nvPr/>
        </p:nvSpPr>
        <p:spPr>
          <a:xfrm>
            <a:off x="4754880" y="2697480"/>
            <a:ext cx="182880" cy="182880"/>
          </a:xfrm>
          <a:prstGeom prst="ellipse">
            <a:avLst/>
          </a:prstGeom>
          <a:solidFill>
            <a:schemeClr val="accent1"/>
          </a:solidFill>
          <a:ln/>
        </p:spPr>
      </p:sp>
      <p:sp>
        <p:nvSpPr>
          <p:cNvPr id="34" name="thr-1-3"/>
          <p:cNvSpPr/>
          <p:nvPr/>
        </p:nvSpPr>
        <p:spPr>
          <a:xfrm>
            <a:off x="5029200" y="2697480"/>
            <a:ext cx="182880" cy="182880"/>
          </a:xfrm>
          <a:prstGeom prst="ellipse">
            <a:avLst/>
          </a:prstGeom>
          <a:solidFill>
            <a:schemeClr val="accent1"/>
          </a:solidFill>
          <a:ln/>
        </p:spPr>
      </p:sp>
      <p:sp>
        <p:nvSpPr>
          <p:cNvPr id="35" name="thr-1-4"/>
          <p:cNvSpPr/>
          <p:nvPr/>
        </p:nvSpPr>
        <p:spPr>
          <a:xfrm>
            <a:off x="5303520" y="2697480"/>
            <a:ext cx="182880" cy="182880"/>
          </a:xfrm>
          <a:prstGeom prst="ellipse">
            <a:avLst/>
          </a:prstGeom>
          <a:solidFill>
            <a:schemeClr val="accent1"/>
          </a:solidFill>
          <a:ln/>
        </p:spPr>
      </p:sp>
      <p:sp>
        <p:nvSpPr>
          <p:cNvPr id="36" name="thr-1-5"/>
          <p:cNvSpPr/>
          <p:nvPr/>
        </p:nvSpPr>
        <p:spPr>
          <a:xfrm>
            <a:off x="5577840" y="2697480"/>
            <a:ext cx="182880" cy="182880"/>
          </a:xfrm>
          <a:prstGeom prst="ellipse">
            <a:avLst/>
          </a:prstGeom>
          <a:solidFill>
            <a:schemeClr val="accent1"/>
          </a:solidFill>
          <a:ln/>
        </p:spPr>
      </p:sp>
      <p:sp>
        <p:nvSpPr>
          <p:cNvPr id="37" name="thr-2-0"/>
          <p:cNvSpPr/>
          <p:nvPr/>
        </p:nvSpPr>
        <p:spPr>
          <a:xfrm>
            <a:off x="4206240" y="2971800"/>
            <a:ext cx="182880" cy="182880"/>
          </a:xfrm>
          <a:prstGeom prst="ellipse">
            <a:avLst/>
          </a:prstGeom>
          <a:solidFill>
            <a:schemeClr val="accent1"/>
          </a:solidFill>
          <a:ln/>
        </p:spPr>
      </p:sp>
      <p:sp>
        <p:nvSpPr>
          <p:cNvPr id="38" name="thr-2-1"/>
          <p:cNvSpPr/>
          <p:nvPr/>
        </p:nvSpPr>
        <p:spPr>
          <a:xfrm>
            <a:off x="4480560" y="2971800"/>
            <a:ext cx="182880" cy="182880"/>
          </a:xfrm>
          <a:prstGeom prst="ellipse">
            <a:avLst/>
          </a:prstGeom>
          <a:solidFill>
            <a:schemeClr val="accent1"/>
          </a:solidFill>
          <a:ln/>
        </p:spPr>
      </p:sp>
      <p:sp>
        <p:nvSpPr>
          <p:cNvPr id="39" name="thr-2-2"/>
          <p:cNvSpPr/>
          <p:nvPr/>
        </p:nvSpPr>
        <p:spPr>
          <a:xfrm>
            <a:off x="4754880" y="2971800"/>
            <a:ext cx="182880" cy="182880"/>
          </a:xfrm>
          <a:prstGeom prst="ellipse">
            <a:avLst/>
          </a:prstGeom>
          <a:solidFill>
            <a:schemeClr val="accent1"/>
          </a:solidFill>
          <a:ln/>
        </p:spPr>
      </p:sp>
      <p:sp>
        <p:nvSpPr>
          <p:cNvPr id="40" name="thr-2-3"/>
          <p:cNvSpPr/>
          <p:nvPr/>
        </p:nvSpPr>
        <p:spPr>
          <a:xfrm>
            <a:off x="5029200" y="2971800"/>
            <a:ext cx="182880" cy="182880"/>
          </a:xfrm>
          <a:prstGeom prst="ellipse">
            <a:avLst/>
          </a:prstGeom>
          <a:solidFill>
            <a:schemeClr val="accent1"/>
          </a:solidFill>
          <a:ln/>
        </p:spPr>
      </p:sp>
      <p:sp>
        <p:nvSpPr>
          <p:cNvPr id="41" name="thr-2-4"/>
          <p:cNvSpPr/>
          <p:nvPr/>
        </p:nvSpPr>
        <p:spPr>
          <a:xfrm>
            <a:off x="5303520" y="2971800"/>
            <a:ext cx="182880" cy="182880"/>
          </a:xfrm>
          <a:prstGeom prst="ellipse">
            <a:avLst/>
          </a:prstGeom>
          <a:solidFill>
            <a:schemeClr val="accent1"/>
          </a:solidFill>
          <a:ln/>
        </p:spPr>
      </p:sp>
      <p:sp>
        <p:nvSpPr>
          <p:cNvPr id="42" name="thr-2-5"/>
          <p:cNvSpPr/>
          <p:nvPr/>
        </p:nvSpPr>
        <p:spPr>
          <a:xfrm>
            <a:off x="5577840" y="2971800"/>
            <a:ext cx="182880" cy="182880"/>
          </a:xfrm>
          <a:prstGeom prst="ellipse">
            <a:avLst/>
          </a:prstGeom>
          <a:solidFill>
            <a:schemeClr val="accent1"/>
          </a:solidFill>
          <a:ln/>
        </p:spPr>
      </p:sp>
      <p:sp>
        <p:nvSpPr>
          <p:cNvPr id="43" name="thr-3-0"/>
          <p:cNvSpPr/>
          <p:nvPr/>
        </p:nvSpPr>
        <p:spPr>
          <a:xfrm>
            <a:off x="4206240" y="3246120"/>
            <a:ext cx="182880" cy="182880"/>
          </a:xfrm>
          <a:prstGeom prst="ellipse">
            <a:avLst/>
          </a:prstGeom>
          <a:solidFill>
            <a:schemeClr val="accent1"/>
          </a:solidFill>
          <a:ln/>
        </p:spPr>
      </p:sp>
      <p:sp>
        <p:nvSpPr>
          <p:cNvPr id="44" name="thr-3-1"/>
          <p:cNvSpPr/>
          <p:nvPr/>
        </p:nvSpPr>
        <p:spPr>
          <a:xfrm>
            <a:off x="4480560" y="3246120"/>
            <a:ext cx="182880" cy="182880"/>
          </a:xfrm>
          <a:prstGeom prst="ellipse">
            <a:avLst/>
          </a:prstGeom>
          <a:solidFill>
            <a:schemeClr val="accent1"/>
          </a:solidFill>
          <a:ln/>
        </p:spPr>
      </p:sp>
      <p:sp>
        <p:nvSpPr>
          <p:cNvPr id="45" name="thr-3-2"/>
          <p:cNvSpPr/>
          <p:nvPr/>
        </p:nvSpPr>
        <p:spPr>
          <a:xfrm>
            <a:off x="4754880" y="3246120"/>
            <a:ext cx="182880" cy="182880"/>
          </a:xfrm>
          <a:prstGeom prst="ellipse">
            <a:avLst/>
          </a:prstGeom>
          <a:solidFill>
            <a:schemeClr val="accent1"/>
          </a:solidFill>
          <a:ln/>
        </p:spPr>
      </p:sp>
      <p:sp>
        <p:nvSpPr>
          <p:cNvPr id="46" name="thr-3-3"/>
          <p:cNvSpPr/>
          <p:nvPr/>
        </p:nvSpPr>
        <p:spPr>
          <a:xfrm>
            <a:off x="5029200" y="3246120"/>
            <a:ext cx="182880" cy="182880"/>
          </a:xfrm>
          <a:prstGeom prst="ellipse">
            <a:avLst/>
          </a:prstGeom>
          <a:solidFill>
            <a:schemeClr val="accent1"/>
          </a:solidFill>
          <a:ln/>
        </p:spPr>
      </p:sp>
      <p:sp>
        <p:nvSpPr>
          <p:cNvPr id="47" name="thr-3-4"/>
          <p:cNvSpPr/>
          <p:nvPr/>
        </p:nvSpPr>
        <p:spPr>
          <a:xfrm>
            <a:off x="5303520" y="3246120"/>
            <a:ext cx="182880" cy="182880"/>
          </a:xfrm>
          <a:prstGeom prst="ellipse">
            <a:avLst/>
          </a:prstGeom>
          <a:solidFill>
            <a:schemeClr val="accent1"/>
          </a:solidFill>
          <a:ln/>
        </p:spPr>
      </p:sp>
      <p:sp>
        <p:nvSpPr>
          <p:cNvPr id="48" name="thr-3-5"/>
          <p:cNvSpPr/>
          <p:nvPr/>
        </p:nvSpPr>
        <p:spPr>
          <a:xfrm>
            <a:off x="5577840" y="3246120"/>
            <a:ext cx="182880" cy="182880"/>
          </a:xfrm>
          <a:prstGeom prst="ellipse">
            <a:avLst/>
          </a:prstGeom>
          <a:solidFill>
            <a:schemeClr val="accent1"/>
          </a:solidFill>
          <a:ln/>
        </p:spPr>
      </p:sp>
      <p:sp>
        <p:nvSpPr>
          <p:cNvPr id="49" name="thr-4-0"/>
          <p:cNvSpPr/>
          <p:nvPr/>
        </p:nvSpPr>
        <p:spPr>
          <a:xfrm>
            <a:off x="4206240" y="3520440"/>
            <a:ext cx="182880" cy="182880"/>
          </a:xfrm>
          <a:prstGeom prst="ellipse">
            <a:avLst/>
          </a:prstGeom>
          <a:solidFill>
            <a:schemeClr val="accent1"/>
          </a:solidFill>
          <a:ln/>
        </p:spPr>
      </p:sp>
      <p:sp>
        <p:nvSpPr>
          <p:cNvPr id="50" name="thr-4-1"/>
          <p:cNvSpPr/>
          <p:nvPr/>
        </p:nvSpPr>
        <p:spPr>
          <a:xfrm>
            <a:off x="4480560" y="3520440"/>
            <a:ext cx="182880" cy="182880"/>
          </a:xfrm>
          <a:prstGeom prst="ellipse">
            <a:avLst/>
          </a:prstGeom>
          <a:solidFill>
            <a:schemeClr val="accent1"/>
          </a:solidFill>
          <a:ln/>
        </p:spPr>
      </p:sp>
      <p:sp>
        <p:nvSpPr>
          <p:cNvPr id="51" name="thr-4-2"/>
          <p:cNvSpPr/>
          <p:nvPr/>
        </p:nvSpPr>
        <p:spPr>
          <a:xfrm>
            <a:off x="4754880" y="3520440"/>
            <a:ext cx="182880" cy="182880"/>
          </a:xfrm>
          <a:prstGeom prst="ellipse">
            <a:avLst/>
          </a:prstGeom>
          <a:solidFill>
            <a:schemeClr val="accent1"/>
          </a:solidFill>
          <a:ln/>
        </p:spPr>
      </p:sp>
      <p:sp>
        <p:nvSpPr>
          <p:cNvPr id="52" name="thr-4-3"/>
          <p:cNvSpPr/>
          <p:nvPr/>
        </p:nvSpPr>
        <p:spPr>
          <a:xfrm>
            <a:off x="5029200" y="3520440"/>
            <a:ext cx="182880" cy="182880"/>
          </a:xfrm>
          <a:prstGeom prst="ellipse">
            <a:avLst/>
          </a:prstGeom>
          <a:solidFill>
            <a:schemeClr val="accent1"/>
          </a:solidFill>
          <a:ln/>
        </p:spPr>
      </p:sp>
      <p:sp>
        <p:nvSpPr>
          <p:cNvPr id="53" name="thr-4-4"/>
          <p:cNvSpPr/>
          <p:nvPr/>
        </p:nvSpPr>
        <p:spPr>
          <a:xfrm>
            <a:off x="5303520" y="3520440"/>
            <a:ext cx="182880" cy="182880"/>
          </a:xfrm>
          <a:prstGeom prst="ellipse">
            <a:avLst/>
          </a:prstGeom>
          <a:solidFill>
            <a:schemeClr val="accent1"/>
          </a:solidFill>
          <a:ln/>
        </p:spPr>
      </p:sp>
      <p:sp>
        <p:nvSpPr>
          <p:cNvPr id="54" name="thr-4-5"/>
          <p:cNvSpPr/>
          <p:nvPr/>
        </p:nvSpPr>
        <p:spPr>
          <a:xfrm>
            <a:off x="5577840" y="3520440"/>
            <a:ext cx="182880" cy="182880"/>
          </a:xfrm>
          <a:prstGeom prst="ellipse">
            <a:avLst/>
          </a:prstGeom>
          <a:solidFill>
            <a:schemeClr val="accent1"/>
          </a:solidFill>
          <a:ln/>
        </p:spPr>
      </p:sp>
      <p:sp>
        <p:nvSpPr>
          <p:cNvPr id="55" name="thr-5-0"/>
          <p:cNvSpPr/>
          <p:nvPr/>
        </p:nvSpPr>
        <p:spPr>
          <a:xfrm>
            <a:off x="4206240" y="3794760"/>
            <a:ext cx="182880" cy="182880"/>
          </a:xfrm>
          <a:prstGeom prst="ellipse">
            <a:avLst/>
          </a:prstGeom>
          <a:solidFill>
            <a:schemeClr val="accent1"/>
          </a:solidFill>
          <a:ln/>
        </p:spPr>
      </p:sp>
      <p:sp>
        <p:nvSpPr>
          <p:cNvPr id="56" name="thr-5-1"/>
          <p:cNvSpPr/>
          <p:nvPr/>
        </p:nvSpPr>
        <p:spPr>
          <a:xfrm>
            <a:off x="4480560" y="3794760"/>
            <a:ext cx="182880" cy="182880"/>
          </a:xfrm>
          <a:prstGeom prst="ellipse">
            <a:avLst/>
          </a:prstGeom>
          <a:solidFill>
            <a:schemeClr val="accent1"/>
          </a:solidFill>
          <a:ln/>
        </p:spPr>
      </p:sp>
      <p:sp>
        <p:nvSpPr>
          <p:cNvPr id="57" name="thr-5-2"/>
          <p:cNvSpPr/>
          <p:nvPr/>
        </p:nvSpPr>
        <p:spPr>
          <a:xfrm>
            <a:off x="4754880" y="3794760"/>
            <a:ext cx="182880" cy="182880"/>
          </a:xfrm>
          <a:prstGeom prst="ellipse">
            <a:avLst/>
          </a:prstGeom>
          <a:solidFill>
            <a:schemeClr val="accent1"/>
          </a:solidFill>
          <a:ln/>
        </p:spPr>
      </p:sp>
      <p:sp>
        <p:nvSpPr>
          <p:cNvPr id="58" name="thr-5-3"/>
          <p:cNvSpPr/>
          <p:nvPr/>
        </p:nvSpPr>
        <p:spPr>
          <a:xfrm>
            <a:off x="5029200" y="3794760"/>
            <a:ext cx="182880" cy="182880"/>
          </a:xfrm>
          <a:prstGeom prst="ellipse">
            <a:avLst/>
          </a:prstGeom>
          <a:solidFill>
            <a:schemeClr val="accent1"/>
          </a:solidFill>
          <a:ln/>
        </p:spPr>
      </p:sp>
      <p:sp>
        <p:nvSpPr>
          <p:cNvPr id="59" name="thr-5-4"/>
          <p:cNvSpPr/>
          <p:nvPr/>
        </p:nvSpPr>
        <p:spPr>
          <a:xfrm>
            <a:off x="5303520" y="3794760"/>
            <a:ext cx="182880" cy="182880"/>
          </a:xfrm>
          <a:prstGeom prst="ellipse">
            <a:avLst/>
          </a:prstGeom>
          <a:solidFill>
            <a:schemeClr val="accent1"/>
          </a:solidFill>
          <a:ln/>
        </p:spPr>
      </p:sp>
      <p:sp>
        <p:nvSpPr>
          <p:cNvPr id="60" name="thr-5-5"/>
          <p:cNvSpPr/>
          <p:nvPr/>
        </p:nvSpPr>
        <p:spPr>
          <a:xfrm>
            <a:off x="5577840" y="3794760"/>
            <a:ext cx="182880" cy="182880"/>
          </a:xfrm>
          <a:prstGeom prst="ellipse">
            <a:avLst/>
          </a:prstGeom>
          <a:solidFill>
            <a:schemeClr val="accent1"/>
          </a:solidFill>
          <a:ln/>
        </p:spPr>
      </p:sp>
      <p:sp>
        <p:nvSpPr>
          <p:cNvPr id="61" name="Text 59"/>
          <p:cNvSpPr txBox="1"/>
          <p:nvPr/>
        </p:nvSpPr>
        <p:spPr>
          <a:xfrm>
            <a:off x="4069080" y="4160520"/>
            <a:ext cx="1828800" cy="822960"/>
          </a:xfrm>
          <a:prstGeom prst="rect">
            <a:avLst/>
          </a:prstGeom>
          <a:noFill/>
          <a:ln/>
        </p:spPr>
        <p:txBody>
          <a:bodyPr wrap="square" lIns="0" tIns="0" rIns="0" bIns="0" rtlCol="0" anchor="t"/>
          <a:lstStyle/>
          <a:p>
            <a:pPr indent="0" marL="0">
              <a:buNone/>
            </a:pPr>
            <a:r>
              <a:rPr lang="en-US" sz="1100" dirty="0">
                <a:solidFill>
                  <a:srgbClr val="595959"/>
                </a:solidFill>
                <a:latin typeface="Calibri" pitchFamily="34" charset="0"/>
                <a:ea typeface="Calibri" pitchFamily="34" charset="-122"/>
                <a:cs typeface="Calibri" pitchFamily="34" charset="-120"/>
              </a:rPr>
              <a:t>One block: threads share fast memory; 32 threads = 1 warp (light row)</a:t>
            </a:r>
            <a:endParaRPr lang="en-US" sz="1100" dirty="0"/>
          </a:p>
        </p:txBody>
      </p:sp>
      <p:sp>
        <p:nvSpPr>
          <p:cNvPr id="62" name="code-bg"/>
          <p:cNvSpPr/>
          <p:nvPr/>
        </p:nvSpPr>
        <p:spPr>
          <a:xfrm>
            <a:off x="777240" y="4983480"/>
            <a:ext cx="5029200" cy="960120"/>
          </a:xfrm>
          <a:prstGeom prst="roundRect">
            <a:avLst>
              <a:gd name="adj" fmla="val 5714"/>
            </a:avLst>
          </a:prstGeom>
          <a:solidFill>
            <a:srgbClr val="1A1A1A"/>
          </a:solidFill>
          <a:ln/>
        </p:spPr>
      </p:sp>
      <p:sp>
        <p:nvSpPr>
          <p:cNvPr id="63" name="Text 61"/>
          <p:cNvSpPr txBox="1"/>
          <p:nvPr/>
        </p:nvSpPr>
        <p:spPr>
          <a:xfrm>
            <a:off x="960120" y="5120640"/>
            <a:ext cx="4663440" cy="685800"/>
          </a:xfrm>
          <a:prstGeom prst="rect">
            <a:avLst/>
          </a:prstGeom>
          <a:noFill/>
          <a:ln/>
        </p:spPr>
        <p:txBody>
          <a:bodyPr wrap="square" lIns="0" tIns="0" rIns="0" bIns="0" rtlCol="0" anchor="t"/>
          <a:lstStyle/>
          <a:p>
            <a:pPr indent="0" marL="0">
              <a:buNone/>
            </a:pPr>
            <a:r>
              <a:rPr lang="en-US" sz="1000" dirty="0">
                <a:solidFill>
                  <a:srgbClr val="F2F2F2"/>
                </a:solidFill>
                <a:latin typeface="Courier New" pitchFamily="34" charset="0"/>
                <a:ea typeface="Courier New" pitchFamily="34" charset="-122"/>
                <a:cs typeface="Courier New" pitchFamily="34" charset="-120"/>
              </a:rPr>
              <a:t>int col = blockIdx.x*blockDim.x + threadIdx.x;</a:t>
            </a:r>
            <a:endParaRPr lang="en-US" sz="1000" dirty="0"/>
          </a:p>
          <a:p>
            <a:pPr indent="0" marL="0">
              <a:buNone/>
            </a:pPr>
            <a:r>
              <a:rPr lang="en-US" sz="1000" dirty="0">
                <a:solidFill>
                  <a:srgbClr val="F2F2F2"/>
                </a:solidFill>
                <a:latin typeface="Courier New" pitchFamily="34" charset="0"/>
                <a:ea typeface="Courier New" pitchFamily="34" charset="-122"/>
                <a:cs typeface="Courier New" pitchFamily="34" charset="-120"/>
              </a:rPr>
              <a:t>int row = blockIdx.y*blockDim.y + threadIdx.y;</a:t>
            </a:r>
            <a:endParaRPr lang="en-US" sz="1000" dirty="0"/>
          </a:p>
          <a:p>
            <a:pPr indent="0" marL="0">
              <a:buNone/>
            </a:pPr>
            <a:r>
              <a:rPr lang="en-US" sz="1000" dirty="0">
                <a:solidFill>
                  <a:srgbClr val="F2F2F2"/>
                </a:solidFill>
                <a:latin typeface="Courier New" pitchFamily="34" charset="0"/>
                <a:ea typeface="Courier New" pitchFamily="34" charset="-122"/>
                <a:cs typeface="Courier New" pitchFamily="34" charset="-120"/>
              </a:rPr>
              <a:t>int s   = blockIdx.z;   // slice</a:t>
            </a:r>
            <a:endParaRPr lang="en-US" sz="1000" dirty="0"/>
          </a:p>
          <a:p>
            <a:pPr indent="0" marL="0">
              <a:buNone/>
            </a:pPr>
            <a:r>
              <a:rPr lang="en-US" sz="1000" dirty="0">
                <a:solidFill>
                  <a:srgbClr val="F2F2F2"/>
                </a:solidFill>
                <a:latin typeface="Courier New" pitchFamily="34" charset="0"/>
                <a:ea typeface="Courier New" pitchFamily="34" charset="-122"/>
                <a:cs typeface="Courier New" pitchFamily="34" charset="-120"/>
              </a:rPr>
              <a:t>img[s][row][col] = backproject(...);</a:t>
            </a:r>
            <a:endParaRPr lang="en-US" sz="1000" dirty="0"/>
          </a:p>
        </p:txBody>
      </p:sp>
      <p:sp>
        <p:nvSpPr>
          <p:cNvPr id="64" name="Text 62"/>
          <p:cNvSpPr txBox="1"/>
          <p:nvPr/>
        </p:nvSpPr>
        <p:spPr>
          <a:xfrm>
            <a:off x="6400800" y="1371600"/>
            <a:ext cx="5120640"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Our launch configurations</a:t>
            </a:r>
            <a:endParaRPr lang="en-US" sz="1600" dirty="0"/>
          </a:p>
        </p:txBody>
      </p:sp>
      <p:graphicFrame>
        <p:nvGraphicFramePr>
          <p:cNvPr id="8" name="launch-table"/>
          <p:cNvGraphicFramePr>
            <a:graphicFrameLocks noGrp="1"/>
          </p:cNvGraphicFramePr>
          <p:nvPr>
            <p:extLst>
              <p:ext uri="{D42A27DB-BD31-4B8C-83A1-F6EECF244321}">
                <p14:modId xmlns:p14="http://schemas.microsoft.com/office/powerpoint/2010/main" val="1579011935"/>
              </p:ext>
            </p:extLst>
          </p:nvPr>
        </p:nvGraphicFramePr>
        <p:xfrm>
          <a:off x="6400800" y="1828800"/>
          <a:ext cx="5212080" cy="914400"/>
        </p:xfrm>
        <a:graphic>
          <a:graphicData uri="http://schemas.openxmlformats.org/drawingml/2006/table">
            <a:tbl>
              <a:tblPr/>
              <a:tblGrid>
                <a:gridCol w="1737360"/>
                <a:gridCol w="1005840"/>
                <a:gridCol w="1371600"/>
                <a:gridCol w="1097280"/>
              </a:tblGrid>
              <a:tr h="411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Kernel</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00"/>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Block</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00"/>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Grid</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00"/>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Threads</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00"/>
                    </a:solidFill>
                  </a:tcPr>
                </a:tc>
              </a:tr>
              <a:tr h="411480">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FBP back-projection</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16 × 16</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16 × 16 × 128</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8.4 M</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11480">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3D convolution</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8 × 8 × 8</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32 × 32 × 32</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16.8 M</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66" name="icon-bg-FaCube"/>
          <p:cNvSpPr/>
          <p:nvPr/>
        </p:nvSpPr>
        <p:spPr>
          <a:xfrm>
            <a:off x="6400800" y="3337560"/>
            <a:ext cx="566928" cy="566928"/>
          </a:xfrm>
          <a:prstGeom prst="ellipse">
            <a:avLst/>
          </a:prstGeom>
          <a:solidFill>
            <a:schemeClr val="accent1"/>
          </a:solidFill>
          <a:ln/>
        </p:spPr>
      </p:sp>
      <p:pic>
        <p:nvPicPr>
          <p:cNvPr id="67" name="icon-FaCube" descr="Cube icon">    </p:cNvPr>
          <p:cNvPicPr>
            <a:picLocks noChangeAspect="1"/>
          </p:cNvPicPr>
          <p:nvPr/>
        </p:nvPicPr>
        <p:blipFill>
          <a:blip r:embed="rId1"/>
          <a:stretch>
            <a:fillRect/>
          </a:stretch>
        </p:blipFill>
        <p:spPr>
          <a:xfrm>
            <a:off x="6536863" y="3473623"/>
            <a:ext cx="294803" cy="294803"/>
          </a:xfrm>
          <a:prstGeom prst="rect">
            <a:avLst/>
          </a:prstGeom>
        </p:spPr>
      </p:pic>
      <p:sp>
        <p:nvSpPr>
          <p:cNvPr id="68" name="Text 64"/>
          <p:cNvSpPr txBox="1"/>
          <p:nvPr/>
        </p:nvSpPr>
        <p:spPr>
          <a:xfrm>
            <a:off x="7132320" y="3319272"/>
            <a:ext cx="4480560" cy="320040"/>
          </a:xfrm>
          <a:prstGeom prst="rect">
            <a:avLst/>
          </a:prstGeom>
          <a:noFill/>
          <a:ln/>
        </p:spPr>
        <p:txBody>
          <a:bodyPr wrap="square" lIns="0" tIns="0" rIns="0" bIns="0" rtlCol="0" anchor="t"/>
          <a:lstStyle/>
          <a:p>
            <a:pPr indent="0" marL="0">
              <a:buNone/>
            </a:pPr>
            <a:r>
              <a:rPr lang="en-US" sz="1500" b="1" dirty="0">
                <a:solidFill>
                  <a:schemeClr val="tx2"/>
                </a:solidFill>
                <a:latin typeface="Calibri" pitchFamily="34" charset="0"/>
                <a:ea typeface="Calibri" pitchFamily="34" charset="-122"/>
                <a:cs typeface="Calibri" pitchFamily="34" charset="-120"/>
              </a:rPr>
              <a:t>1 thread = 1 output voxel</a:t>
            </a:r>
            <a:endParaRPr lang="en-US" sz="1500" dirty="0"/>
          </a:p>
        </p:txBody>
      </p:sp>
      <p:sp>
        <p:nvSpPr>
          <p:cNvPr id="69" name="Text 65"/>
          <p:cNvSpPr txBox="1"/>
          <p:nvPr/>
        </p:nvSpPr>
        <p:spPr>
          <a:xfrm>
            <a:off x="7132320" y="3639312"/>
            <a:ext cx="4480560" cy="320040"/>
          </a:xfrm>
          <a:prstGeom prst="rect">
            <a:avLst/>
          </a:prstGeom>
          <a:noFill/>
          <a:ln/>
        </p:spPr>
        <p:txBody>
          <a:bodyPr wrap="square" lIns="0" tIns="0" rIns="0" bIns="0" rtlCol="0" anchor="t"/>
          <a:lstStyle/>
          <a:p>
            <a:pPr indent="0" marL="0">
              <a:buNone/>
            </a:pPr>
            <a:r>
              <a:rPr lang="en-US" sz="1300" dirty="0">
                <a:solidFill>
                  <a:srgbClr val="595959"/>
                </a:solidFill>
                <a:latin typeface="Calibri" pitchFamily="34" charset="0"/>
                <a:ea typeface="Calibri" pitchFamily="34" charset="-122"/>
                <a:cs typeface="Calibri" pitchFamily="34" charset="-120"/>
              </a:rPr>
              <a:t>no communication between threads is needed</a:t>
            </a:r>
            <a:endParaRPr lang="en-US" sz="1300" dirty="0"/>
          </a:p>
        </p:txBody>
      </p:sp>
      <p:sp>
        <p:nvSpPr>
          <p:cNvPr id="70" name="icon-bg-FaLayerGroup"/>
          <p:cNvSpPr/>
          <p:nvPr/>
        </p:nvSpPr>
        <p:spPr>
          <a:xfrm>
            <a:off x="6400800" y="4233672"/>
            <a:ext cx="566928" cy="566928"/>
          </a:xfrm>
          <a:prstGeom prst="ellipse">
            <a:avLst/>
          </a:prstGeom>
          <a:solidFill>
            <a:schemeClr val="accent1"/>
          </a:solidFill>
          <a:ln/>
        </p:spPr>
      </p:sp>
      <p:pic>
        <p:nvPicPr>
          <p:cNvPr id="71" name="icon-FaLayerGroup" descr="LayerGroup icon">    </p:cNvPr>
          <p:cNvPicPr>
            <a:picLocks noChangeAspect="1"/>
          </p:cNvPicPr>
          <p:nvPr/>
        </p:nvPicPr>
        <p:blipFill>
          <a:blip r:embed="rId2"/>
          <a:stretch>
            <a:fillRect/>
          </a:stretch>
        </p:blipFill>
        <p:spPr>
          <a:xfrm>
            <a:off x="6536863" y="4369735"/>
            <a:ext cx="294803" cy="294803"/>
          </a:xfrm>
          <a:prstGeom prst="rect">
            <a:avLst/>
          </a:prstGeom>
        </p:spPr>
      </p:pic>
      <p:sp>
        <p:nvSpPr>
          <p:cNvPr id="72" name="Text 67"/>
          <p:cNvSpPr txBox="1"/>
          <p:nvPr/>
        </p:nvSpPr>
        <p:spPr>
          <a:xfrm>
            <a:off x="7132320" y="4215384"/>
            <a:ext cx="4480560" cy="320040"/>
          </a:xfrm>
          <a:prstGeom prst="rect">
            <a:avLst/>
          </a:prstGeom>
          <a:noFill/>
          <a:ln/>
        </p:spPr>
        <p:txBody>
          <a:bodyPr wrap="square" lIns="0" tIns="0" rIns="0" bIns="0" rtlCol="0" anchor="t"/>
          <a:lstStyle/>
          <a:p>
            <a:pPr indent="0" marL="0">
              <a:buNone/>
            </a:pPr>
            <a:r>
              <a:rPr lang="en-US" sz="1500" b="1" dirty="0">
                <a:solidFill>
                  <a:schemeClr val="tx2"/>
                </a:solidFill>
                <a:latin typeface="Calibri" pitchFamily="34" charset="0"/>
                <a:ea typeface="Calibri" pitchFamily="34" charset="-122"/>
                <a:cs typeface="Calibri" pitchFamily="34" charset="-120"/>
              </a:rPr>
              <a:t>Blocks share on-chip memory</a:t>
            </a:r>
            <a:endParaRPr lang="en-US" sz="1500" dirty="0"/>
          </a:p>
        </p:txBody>
      </p:sp>
      <p:sp>
        <p:nvSpPr>
          <p:cNvPr id="73" name="Text 68"/>
          <p:cNvSpPr txBox="1"/>
          <p:nvPr/>
        </p:nvSpPr>
        <p:spPr>
          <a:xfrm>
            <a:off x="7132320" y="4535424"/>
            <a:ext cx="4480560" cy="320040"/>
          </a:xfrm>
          <a:prstGeom prst="rect">
            <a:avLst/>
          </a:prstGeom>
          <a:noFill/>
          <a:ln/>
        </p:spPr>
        <p:txBody>
          <a:bodyPr wrap="square" lIns="0" tIns="0" rIns="0" bIns="0" rtlCol="0" anchor="t"/>
          <a:lstStyle/>
          <a:p>
            <a:pPr indent="0" marL="0">
              <a:buNone/>
            </a:pPr>
            <a:r>
              <a:rPr lang="en-US" sz="1300" dirty="0">
                <a:solidFill>
                  <a:srgbClr val="595959"/>
                </a:solidFill>
                <a:latin typeface="Calibri" pitchFamily="34" charset="0"/>
                <a:ea typeface="Calibri" pitchFamily="34" charset="-122"/>
                <a:cs typeface="Calibri" pitchFamily="34" charset="-120"/>
              </a:rPr>
              <a:t>used to share the 3D convolution tile</a:t>
            </a:r>
            <a:endParaRPr lang="en-US" sz="1300" dirty="0"/>
          </a:p>
        </p:txBody>
      </p:sp>
      <p:sp>
        <p:nvSpPr>
          <p:cNvPr id="74" name="icon-bg-FaBolt"/>
          <p:cNvSpPr/>
          <p:nvPr/>
        </p:nvSpPr>
        <p:spPr>
          <a:xfrm>
            <a:off x="6400800" y="5129784"/>
            <a:ext cx="566928" cy="566928"/>
          </a:xfrm>
          <a:prstGeom prst="ellipse">
            <a:avLst/>
          </a:prstGeom>
          <a:solidFill>
            <a:schemeClr val="accent1"/>
          </a:solidFill>
          <a:ln/>
        </p:spPr>
      </p:sp>
      <p:pic>
        <p:nvPicPr>
          <p:cNvPr id="75" name="icon-FaBolt" descr="Bolt icon">    </p:cNvPr>
          <p:cNvPicPr>
            <a:picLocks noChangeAspect="1"/>
          </p:cNvPicPr>
          <p:nvPr/>
        </p:nvPicPr>
        <p:blipFill>
          <a:blip r:embed="rId3"/>
          <a:stretch>
            <a:fillRect/>
          </a:stretch>
        </p:blipFill>
        <p:spPr>
          <a:xfrm>
            <a:off x="6536863" y="5265847"/>
            <a:ext cx="294803" cy="294803"/>
          </a:xfrm>
          <a:prstGeom prst="rect">
            <a:avLst/>
          </a:prstGeom>
        </p:spPr>
      </p:pic>
      <p:sp>
        <p:nvSpPr>
          <p:cNvPr id="76" name="Text 70"/>
          <p:cNvSpPr txBox="1"/>
          <p:nvPr/>
        </p:nvSpPr>
        <p:spPr>
          <a:xfrm>
            <a:off x="7132320" y="5111496"/>
            <a:ext cx="4480560" cy="320040"/>
          </a:xfrm>
          <a:prstGeom prst="rect">
            <a:avLst/>
          </a:prstGeom>
          <a:noFill/>
          <a:ln/>
        </p:spPr>
        <p:txBody>
          <a:bodyPr wrap="square" lIns="0" tIns="0" rIns="0" bIns="0" rtlCol="0" anchor="t"/>
          <a:lstStyle/>
          <a:p>
            <a:pPr indent="0" marL="0">
              <a:buNone/>
            </a:pPr>
            <a:r>
              <a:rPr lang="en-US" sz="1500" b="1" dirty="0">
                <a:solidFill>
                  <a:schemeClr val="tx2"/>
                </a:solidFill>
                <a:latin typeface="Calibri" pitchFamily="34" charset="0"/>
                <a:ea typeface="Calibri" pitchFamily="34" charset="-122"/>
                <a:cs typeface="Calibri" pitchFamily="34" charset="-120"/>
              </a:rPr>
              <a:t>Millions of threads in flight</a:t>
            </a:r>
            <a:endParaRPr lang="en-US" sz="1500" dirty="0"/>
          </a:p>
        </p:txBody>
      </p:sp>
      <p:sp>
        <p:nvSpPr>
          <p:cNvPr id="77" name="Text 71"/>
          <p:cNvSpPr txBox="1"/>
          <p:nvPr/>
        </p:nvSpPr>
        <p:spPr>
          <a:xfrm>
            <a:off x="7132320" y="5431536"/>
            <a:ext cx="4480560" cy="320040"/>
          </a:xfrm>
          <a:prstGeom prst="rect">
            <a:avLst/>
          </a:prstGeom>
          <a:noFill/>
          <a:ln/>
        </p:spPr>
        <p:txBody>
          <a:bodyPr wrap="square" lIns="0" tIns="0" rIns="0" bIns="0" rtlCol="0" anchor="t"/>
          <a:lstStyle/>
          <a:p>
            <a:pPr indent="0" marL="0">
              <a:buNone/>
            </a:pPr>
            <a:r>
              <a:rPr lang="en-US" sz="1300" dirty="0">
                <a:solidFill>
                  <a:srgbClr val="595959"/>
                </a:solidFill>
                <a:latin typeface="Calibri" pitchFamily="34" charset="0"/>
                <a:ea typeface="Calibri" pitchFamily="34" charset="-122"/>
                <a:cs typeface="Calibri" pitchFamily="34" charset="-120"/>
              </a:rPr>
              <a:t>the GPU hides memory latency by switching warps</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Experimental setup</a:t>
            </a:r>
            <a:endParaRPr lang="en-US" sz="3400" dirty="0"/>
          </a:p>
        </p:txBody>
      </p:sp>
      <p:graphicFrame>
        <p:nvGraphicFramePr>
          <p:cNvPr id="9" name="setup-table"/>
          <p:cNvGraphicFramePr>
            <a:graphicFrameLocks noGrp="1"/>
          </p:cNvGraphicFramePr>
          <p:nvPr>
            <p:extLst>
              <p:ext uri="{D42A27DB-BD31-4B8C-83A1-F6EECF244321}">
                <p14:modId xmlns:p14="http://schemas.microsoft.com/office/powerpoint/2010/main" val="1579011935"/>
              </p:ext>
            </p:extLst>
          </p:nvPr>
        </p:nvGraphicFramePr>
        <p:xfrm>
          <a:off x="548640" y="1371600"/>
          <a:ext cx="6035040" cy="914400"/>
        </p:xfrm>
        <a:graphic>
          <a:graphicData uri="http://schemas.openxmlformats.org/drawingml/2006/table">
            <a:tbl>
              <a:tblPr/>
              <a:tblGrid>
                <a:gridCol w="1463040"/>
                <a:gridCol w="4572000"/>
              </a:tblGrid>
              <a:tr h="47548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Component</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00"/>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Specification</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00"/>
                    </a:solidFill>
                  </a:tcPr>
                </a:tc>
              </a:tr>
              <a:tr h="475488">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GPU</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NVIDIA GeForce RTX 5060, 30 SMs, 3,840 CUDA cores</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75488">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GPU memory</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8 GB GDDR7, compute capability 12.0</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75488">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CPU</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AMD Ryzen 5 7600 6-Core Processor</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75488">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CPU threads</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12 hardware threads; PyTorch CPU baselines use 6 (one per core)</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75488">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OS / Python</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Windows 11 Pro  ·  Python 3.12</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75488">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CUDA</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CUDA 13.4 toolkit (nvcc + MSVC 2022, -arch=sm_120); PyTorch built on CUDA 13.0</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75488">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Libraries</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PyTorch 2.14.1+cu130, NumPy, SciPy, scikit-image</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4" name="Text 1"/>
          <p:cNvSpPr txBox="1"/>
          <p:nvPr/>
        </p:nvSpPr>
        <p:spPr>
          <a:xfrm>
            <a:off x="6949440" y="1371600"/>
            <a:ext cx="4572000"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Project structure</a:t>
            </a:r>
            <a:endParaRPr lang="en-US" sz="1600" dirty="0"/>
          </a:p>
        </p:txBody>
      </p:sp>
      <p:sp>
        <p:nvSpPr>
          <p:cNvPr id="5" name="code-bg"/>
          <p:cNvSpPr/>
          <p:nvPr/>
        </p:nvSpPr>
        <p:spPr>
          <a:xfrm>
            <a:off x="6949440" y="1828800"/>
            <a:ext cx="4663440" cy="3840480"/>
          </a:xfrm>
          <a:prstGeom prst="roundRect">
            <a:avLst>
              <a:gd name="adj" fmla="val 1429"/>
            </a:avLst>
          </a:prstGeom>
          <a:solidFill>
            <a:srgbClr val="1A1A1A"/>
          </a:solidFill>
          <a:ln/>
        </p:spPr>
      </p:sp>
      <p:sp>
        <p:nvSpPr>
          <p:cNvPr id="6" name="Text 3"/>
          <p:cNvSpPr txBox="1"/>
          <p:nvPr/>
        </p:nvSpPr>
        <p:spPr>
          <a:xfrm>
            <a:off x="7132320" y="1965960"/>
            <a:ext cx="4297680" cy="3566160"/>
          </a:xfrm>
          <a:prstGeom prst="rect">
            <a:avLst/>
          </a:prstGeom>
          <a:noFill/>
          <a:ln/>
        </p:spPr>
        <p:txBody>
          <a:bodyPr wrap="square" lIns="0" tIns="0" rIns="0" bIns="0" rtlCol="0" anchor="t"/>
          <a:lstStyle/>
          <a:p>
            <a:pPr indent="0" marL="0">
              <a:buNone/>
            </a:pPr>
            <a:r>
              <a:rPr lang="en-US" sz="1200" dirty="0">
                <a:solidFill>
                  <a:srgbClr val="F2F2F2"/>
                </a:solidFill>
                <a:latin typeface="Courier New" pitchFamily="34" charset="0"/>
                <a:ea typeface="Courier New" pitchFamily="34" charset="-122"/>
                <a:cs typeface="Courier New" pitchFamily="34" charset="-120"/>
              </a:rPr>
              <a:t>pds_present/</a:t>
            </a:r>
            <a:endParaRPr lang="en-US" sz="1200" dirty="0"/>
          </a:p>
          <a:p>
            <a:pPr indent="0" marL="0">
              <a:buNone/>
            </a:pPr>
            <a:r>
              <a:rPr lang="en-US" sz="1200" dirty="0">
                <a:solidFill>
                  <a:srgbClr val="F2F2F2"/>
                </a:solidFill>
                <a:latin typeface="Courier New" pitchFamily="34" charset="0"/>
                <a:ea typeface="Courier New" pitchFamily="34" charset="-122"/>
                <a:cs typeface="Courier New" pitchFamily="34" charset="-120"/>
              </a:rPr>
              <a:t>├─ src/</a:t>
            </a:r>
            <a:endParaRPr lang="en-US" sz="1200" dirty="0"/>
          </a:p>
          <a:p>
            <a:pPr indent="0" marL="0">
              <a:buNone/>
            </a:pPr>
            <a:r>
              <a:rPr lang="en-US" sz="1200" dirty="0">
                <a:solidFill>
                  <a:srgbClr val="F2F2F2"/>
                </a:solidFill>
                <a:latin typeface="Courier New" pitchFamily="34" charset="0"/>
                <a:ea typeface="Courier New" pitchFamily="34" charset="-122"/>
                <a:cs typeface="Courier New" pitchFamily="34" charset="-120"/>
              </a:rPr>
              <a:t>│  ├─ kernels/fbp.cu      CUDA FBP</a:t>
            </a:r>
            <a:endParaRPr lang="en-US" sz="1200" dirty="0"/>
          </a:p>
          <a:p>
            <a:pPr indent="0" marL="0">
              <a:buNone/>
            </a:pPr>
            <a:r>
              <a:rPr lang="en-US" sz="1200" dirty="0">
                <a:solidFill>
                  <a:srgbClr val="F2F2F2"/>
                </a:solidFill>
                <a:latin typeface="Courier New" pitchFamily="34" charset="0"/>
                <a:ea typeface="Courier New" pitchFamily="34" charset="-122"/>
                <a:cs typeface="Courier New" pitchFamily="34" charset="-120"/>
              </a:rPr>
              <a:t>│  ├─ kernels/conv3d.cu   naive + tiled</a:t>
            </a:r>
            <a:endParaRPr lang="en-US" sz="1200" dirty="0"/>
          </a:p>
          <a:p>
            <a:pPr indent="0" marL="0">
              <a:buNone/>
            </a:pPr>
            <a:r>
              <a:rPr lang="en-US" sz="1200" dirty="0">
                <a:solidFill>
                  <a:srgbClr val="F2F2F2"/>
                </a:solidFill>
                <a:latin typeface="Courier New" pitchFamily="34" charset="0"/>
                <a:ea typeface="Courier New" pitchFamily="34" charset="-122"/>
                <a:cs typeface="Courier New" pitchFamily="34" charset="-120"/>
              </a:rPr>
              <a:t>│  ├─ ct_recon.py         stage 1</a:t>
            </a:r>
            <a:endParaRPr lang="en-US" sz="1200" dirty="0"/>
          </a:p>
          <a:p>
            <a:pPr indent="0" marL="0">
              <a:buNone/>
            </a:pPr>
            <a:r>
              <a:rPr lang="en-US" sz="1200" dirty="0">
                <a:solidFill>
                  <a:srgbClr val="F2F2F2"/>
                </a:solidFill>
                <a:latin typeface="Courier New" pitchFamily="34" charset="0"/>
                <a:ea typeface="Courier New" pitchFamily="34" charset="-122"/>
                <a:cs typeface="Courier New" pitchFamily="34" charset="-120"/>
              </a:rPr>
              <a:t>│  ├─ mri_recon.py        stage 2</a:t>
            </a:r>
            <a:endParaRPr lang="en-US" sz="1200" dirty="0"/>
          </a:p>
          <a:p>
            <a:pPr indent="0" marL="0">
              <a:buNone/>
            </a:pPr>
            <a:r>
              <a:rPr lang="en-US" sz="1200" dirty="0">
                <a:solidFill>
                  <a:srgbClr val="F2F2F2"/>
                </a:solidFill>
                <a:latin typeface="Courier New" pitchFamily="34" charset="0"/>
                <a:ea typeface="Courier New" pitchFamily="34" charset="-122"/>
                <a:cs typeface="Courier New" pitchFamily="34" charset="-120"/>
              </a:rPr>
              <a:t>│  ├─ filtering.py        stage 3</a:t>
            </a:r>
            <a:endParaRPr lang="en-US" sz="1200" dirty="0"/>
          </a:p>
          <a:p>
            <a:pPr indent="0" marL="0">
              <a:buNone/>
            </a:pPr>
            <a:r>
              <a:rPr lang="en-US" sz="1200" dirty="0">
                <a:solidFill>
                  <a:srgbClr val="F2F2F2"/>
                </a:solidFill>
                <a:latin typeface="Courier New" pitchFamily="34" charset="0"/>
                <a:ea typeface="Courier New" pitchFamily="34" charset="-122"/>
                <a:cs typeface="Courier New" pitchFamily="34" charset="-120"/>
              </a:rPr>
              <a:t>│  ├─ segmentation.py     stage 4</a:t>
            </a:r>
            <a:endParaRPr lang="en-US" sz="1200" dirty="0"/>
          </a:p>
          <a:p>
            <a:pPr indent="0" marL="0">
              <a:buNone/>
            </a:pPr>
            <a:r>
              <a:rPr lang="en-US" sz="1200" dirty="0">
                <a:solidFill>
                  <a:srgbClr val="F2F2F2"/>
                </a:solidFill>
                <a:latin typeface="Courier New" pitchFamily="34" charset="0"/>
                <a:ea typeface="Courier New" pitchFamily="34" charset="-122"/>
                <a:cs typeface="Courier New" pitchFamily="34" charset="-120"/>
              </a:rPr>
              <a:t>│  ├─ visualize.py        stage 5</a:t>
            </a:r>
            <a:endParaRPr lang="en-US" sz="1200" dirty="0"/>
          </a:p>
          <a:p>
            <a:pPr indent="0" marL="0">
              <a:buNone/>
            </a:pPr>
            <a:r>
              <a:rPr lang="en-US" sz="1200" dirty="0">
                <a:solidFill>
                  <a:srgbClr val="F2F2F2"/>
                </a:solidFill>
                <a:latin typeface="Courier New" pitchFamily="34" charset="0"/>
                <a:ea typeface="Courier New" pitchFamily="34" charset="-122"/>
                <a:cs typeface="Courier New" pitchFamily="34" charset="-120"/>
              </a:rPr>
              <a:t>│  └─ benchmark.py        run all</a:t>
            </a:r>
            <a:endParaRPr lang="en-US" sz="1200" dirty="0"/>
          </a:p>
          <a:p>
            <a:pPr indent="0" marL="0">
              <a:buNone/>
            </a:pPr>
            <a:r>
              <a:rPr lang="en-US" sz="1200" dirty="0">
                <a:solidFill>
                  <a:srgbClr val="F2F2F2"/>
                </a:solidFill>
                <a:latin typeface="Courier New" pitchFamily="34" charset="0"/>
                <a:ea typeface="Courier New" pitchFamily="34" charset="-122"/>
                <a:cs typeface="Courier New" pitchFamily="34" charset="-120"/>
              </a:rPr>
              <a:t>├─ data/                  CThead, MRbrain</a:t>
            </a:r>
            <a:endParaRPr lang="en-US" sz="1200" dirty="0"/>
          </a:p>
          <a:p>
            <a:pPr indent="0" marL="0">
              <a:buNone/>
            </a:pPr>
            <a:r>
              <a:rPr lang="en-US" sz="1200" dirty="0">
                <a:solidFill>
                  <a:srgbClr val="F2F2F2"/>
                </a:solidFill>
                <a:latin typeface="Courier New" pitchFamily="34" charset="0"/>
                <a:ea typeface="Courier New" pitchFamily="34" charset="-122"/>
                <a:cs typeface="Courier New" pitchFamily="34" charset="-120"/>
              </a:rPr>
              <a:t>├─ results/results.json   all metrics</a:t>
            </a:r>
            <a:endParaRPr lang="en-US" sz="1200" dirty="0"/>
          </a:p>
          <a:p>
            <a:pPr indent="0" marL="0">
              <a:buNone/>
            </a:pPr>
            <a:r>
              <a:rPr lang="en-US" sz="1200" dirty="0">
                <a:solidFill>
                  <a:srgbClr val="F2F2F2"/>
                </a:solidFill>
                <a:latin typeface="Courier New" pitchFamily="34" charset="0"/>
                <a:ea typeface="Courier New" pitchFamily="34" charset="-122"/>
                <a:cs typeface="Courier New" pitchFamily="34" charset="-120"/>
              </a:rPr>
              <a:t>├─ results/figures/       images</a:t>
            </a:r>
            <a:endParaRPr lang="en-US" sz="1200" dirty="0"/>
          </a:p>
          <a:p>
            <a:pPr indent="0" marL="0">
              <a:buNone/>
            </a:pPr>
            <a:r>
              <a:rPr lang="en-US" sz="1200" dirty="0">
                <a:solidFill>
                  <a:srgbClr val="F2F2F2"/>
                </a:solidFill>
                <a:latin typeface="Courier New" pitchFamily="34" charset="0"/>
                <a:ea typeface="Courier New" pitchFamily="34" charset="-122"/>
                <a:cs typeface="Courier New" pitchFamily="34" charset="-120"/>
              </a:rPr>
              <a:t>└─ presentation/          this deck</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Datasets and images used</a:t>
            </a:r>
            <a:endParaRPr lang="en-US" sz="3400" dirty="0"/>
          </a:p>
        </p:txBody>
      </p:sp>
      <p:sp>
        <p:nvSpPr>
          <p:cNvPr id="3" name="ds-0"/>
          <p:cNvSpPr/>
          <p:nvPr/>
        </p:nvSpPr>
        <p:spPr>
          <a:xfrm>
            <a:off x="548640" y="1371600"/>
            <a:ext cx="2075688" cy="4709160"/>
          </a:xfrm>
          <a:prstGeom prst="roundRect">
            <a:avLst>
              <a:gd name="adj" fmla="val 3524"/>
            </a:avLst>
          </a:prstGeom>
          <a:solidFill>
            <a:schemeClr val="bg1"/>
          </a:solidFill>
          <a:ln w="9525">
            <a:solidFill>
              <a:srgbClr val="D9D9D9"/>
            </a:solidFill>
            <a:prstDash val="solid"/>
          </a:ln>
          <a:effectLst>
            <a:outerShdw sx="100000" sy="100000" kx="0" ky="0" algn="bl" rotWithShape="0" blurRad="76200" dist="19050" dir="5400000">
              <a:srgbClr val="000000">
                <a:alpha val="12000"/>
              </a:srgbClr>
            </a:outerShdw>
          </a:effectLst>
        </p:spPr>
      </p:sp>
      <p:pic>
        <p:nvPicPr>
          <p:cNvPr id="4" name="ds-img-phantom" descr="Shepp-Logan">    </p:cNvPr>
          <p:cNvPicPr>
            <a:picLocks noChangeAspect="1"/>
          </p:cNvPicPr>
          <p:nvPr/>
        </p:nvPicPr>
        <p:blipFill>
          <a:blip r:embed="rId1"/>
          <a:stretch>
            <a:fillRect/>
          </a:stretch>
        </p:blipFill>
        <p:spPr>
          <a:xfrm>
            <a:off x="722376" y="1554480"/>
            <a:ext cx="1728216" cy="1728216"/>
          </a:xfrm>
          <a:prstGeom prst="rect">
            <a:avLst/>
          </a:prstGeom>
        </p:spPr>
      </p:pic>
      <p:sp>
        <p:nvSpPr>
          <p:cNvPr id="5" name="ds-tag-0"/>
          <p:cNvSpPr/>
          <p:nvPr/>
        </p:nvSpPr>
        <p:spPr>
          <a:xfrm>
            <a:off x="722376" y="3429000"/>
            <a:ext cx="914400" cy="274320"/>
          </a:xfrm>
          <a:prstGeom prst="roundRect">
            <a:avLst>
              <a:gd name="adj" fmla="val 16667"/>
            </a:avLst>
          </a:prstGeom>
          <a:solidFill>
            <a:srgbClr val="808080"/>
          </a:solidFill>
          <a:ln/>
        </p:spPr>
      </p:sp>
      <p:sp>
        <p:nvSpPr>
          <p:cNvPr id="6" name="Text 3"/>
          <p:cNvSpPr txBox="1"/>
          <p:nvPr/>
        </p:nvSpPr>
        <p:spPr>
          <a:xfrm>
            <a:off x="722376" y="3429000"/>
            <a:ext cx="914400" cy="274320"/>
          </a:xfrm>
          <a:prstGeom prst="rect">
            <a:avLst/>
          </a:prstGeom>
          <a:noFill/>
          <a:ln/>
        </p:spPr>
        <p:txBody>
          <a:bodyPr wrap="square" lIns="0" tIns="0" rIns="0" bIns="0" rtlCol="0" anchor="ctr"/>
          <a:lstStyle/>
          <a:p>
            <a:pPr algn="ctr" indent="0" marL="0">
              <a:buNone/>
            </a:pPr>
            <a:r>
              <a:rPr lang="en-US" sz="1000" b="1" dirty="0">
                <a:solidFill>
                  <a:schemeClr val="bg1"/>
                </a:solidFill>
                <a:latin typeface="Calibri" pitchFamily="34" charset="0"/>
                <a:ea typeface="Calibri" pitchFamily="34" charset="-122"/>
                <a:cs typeface="Calibri" pitchFamily="34" charset="-120"/>
              </a:rPr>
              <a:t>SIMULATED</a:t>
            </a:r>
            <a:endParaRPr lang="en-US" sz="1000" dirty="0"/>
          </a:p>
        </p:txBody>
      </p:sp>
      <p:sp>
        <p:nvSpPr>
          <p:cNvPr id="7" name="Text 4"/>
          <p:cNvSpPr txBox="1"/>
          <p:nvPr/>
        </p:nvSpPr>
        <p:spPr>
          <a:xfrm>
            <a:off x="722376" y="3794760"/>
            <a:ext cx="1783080"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Shepp-Logan</a:t>
            </a:r>
            <a:endParaRPr lang="en-US" sz="1600" dirty="0"/>
          </a:p>
        </p:txBody>
      </p:sp>
      <p:sp>
        <p:nvSpPr>
          <p:cNvPr id="8" name="Text 5"/>
          <p:cNvSpPr txBox="1"/>
          <p:nvPr/>
        </p:nvSpPr>
        <p:spPr>
          <a:xfrm>
            <a:off x="722376" y="4206240"/>
            <a:ext cx="1755648" cy="132588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Standard CT test object. 2D 128–512 px, 3D 128 × 256². Exact ground truth.</a:t>
            </a:r>
            <a:endParaRPr lang="en-US" sz="1200" dirty="0"/>
          </a:p>
        </p:txBody>
      </p:sp>
      <p:sp>
        <p:nvSpPr>
          <p:cNvPr id="9" name="Text 6"/>
          <p:cNvSpPr txBox="1"/>
          <p:nvPr/>
        </p:nvSpPr>
        <p:spPr>
          <a:xfrm>
            <a:off x="722376" y="5623560"/>
            <a:ext cx="1783080" cy="320040"/>
          </a:xfrm>
          <a:prstGeom prst="rect">
            <a:avLst/>
          </a:prstGeom>
          <a:noFill/>
          <a:ln/>
        </p:spPr>
        <p:txBody>
          <a:bodyPr wrap="square" lIns="0" tIns="0" rIns="0" bIns="0" rtlCol="0" anchor="t"/>
          <a:lstStyle/>
          <a:p>
            <a:pPr indent="0" marL="0">
              <a:buNone/>
            </a:pPr>
            <a:r>
              <a:rPr lang="en-US" sz="1200" b="1" dirty="0">
                <a:solidFill>
                  <a:schemeClr val="accent1"/>
                </a:solidFill>
                <a:latin typeface="Calibri" pitchFamily="34" charset="0"/>
                <a:ea typeface="Calibri" pitchFamily="34" charset="-122"/>
                <a:cs typeface="Calibri" pitchFamily="34" charset="-120"/>
              </a:rPr>
              <a:t>Stage 1 · CT recon</a:t>
            </a:r>
            <a:endParaRPr lang="en-US" sz="1200" dirty="0"/>
          </a:p>
        </p:txBody>
      </p:sp>
      <p:sp>
        <p:nvSpPr>
          <p:cNvPr id="10" name="ds-1"/>
          <p:cNvSpPr/>
          <p:nvPr/>
        </p:nvSpPr>
        <p:spPr>
          <a:xfrm>
            <a:off x="2807208" y="1371600"/>
            <a:ext cx="2075688" cy="4709160"/>
          </a:xfrm>
          <a:prstGeom prst="roundRect">
            <a:avLst>
              <a:gd name="adj" fmla="val 3524"/>
            </a:avLst>
          </a:prstGeom>
          <a:solidFill>
            <a:schemeClr val="bg1"/>
          </a:solidFill>
          <a:ln w="9525">
            <a:solidFill>
              <a:srgbClr val="D9D9D9"/>
            </a:solidFill>
            <a:prstDash val="solid"/>
          </a:ln>
          <a:effectLst>
            <a:outerShdw sx="100000" sy="100000" kx="0" ky="0" algn="bl" rotWithShape="0" blurRad="76200" dist="19050" dir="5400000">
              <a:srgbClr val="000000">
                <a:alpha val="12000"/>
              </a:srgbClr>
            </a:outerShdw>
          </a:effectLst>
        </p:spPr>
      </p:sp>
      <p:pic>
        <p:nvPicPr>
          <p:cNvPr id="11" name="ds-img-mri" descr="Brain MRI">    </p:cNvPr>
          <p:cNvPicPr>
            <a:picLocks noChangeAspect="1"/>
          </p:cNvPicPr>
          <p:nvPr/>
        </p:nvPicPr>
        <p:blipFill>
          <a:blip r:embed="rId2"/>
          <a:stretch>
            <a:fillRect/>
          </a:stretch>
        </p:blipFill>
        <p:spPr>
          <a:xfrm>
            <a:off x="2980944" y="1554480"/>
            <a:ext cx="1728216" cy="1728216"/>
          </a:xfrm>
          <a:prstGeom prst="rect">
            <a:avLst/>
          </a:prstGeom>
        </p:spPr>
      </p:pic>
      <p:sp>
        <p:nvSpPr>
          <p:cNvPr id="12" name="ds-tag-1"/>
          <p:cNvSpPr/>
          <p:nvPr/>
        </p:nvSpPr>
        <p:spPr>
          <a:xfrm>
            <a:off x="2980944" y="3429000"/>
            <a:ext cx="914400" cy="274320"/>
          </a:xfrm>
          <a:prstGeom prst="roundRect">
            <a:avLst>
              <a:gd name="adj" fmla="val 16667"/>
            </a:avLst>
          </a:prstGeom>
          <a:solidFill>
            <a:srgbClr val="000000"/>
          </a:solidFill>
          <a:ln/>
        </p:spPr>
      </p:sp>
      <p:sp>
        <p:nvSpPr>
          <p:cNvPr id="13" name="Text 9"/>
          <p:cNvSpPr txBox="1"/>
          <p:nvPr/>
        </p:nvSpPr>
        <p:spPr>
          <a:xfrm>
            <a:off x="2980944" y="3429000"/>
            <a:ext cx="914400" cy="274320"/>
          </a:xfrm>
          <a:prstGeom prst="rect">
            <a:avLst/>
          </a:prstGeom>
          <a:noFill/>
          <a:ln/>
        </p:spPr>
        <p:txBody>
          <a:bodyPr wrap="square" lIns="0" tIns="0" rIns="0" bIns="0" rtlCol="0" anchor="ctr"/>
          <a:lstStyle/>
          <a:p>
            <a:pPr algn="ctr" indent="0" marL="0">
              <a:buNone/>
            </a:pPr>
            <a:r>
              <a:rPr lang="en-US" sz="1000" b="1" dirty="0">
                <a:solidFill>
                  <a:schemeClr val="bg1"/>
                </a:solidFill>
                <a:latin typeface="Calibri" pitchFamily="34" charset="0"/>
                <a:ea typeface="Calibri" pitchFamily="34" charset="-122"/>
                <a:cs typeface="Calibri" pitchFamily="34" charset="-120"/>
              </a:rPr>
              <a:t>REAL</a:t>
            </a:r>
            <a:endParaRPr lang="en-US" sz="1000" dirty="0"/>
          </a:p>
        </p:txBody>
      </p:sp>
      <p:sp>
        <p:nvSpPr>
          <p:cNvPr id="14" name="Text 10"/>
          <p:cNvSpPr txBox="1"/>
          <p:nvPr/>
        </p:nvSpPr>
        <p:spPr>
          <a:xfrm>
            <a:off x="2980944" y="3794760"/>
            <a:ext cx="1783080"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Brain MRI</a:t>
            </a:r>
            <a:endParaRPr lang="en-US" sz="1600" dirty="0"/>
          </a:p>
        </p:txBody>
      </p:sp>
      <p:sp>
        <p:nvSpPr>
          <p:cNvPr id="15" name="Text 11"/>
          <p:cNvSpPr txBox="1"/>
          <p:nvPr/>
        </p:nvSpPr>
        <p:spPr>
          <a:xfrm>
            <a:off x="2980944" y="4206240"/>
            <a:ext cx="1755648" cy="132588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Stanford MRbrain: 109 sagittal T1 slices, 256², 16-bit. 10 used.</a:t>
            </a:r>
            <a:endParaRPr lang="en-US" sz="1200" dirty="0"/>
          </a:p>
        </p:txBody>
      </p:sp>
      <p:sp>
        <p:nvSpPr>
          <p:cNvPr id="16" name="Text 12"/>
          <p:cNvSpPr txBox="1"/>
          <p:nvPr/>
        </p:nvSpPr>
        <p:spPr>
          <a:xfrm>
            <a:off x="2980944" y="5623560"/>
            <a:ext cx="1783080" cy="320040"/>
          </a:xfrm>
          <a:prstGeom prst="rect">
            <a:avLst/>
          </a:prstGeom>
          <a:noFill/>
          <a:ln/>
        </p:spPr>
        <p:txBody>
          <a:bodyPr wrap="square" lIns="0" tIns="0" rIns="0" bIns="0" rtlCol="0" anchor="t"/>
          <a:lstStyle/>
          <a:p>
            <a:pPr indent="0" marL="0">
              <a:buNone/>
            </a:pPr>
            <a:r>
              <a:rPr lang="en-US" sz="1200" b="1" dirty="0">
                <a:solidFill>
                  <a:schemeClr val="accent1"/>
                </a:solidFill>
                <a:latin typeface="Calibri" pitchFamily="34" charset="0"/>
                <a:ea typeface="Calibri" pitchFamily="34" charset="-122"/>
                <a:cs typeface="Calibri" pitchFamily="34" charset="-120"/>
              </a:rPr>
              <a:t>Stage 2 · MRI recon</a:t>
            </a:r>
            <a:endParaRPr lang="en-US" sz="1200" dirty="0"/>
          </a:p>
        </p:txBody>
      </p:sp>
      <p:sp>
        <p:nvSpPr>
          <p:cNvPr id="17" name="ds-2"/>
          <p:cNvSpPr/>
          <p:nvPr/>
        </p:nvSpPr>
        <p:spPr>
          <a:xfrm>
            <a:off x="5065776" y="1371600"/>
            <a:ext cx="2075688" cy="4709160"/>
          </a:xfrm>
          <a:prstGeom prst="roundRect">
            <a:avLst>
              <a:gd name="adj" fmla="val 3524"/>
            </a:avLst>
          </a:prstGeom>
          <a:solidFill>
            <a:schemeClr val="bg1"/>
          </a:solidFill>
          <a:ln w="9525">
            <a:solidFill>
              <a:srgbClr val="D9D9D9"/>
            </a:solidFill>
            <a:prstDash val="solid"/>
          </a:ln>
          <a:effectLst>
            <a:outerShdw sx="100000" sy="100000" kx="0" ky="0" algn="bl" rotWithShape="0" blurRad="76200" dist="19050" dir="5400000">
              <a:srgbClr val="000000">
                <a:alpha val="12000"/>
              </a:srgbClr>
            </a:outerShdw>
          </a:effectLst>
        </p:spPr>
      </p:sp>
      <p:pic>
        <p:nvPicPr>
          <p:cNvPr id="18" name="ds-img-noisy" descr="Noisy CT volume">    </p:cNvPr>
          <p:cNvPicPr>
            <a:picLocks noChangeAspect="1"/>
          </p:cNvPicPr>
          <p:nvPr/>
        </p:nvPicPr>
        <p:blipFill>
          <a:blip r:embed="rId3"/>
          <a:stretch>
            <a:fillRect/>
          </a:stretch>
        </p:blipFill>
        <p:spPr>
          <a:xfrm>
            <a:off x="5239512" y="1554480"/>
            <a:ext cx="1728216" cy="1728216"/>
          </a:xfrm>
          <a:prstGeom prst="rect">
            <a:avLst/>
          </a:prstGeom>
        </p:spPr>
      </p:pic>
      <p:sp>
        <p:nvSpPr>
          <p:cNvPr id="19" name="ds-tag-2"/>
          <p:cNvSpPr/>
          <p:nvPr/>
        </p:nvSpPr>
        <p:spPr>
          <a:xfrm>
            <a:off x="5239512" y="3429000"/>
            <a:ext cx="914400" cy="274320"/>
          </a:xfrm>
          <a:prstGeom prst="roundRect">
            <a:avLst>
              <a:gd name="adj" fmla="val 16667"/>
            </a:avLst>
          </a:prstGeom>
          <a:solidFill>
            <a:srgbClr val="808080"/>
          </a:solidFill>
          <a:ln/>
        </p:spPr>
      </p:sp>
      <p:sp>
        <p:nvSpPr>
          <p:cNvPr id="20" name="Text 15"/>
          <p:cNvSpPr txBox="1"/>
          <p:nvPr/>
        </p:nvSpPr>
        <p:spPr>
          <a:xfrm>
            <a:off x="5239512" y="3429000"/>
            <a:ext cx="914400" cy="274320"/>
          </a:xfrm>
          <a:prstGeom prst="rect">
            <a:avLst/>
          </a:prstGeom>
          <a:noFill/>
          <a:ln/>
        </p:spPr>
        <p:txBody>
          <a:bodyPr wrap="square" lIns="0" tIns="0" rIns="0" bIns="0" rtlCol="0" anchor="ctr"/>
          <a:lstStyle/>
          <a:p>
            <a:pPr algn="ctr" indent="0" marL="0">
              <a:buNone/>
            </a:pPr>
            <a:r>
              <a:rPr lang="en-US" sz="1000" b="1" dirty="0">
                <a:solidFill>
                  <a:schemeClr val="bg1"/>
                </a:solidFill>
                <a:latin typeface="Calibri" pitchFamily="34" charset="0"/>
                <a:ea typeface="Calibri" pitchFamily="34" charset="-122"/>
                <a:cs typeface="Calibri" pitchFamily="34" charset="-120"/>
              </a:rPr>
              <a:t>SIMULATED</a:t>
            </a:r>
            <a:endParaRPr lang="en-US" sz="1000" dirty="0"/>
          </a:p>
        </p:txBody>
      </p:sp>
      <p:sp>
        <p:nvSpPr>
          <p:cNvPr id="21" name="Text 16"/>
          <p:cNvSpPr txBox="1"/>
          <p:nvPr/>
        </p:nvSpPr>
        <p:spPr>
          <a:xfrm>
            <a:off x="5239512" y="3794760"/>
            <a:ext cx="1783080"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Noisy CT volume</a:t>
            </a:r>
            <a:endParaRPr lang="en-US" sz="1600" dirty="0"/>
          </a:p>
        </p:txBody>
      </p:sp>
      <p:sp>
        <p:nvSpPr>
          <p:cNvPr id="22" name="Text 17"/>
          <p:cNvSpPr txBox="1"/>
          <p:nvPr/>
        </p:nvSpPr>
        <p:spPr>
          <a:xfrm>
            <a:off x="5239512" y="4206240"/>
            <a:ext cx="1755648" cy="132588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3D phantom 64³–256³ + Gaussian noise (σ = 0.08), like low dose.</a:t>
            </a:r>
            <a:endParaRPr lang="en-US" sz="1200" dirty="0"/>
          </a:p>
        </p:txBody>
      </p:sp>
      <p:sp>
        <p:nvSpPr>
          <p:cNvPr id="23" name="Text 18"/>
          <p:cNvSpPr txBox="1"/>
          <p:nvPr/>
        </p:nvSpPr>
        <p:spPr>
          <a:xfrm>
            <a:off x="5239512" y="5623560"/>
            <a:ext cx="1783080" cy="320040"/>
          </a:xfrm>
          <a:prstGeom prst="rect">
            <a:avLst/>
          </a:prstGeom>
          <a:noFill/>
          <a:ln/>
        </p:spPr>
        <p:txBody>
          <a:bodyPr wrap="square" lIns="0" tIns="0" rIns="0" bIns="0" rtlCol="0" anchor="t"/>
          <a:lstStyle/>
          <a:p>
            <a:pPr indent="0" marL="0">
              <a:buNone/>
            </a:pPr>
            <a:r>
              <a:rPr lang="en-US" sz="1200" b="1" dirty="0">
                <a:solidFill>
                  <a:schemeClr val="accent1"/>
                </a:solidFill>
                <a:latin typeface="Calibri" pitchFamily="34" charset="0"/>
                <a:ea typeface="Calibri" pitchFamily="34" charset="-122"/>
                <a:cs typeface="Calibri" pitchFamily="34" charset="-120"/>
              </a:rPr>
              <a:t>Stage 3 · Denoising</a:t>
            </a:r>
            <a:endParaRPr lang="en-US" sz="1200" dirty="0"/>
          </a:p>
        </p:txBody>
      </p:sp>
      <p:sp>
        <p:nvSpPr>
          <p:cNvPr id="24" name="ds-3"/>
          <p:cNvSpPr/>
          <p:nvPr/>
        </p:nvSpPr>
        <p:spPr>
          <a:xfrm>
            <a:off x="7324344" y="1371600"/>
            <a:ext cx="2075688" cy="4709160"/>
          </a:xfrm>
          <a:prstGeom prst="roundRect">
            <a:avLst>
              <a:gd name="adj" fmla="val 3524"/>
            </a:avLst>
          </a:prstGeom>
          <a:solidFill>
            <a:schemeClr val="bg1"/>
          </a:solidFill>
          <a:ln w="9525">
            <a:solidFill>
              <a:srgbClr val="D9D9D9"/>
            </a:solidFill>
            <a:prstDash val="solid"/>
          </a:ln>
          <a:effectLst>
            <a:outerShdw sx="100000" sy="100000" kx="0" ky="0" algn="bl" rotWithShape="0" blurRad="76200" dist="19050" dir="5400000">
              <a:srgbClr val="000000">
                <a:alpha val="12000"/>
              </a:srgbClr>
            </a:outerShdw>
          </a:effectLst>
        </p:spPr>
      </p:sp>
      <p:pic>
        <p:nvPicPr>
          <p:cNvPr id="25" name="ds-img-lesion_input" descr="Lesion CT slices">    </p:cNvPr>
          <p:cNvPicPr>
            <a:picLocks noChangeAspect="1"/>
          </p:cNvPicPr>
          <p:nvPr/>
        </p:nvPicPr>
        <p:blipFill>
          <a:blip r:embed="rId4"/>
          <a:stretch>
            <a:fillRect/>
          </a:stretch>
        </p:blipFill>
        <p:spPr>
          <a:xfrm>
            <a:off x="7498080" y="1554480"/>
            <a:ext cx="1728216" cy="1728216"/>
          </a:xfrm>
          <a:prstGeom prst="rect">
            <a:avLst/>
          </a:prstGeom>
        </p:spPr>
      </p:pic>
      <p:sp>
        <p:nvSpPr>
          <p:cNvPr id="26" name="ds-tag-3"/>
          <p:cNvSpPr/>
          <p:nvPr/>
        </p:nvSpPr>
        <p:spPr>
          <a:xfrm>
            <a:off x="7498080" y="3429000"/>
            <a:ext cx="914400" cy="274320"/>
          </a:xfrm>
          <a:prstGeom prst="roundRect">
            <a:avLst>
              <a:gd name="adj" fmla="val 16667"/>
            </a:avLst>
          </a:prstGeom>
          <a:solidFill>
            <a:srgbClr val="808080"/>
          </a:solidFill>
          <a:ln/>
        </p:spPr>
      </p:sp>
      <p:sp>
        <p:nvSpPr>
          <p:cNvPr id="27" name="Text 21"/>
          <p:cNvSpPr txBox="1"/>
          <p:nvPr/>
        </p:nvSpPr>
        <p:spPr>
          <a:xfrm>
            <a:off x="7498080" y="3429000"/>
            <a:ext cx="914400" cy="274320"/>
          </a:xfrm>
          <a:prstGeom prst="rect">
            <a:avLst/>
          </a:prstGeom>
          <a:noFill/>
          <a:ln/>
        </p:spPr>
        <p:txBody>
          <a:bodyPr wrap="square" lIns="0" tIns="0" rIns="0" bIns="0" rtlCol="0" anchor="ctr"/>
          <a:lstStyle/>
          <a:p>
            <a:pPr algn="ctr" indent="0" marL="0">
              <a:buNone/>
            </a:pPr>
            <a:r>
              <a:rPr lang="en-US" sz="1000" b="1" dirty="0">
                <a:solidFill>
                  <a:schemeClr val="bg1"/>
                </a:solidFill>
                <a:latin typeface="Calibri" pitchFamily="34" charset="0"/>
                <a:ea typeface="Calibri" pitchFamily="34" charset="-122"/>
                <a:cs typeface="Calibri" pitchFamily="34" charset="-120"/>
              </a:rPr>
              <a:t>SIMULATED</a:t>
            </a:r>
            <a:endParaRPr lang="en-US" sz="1000" dirty="0"/>
          </a:p>
        </p:txBody>
      </p:sp>
      <p:sp>
        <p:nvSpPr>
          <p:cNvPr id="28" name="Text 22"/>
          <p:cNvSpPr txBox="1"/>
          <p:nvPr/>
        </p:nvSpPr>
        <p:spPr>
          <a:xfrm>
            <a:off x="7498080" y="3794760"/>
            <a:ext cx="1783080"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Lesion CT slices</a:t>
            </a:r>
            <a:endParaRPr lang="en-US" sz="1600" dirty="0"/>
          </a:p>
        </p:txBody>
      </p:sp>
      <p:sp>
        <p:nvSpPr>
          <p:cNvPr id="29" name="Text 23"/>
          <p:cNvSpPr txBox="1"/>
          <p:nvPr/>
        </p:nvSpPr>
        <p:spPr>
          <a:xfrm>
            <a:off x="7498080" y="4206240"/>
            <a:ext cx="1755648" cy="132588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2,000 train + 200 test slices (128²), 1–3 lesions, exact masks.</a:t>
            </a:r>
            <a:endParaRPr lang="en-US" sz="1200" dirty="0"/>
          </a:p>
        </p:txBody>
      </p:sp>
      <p:sp>
        <p:nvSpPr>
          <p:cNvPr id="30" name="Text 24"/>
          <p:cNvSpPr txBox="1"/>
          <p:nvPr/>
        </p:nvSpPr>
        <p:spPr>
          <a:xfrm>
            <a:off x="7498080" y="5623560"/>
            <a:ext cx="1783080" cy="320040"/>
          </a:xfrm>
          <a:prstGeom prst="rect">
            <a:avLst/>
          </a:prstGeom>
          <a:noFill/>
          <a:ln/>
        </p:spPr>
        <p:txBody>
          <a:bodyPr wrap="square" lIns="0" tIns="0" rIns="0" bIns="0" rtlCol="0" anchor="t"/>
          <a:lstStyle/>
          <a:p>
            <a:pPr indent="0" marL="0">
              <a:buNone/>
            </a:pPr>
            <a:r>
              <a:rPr lang="en-US" sz="1200" b="1" dirty="0">
                <a:solidFill>
                  <a:schemeClr val="accent1"/>
                </a:solidFill>
                <a:latin typeface="Calibri" pitchFamily="34" charset="0"/>
                <a:ea typeface="Calibri" pitchFamily="34" charset="-122"/>
                <a:cs typeface="Calibri" pitchFamily="34" charset="-120"/>
              </a:rPr>
              <a:t>Stage 4 · U-Net</a:t>
            </a:r>
            <a:endParaRPr lang="en-US" sz="1200" dirty="0"/>
          </a:p>
        </p:txBody>
      </p:sp>
      <p:sp>
        <p:nvSpPr>
          <p:cNvPr id="31" name="ds-4"/>
          <p:cNvSpPr/>
          <p:nvPr/>
        </p:nvSpPr>
        <p:spPr>
          <a:xfrm>
            <a:off x="9582912" y="1371600"/>
            <a:ext cx="2075688" cy="4709160"/>
          </a:xfrm>
          <a:prstGeom prst="roundRect">
            <a:avLst>
              <a:gd name="adj" fmla="val 3524"/>
            </a:avLst>
          </a:prstGeom>
          <a:solidFill>
            <a:schemeClr val="bg1"/>
          </a:solidFill>
          <a:ln w="9525">
            <a:solidFill>
              <a:srgbClr val="D9D9D9"/>
            </a:solidFill>
            <a:prstDash val="solid"/>
          </a:ln>
          <a:effectLst>
            <a:outerShdw sx="100000" sy="100000" kx="0" ky="0" algn="bl" rotWithShape="0" blurRad="76200" dist="19050" dir="5400000">
              <a:srgbClr val="000000">
                <a:alpha val="12000"/>
              </a:srgbClr>
            </a:outerShdw>
          </a:effectLst>
        </p:spPr>
      </p:sp>
      <p:pic>
        <p:nvPicPr>
          <p:cNvPr id="32" name="ds-img-ct_head" descr="Head CT">    </p:cNvPr>
          <p:cNvPicPr>
            <a:picLocks noChangeAspect="1"/>
          </p:cNvPicPr>
          <p:nvPr/>
        </p:nvPicPr>
        <p:blipFill>
          <a:blip r:embed="rId5"/>
          <a:stretch>
            <a:fillRect/>
          </a:stretch>
        </p:blipFill>
        <p:spPr>
          <a:xfrm>
            <a:off x="9756648" y="1554480"/>
            <a:ext cx="1728216" cy="1728216"/>
          </a:xfrm>
          <a:prstGeom prst="rect">
            <a:avLst/>
          </a:prstGeom>
        </p:spPr>
      </p:pic>
      <p:sp>
        <p:nvSpPr>
          <p:cNvPr id="33" name="ds-tag-4"/>
          <p:cNvSpPr/>
          <p:nvPr/>
        </p:nvSpPr>
        <p:spPr>
          <a:xfrm>
            <a:off x="9756648" y="3429000"/>
            <a:ext cx="914400" cy="274320"/>
          </a:xfrm>
          <a:prstGeom prst="roundRect">
            <a:avLst>
              <a:gd name="adj" fmla="val 16667"/>
            </a:avLst>
          </a:prstGeom>
          <a:solidFill>
            <a:srgbClr val="000000"/>
          </a:solidFill>
          <a:ln/>
        </p:spPr>
      </p:sp>
      <p:sp>
        <p:nvSpPr>
          <p:cNvPr id="34" name="Text 27"/>
          <p:cNvSpPr txBox="1"/>
          <p:nvPr/>
        </p:nvSpPr>
        <p:spPr>
          <a:xfrm>
            <a:off x="9756648" y="3429000"/>
            <a:ext cx="914400" cy="274320"/>
          </a:xfrm>
          <a:prstGeom prst="rect">
            <a:avLst/>
          </a:prstGeom>
          <a:noFill/>
          <a:ln/>
        </p:spPr>
        <p:txBody>
          <a:bodyPr wrap="square" lIns="0" tIns="0" rIns="0" bIns="0" rtlCol="0" anchor="ctr"/>
          <a:lstStyle/>
          <a:p>
            <a:pPr algn="ctr" indent="0" marL="0">
              <a:buNone/>
            </a:pPr>
            <a:r>
              <a:rPr lang="en-US" sz="1000" b="1" dirty="0">
                <a:solidFill>
                  <a:schemeClr val="bg1"/>
                </a:solidFill>
                <a:latin typeface="Calibri" pitchFamily="34" charset="0"/>
                <a:ea typeface="Calibri" pitchFamily="34" charset="-122"/>
                <a:cs typeface="Calibri" pitchFamily="34" charset="-120"/>
              </a:rPr>
              <a:t>REAL</a:t>
            </a:r>
            <a:endParaRPr lang="en-US" sz="1000" dirty="0"/>
          </a:p>
        </p:txBody>
      </p:sp>
      <p:sp>
        <p:nvSpPr>
          <p:cNvPr id="35" name="Text 28"/>
          <p:cNvSpPr txBox="1"/>
          <p:nvPr/>
        </p:nvSpPr>
        <p:spPr>
          <a:xfrm>
            <a:off x="9756648" y="3794760"/>
            <a:ext cx="1783080"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Head CT</a:t>
            </a:r>
            <a:endParaRPr lang="en-US" sz="1600" dirty="0"/>
          </a:p>
        </p:txBody>
      </p:sp>
      <p:sp>
        <p:nvSpPr>
          <p:cNvPr id="36" name="Text 29"/>
          <p:cNvSpPr txBox="1"/>
          <p:nvPr/>
        </p:nvSpPr>
        <p:spPr>
          <a:xfrm>
            <a:off x="9756648" y="4206240"/>
            <a:ext cx="1755648" cy="132588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Stanford CThead: 113 axial slices, 256², 16-bit, 2 mm spacing.</a:t>
            </a:r>
            <a:endParaRPr lang="en-US" sz="1200" dirty="0"/>
          </a:p>
        </p:txBody>
      </p:sp>
      <p:sp>
        <p:nvSpPr>
          <p:cNvPr id="37" name="Text 30"/>
          <p:cNvSpPr txBox="1"/>
          <p:nvPr/>
        </p:nvSpPr>
        <p:spPr>
          <a:xfrm>
            <a:off x="9756648" y="5623560"/>
            <a:ext cx="1783080" cy="320040"/>
          </a:xfrm>
          <a:prstGeom prst="rect">
            <a:avLst/>
          </a:prstGeom>
          <a:noFill/>
          <a:ln/>
        </p:spPr>
        <p:txBody>
          <a:bodyPr wrap="square" lIns="0" tIns="0" rIns="0" bIns="0" rtlCol="0" anchor="t"/>
          <a:lstStyle/>
          <a:p>
            <a:pPr indent="0" marL="0">
              <a:buNone/>
            </a:pPr>
            <a:r>
              <a:rPr lang="en-US" sz="1200" b="1" dirty="0">
                <a:solidFill>
                  <a:schemeClr val="accent1"/>
                </a:solidFill>
                <a:latin typeface="Calibri" pitchFamily="34" charset="0"/>
                <a:ea typeface="Calibri" pitchFamily="34" charset="-122"/>
                <a:cs typeface="Calibri" pitchFamily="34" charset="-120"/>
              </a:rPr>
              <a:t>Stage 5 · 3D render</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Our five-stage processing pipeline</a:t>
            </a:r>
            <a:endParaRPr lang="en-US" sz="3400" dirty="0"/>
          </a:p>
        </p:txBody>
      </p:sp>
      <p:pic>
        <p:nvPicPr>
          <p:cNvPr id="3" name="pipe-img-ct_recon" descr="CT reconstruction">    </p:cNvPr>
          <p:cNvPicPr>
            <a:picLocks noChangeAspect="1"/>
          </p:cNvPicPr>
          <p:nvPr/>
        </p:nvPicPr>
        <p:blipFill>
          <a:blip r:embed="rId1"/>
          <a:stretch>
            <a:fillRect/>
          </a:stretch>
        </p:blipFill>
        <p:spPr>
          <a:xfrm>
            <a:off x="640080" y="1371600"/>
            <a:ext cx="1828800" cy="1828800"/>
          </a:xfrm>
          <a:prstGeom prst="rect">
            <a:avLst/>
          </a:prstGeom>
        </p:spPr>
      </p:pic>
      <p:sp>
        <p:nvSpPr>
          <p:cNvPr id="4" name="pipe-num-0"/>
          <p:cNvSpPr/>
          <p:nvPr/>
        </p:nvSpPr>
        <p:spPr>
          <a:xfrm>
            <a:off x="1280160" y="3383280"/>
            <a:ext cx="548640" cy="548640"/>
          </a:xfrm>
          <a:prstGeom prst="ellipse">
            <a:avLst/>
          </a:prstGeom>
          <a:solidFill>
            <a:schemeClr val="accent1"/>
          </a:solidFill>
          <a:ln/>
        </p:spPr>
      </p:sp>
      <p:sp>
        <p:nvSpPr>
          <p:cNvPr id="5" name="Text 2"/>
          <p:cNvSpPr txBox="1"/>
          <p:nvPr/>
        </p:nvSpPr>
        <p:spPr>
          <a:xfrm>
            <a:off x="1280160" y="338328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1</a:t>
            </a:r>
            <a:endParaRPr lang="en-US" sz="1800" dirty="0"/>
          </a:p>
        </p:txBody>
      </p:sp>
      <p:sp>
        <p:nvSpPr>
          <p:cNvPr id="6" name="pipe-arrow-0"/>
          <p:cNvSpPr/>
          <p:nvPr/>
        </p:nvSpPr>
        <p:spPr>
          <a:xfrm>
            <a:off x="1965960" y="3657600"/>
            <a:ext cx="1965960" cy="0"/>
          </a:xfrm>
          <a:prstGeom prst="line">
            <a:avLst/>
          </a:prstGeom>
          <a:noFill/>
          <a:ln w="25400">
            <a:solidFill>
              <a:srgbClr val="000000"/>
            </a:solidFill>
            <a:prstDash val="solid"/>
            <a:tailEnd type="triangle"/>
          </a:ln>
        </p:spPr>
      </p:sp>
      <p:sp>
        <p:nvSpPr>
          <p:cNvPr id="7" name="Text 4"/>
          <p:cNvSpPr txBox="1"/>
          <p:nvPr/>
        </p:nvSpPr>
        <p:spPr>
          <a:xfrm>
            <a:off x="548640" y="4114800"/>
            <a:ext cx="2011680" cy="365760"/>
          </a:xfrm>
          <a:prstGeom prst="rect">
            <a:avLst/>
          </a:prstGeom>
          <a:noFill/>
          <a:ln/>
        </p:spPr>
        <p:txBody>
          <a:bodyPr wrap="square" lIns="0" tIns="0" rIns="0" bIns="0" rtlCol="0" anchor="t"/>
          <a:lstStyle/>
          <a:p>
            <a:pPr algn="ctr" indent="0" marL="0">
              <a:buNone/>
            </a:pPr>
            <a:r>
              <a:rPr lang="en-US" sz="1600" b="1" dirty="0">
                <a:solidFill>
                  <a:schemeClr val="tx2"/>
                </a:solidFill>
                <a:latin typeface="Calibri" pitchFamily="34" charset="0"/>
                <a:ea typeface="Calibri" pitchFamily="34" charset="-122"/>
                <a:cs typeface="Calibri" pitchFamily="34" charset="-120"/>
              </a:rPr>
              <a:t>CT reconstruction</a:t>
            </a:r>
            <a:endParaRPr lang="en-US" sz="1600" dirty="0"/>
          </a:p>
        </p:txBody>
      </p:sp>
      <p:sp>
        <p:nvSpPr>
          <p:cNvPr id="8" name="Text 5"/>
          <p:cNvSpPr txBox="1"/>
          <p:nvPr/>
        </p:nvSpPr>
        <p:spPr>
          <a:xfrm>
            <a:off x="548640" y="4526280"/>
            <a:ext cx="2011680" cy="594360"/>
          </a:xfrm>
          <a:prstGeom prst="rect">
            <a:avLst/>
          </a:prstGeom>
          <a:noFill/>
          <a:ln/>
        </p:spPr>
        <p:txBody>
          <a:bodyPr wrap="square" lIns="0" tIns="0" rIns="0" bIns="0" rtlCol="0" anchor="t"/>
          <a:lstStyle/>
          <a:p>
            <a:pPr algn="ctr" indent="0" marL="0">
              <a:buNone/>
            </a:pPr>
            <a:r>
              <a:rPr lang="en-US" sz="1300" dirty="0">
                <a:solidFill>
                  <a:schemeClr val="tx1"/>
                </a:solidFill>
                <a:latin typeface="Calibri" pitchFamily="34" charset="0"/>
                <a:ea typeface="Calibri" pitchFamily="34" charset="-122"/>
                <a:cs typeface="Calibri" pitchFamily="34" charset="-120"/>
              </a:rPr>
              <a:t>Filtered back projection</a:t>
            </a:r>
            <a:endParaRPr lang="en-US" sz="1300" dirty="0"/>
          </a:p>
        </p:txBody>
      </p:sp>
      <p:sp>
        <p:nvSpPr>
          <p:cNvPr id="9" name="pipe-gpu-0"/>
          <p:cNvSpPr/>
          <p:nvPr/>
        </p:nvSpPr>
        <p:spPr>
          <a:xfrm>
            <a:off x="594360" y="5257800"/>
            <a:ext cx="1920240" cy="640080"/>
          </a:xfrm>
          <a:prstGeom prst="roundRect">
            <a:avLst>
              <a:gd name="adj" fmla="val 8571"/>
            </a:avLst>
          </a:prstGeom>
          <a:solidFill>
            <a:schemeClr val="bg2"/>
          </a:solidFill>
          <a:ln/>
        </p:spPr>
      </p:sp>
      <p:sp>
        <p:nvSpPr>
          <p:cNvPr id="10" name="Text 7"/>
          <p:cNvSpPr txBox="1"/>
          <p:nvPr/>
        </p:nvSpPr>
        <p:spPr>
          <a:xfrm>
            <a:off x="640080" y="5257800"/>
            <a:ext cx="1828800" cy="640080"/>
          </a:xfrm>
          <a:prstGeom prst="rect">
            <a:avLst/>
          </a:prstGeom>
          <a:noFill/>
          <a:ln/>
        </p:spPr>
        <p:txBody>
          <a:bodyPr wrap="square" lIns="0" tIns="0" rIns="0" bIns="0" rtlCol="0" anchor="ctr"/>
          <a:lstStyle/>
          <a:p>
            <a:pPr algn="ctr" indent="0" marL="0">
              <a:buNone/>
            </a:pPr>
            <a:r>
              <a:rPr lang="en-US" sz="1200" b="1" dirty="0">
                <a:solidFill>
                  <a:schemeClr val="accent5"/>
                </a:solidFill>
                <a:latin typeface="Calibri" pitchFamily="34" charset="0"/>
                <a:ea typeface="Calibri" pitchFamily="34" charset="-122"/>
                <a:cs typeface="Calibri" pitchFamily="34" charset="-120"/>
              </a:rPr>
              <a:t>Custom CUDA kernel</a:t>
            </a:r>
            <a:endParaRPr lang="en-US" sz="1200" dirty="0"/>
          </a:p>
        </p:txBody>
      </p:sp>
      <p:pic>
        <p:nvPicPr>
          <p:cNvPr id="11" name="pipe-img-mri" descr="MRI reconstruction">    </p:cNvPr>
          <p:cNvPicPr>
            <a:picLocks noChangeAspect="1"/>
          </p:cNvPicPr>
          <p:nvPr/>
        </p:nvPicPr>
        <p:blipFill>
          <a:blip r:embed="rId2"/>
          <a:stretch>
            <a:fillRect/>
          </a:stretch>
        </p:blipFill>
        <p:spPr>
          <a:xfrm>
            <a:off x="2926080" y="1371600"/>
            <a:ext cx="1828800" cy="1828800"/>
          </a:xfrm>
          <a:prstGeom prst="rect">
            <a:avLst/>
          </a:prstGeom>
        </p:spPr>
      </p:pic>
      <p:sp>
        <p:nvSpPr>
          <p:cNvPr id="12" name="pipe-num-1"/>
          <p:cNvSpPr/>
          <p:nvPr/>
        </p:nvSpPr>
        <p:spPr>
          <a:xfrm>
            <a:off x="3566160" y="3383280"/>
            <a:ext cx="548640" cy="548640"/>
          </a:xfrm>
          <a:prstGeom prst="ellipse">
            <a:avLst/>
          </a:prstGeom>
          <a:solidFill>
            <a:schemeClr val="accent1"/>
          </a:solidFill>
          <a:ln/>
        </p:spPr>
      </p:sp>
      <p:sp>
        <p:nvSpPr>
          <p:cNvPr id="13" name="Text 9"/>
          <p:cNvSpPr txBox="1"/>
          <p:nvPr/>
        </p:nvSpPr>
        <p:spPr>
          <a:xfrm>
            <a:off x="3566160" y="338328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2</a:t>
            </a:r>
            <a:endParaRPr lang="en-US" sz="1800" dirty="0"/>
          </a:p>
        </p:txBody>
      </p:sp>
      <p:sp>
        <p:nvSpPr>
          <p:cNvPr id="14" name="pipe-arrow-1"/>
          <p:cNvSpPr/>
          <p:nvPr/>
        </p:nvSpPr>
        <p:spPr>
          <a:xfrm>
            <a:off x="4251960" y="3657600"/>
            <a:ext cx="1965960" cy="0"/>
          </a:xfrm>
          <a:prstGeom prst="line">
            <a:avLst/>
          </a:prstGeom>
          <a:noFill/>
          <a:ln w="25400">
            <a:solidFill>
              <a:srgbClr val="000000"/>
            </a:solidFill>
            <a:prstDash val="solid"/>
            <a:tailEnd type="triangle"/>
          </a:ln>
        </p:spPr>
      </p:sp>
      <p:sp>
        <p:nvSpPr>
          <p:cNvPr id="15" name="Text 11"/>
          <p:cNvSpPr txBox="1"/>
          <p:nvPr/>
        </p:nvSpPr>
        <p:spPr>
          <a:xfrm>
            <a:off x="2834640" y="4114800"/>
            <a:ext cx="2011680" cy="365760"/>
          </a:xfrm>
          <a:prstGeom prst="rect">
            <a:avLst/>
          </a:prstGeom>
          <a:noFill/>
          <a:ln/>
        </p:spPr>
        <p:txBody>
          <a:bodyPr wrap="square" lIns="0" tIns="0" rIns="0" bIns="0" rtlCol="0" anchor="t"/>
          <a:lstStyle/>
          <a:p>
            <a:pPr algn="ctr" indent="0" marL="0">
              <a:buNone/>
            </a:pPr>
            <a:r>
              <a:rPr lang="en-US" sz="1600" b="1" dirty="0">
                <a:solidFill>
                  <a:schemeClr val="tx2"/>
                </a:solidFill>
                <a:latin typeface="Calibri" pitchFamily="34" charset="0"/>
                <a:ea typeface="Calibri" pitchFamily="34" charset="-122"/>
                <a:cs typeface="Calibri" pitchFamily="34" charset="-120"/>
              </a:rPr>
              <a:t>MRI reconstruction</a:t>
            </a:r>
            <a:endParaRPr lang="en-US" sz="1600" dirty="0"/>
          </a:p>
        </p:txBody>
      </p:sp>
      <p:sp>
        <p:nvSpPr>
          <p:cNvPr id="16" name="Text 12"/>
          <p:cNvSpPr txBox="1"/>
          <p:nvPr/>
        </p:nvSpPr>
        <p:spPr>
          <a:xfrm>
            <a:off x="2834640" y="4526280"/>
            <a:ext cx="2011680" cy="594360"/>
          </a:xfrm>
          <a:prstGeom prst="rect">
            <a:avLst/>
          </a:prstGeom>
          <a:noFill/>
          <a:ln/>
        </p:spPr>
        <p:txBody>
          <a:bodyPr wrap="square" lIns="0" tIns="0" rIns="0" bIns="0" rtlCol="0" anchor="t"/>
          <a:lstStyle/>
          <a:p>
            <a:pPr algn="ctr" indent="0" marL="0">
              <a:buNone/>
            </a:pPr>
            <a:r>
              <a:rPr lang="en-US" sz="1300" dirty="0">
                <a:solidFill>
                  <a:schemeClr val="tx1"/>
                </a:solidFill>
                <a:latin typeface="Calibri" pitchFamily="34" charset="0"/>
                <a:ea typeface="Calibri" pitchFamily="34" charset="-122"/>
                <a:cs typeface="Calibri" pitchFamily="34" charset="-120"/>
              </a:rPr>
              <a:t>k-space → image, iterative CS</a:t>
            </a:r>
            <a:endParaRPr lang="en-US" sz="1300" dirty="0"/>
          </a:p>
        </p:txBody>
      </p:sp>
      <p:sp>
        <p:nvSpPr>
          <p:cNvPr id="17" name="pipe-gpu-1"/>
          <p:cNvSpPr/>
          <p:nvPr/>
        </p:nvSpPr>
        <p:spPr>
          <a:xfrm>
            <a:off x="2880360" y="5257800"/>
            <a:ext cx="1920240" cy="640080"/>
          </a:xfrm>
          <a:prstGeom prst="roundRect">
            <a:avLst>
              <a:gd name="adj" fmla="val 8571"/>
            </a:avLst>
          </a:prstGeom>
          <a:solidFill>
            <a:schemeClr val="bg2"/>
          </a:solidFill>
          <a:ln/>
        </p:spPr>
      </p:sp>
      <p:sp>
        <p:nvSpPr>
          <p:cNvPr id="18" name="Text 14"/>
          <p:cNvSpPr txBox="1"/>
          <p:nvPr/>
        </p:nvSpPr>
        <p:spPr>
          <a:xfrm>
            <a:off x="2926080" y="5257800"/>
            <a:ext cx="1828800" cy="640080"/>
          </a:xfrm>
          <a:prstGeom prst="rect">
            <a:avLst/>
          </a:prstGeom>
          <a:noFill/>
          <a:ln/>
        </p:spPr>
        <p:txBody>
          <a:bodyPr wrap="square" lIns="0" tIns="0" rIns="0" bIns="0" rtlCol="0" anchor="ctr"/>
          <a:lstStyle/>
          <a:p>
            <a:pPr algn="ctr" indent="0" marL="0">
              <a:buNone/>
            </a:pPr>
            <a:r>
              <a:rPr lang="en-US" sz="1200" b="1" dirty="0">
                <a:solidFill>
                  <a:schemeClr val="accent5"/>
                </a:solidFill>
                <a:latin typeface="Calibri" pitchFamily="34" charset="0"/>
                <a:ea typeface="Calibri" pitchFamily="34" charset="-122"/>
                <a:cs typeface="Calibri" pitchFamily="34" charset="-120"/>
              </a:rPr>
              <a:t>cuFFT (PyTorch)</a:t>
            </a:r>
            <a:endParaRPr lang="en-US" sz="1200" dirty="0"/>
          </a:p>
        </p:txBody>
      </p:sp>
      <p:pic>
        <p:nvPicPr>
          <p:cNvPr id="19" name="pipe-img-denoised" descr="3D denoising">    </p:cNvPr>
          <p:cNvPicPr>
            <a:picLocks noChangeAspect="1"/>
          </p:cNvPicPr>
          <p:nvPr/>
        </p:nvPicPr>
        <p:blipFill>
          <a:blip r:embed="rId3"/>
          <a:stretch>
            <a:fillRect/>
          </a:stretch>
        </p:blipFill>
        <p:spPr>
          <a:xfrm>
            <a:off x="5212080" y="1371600"/>
            <a:ext cx="1828800" cy="1828800"/>
          </a:xfrm>
          <a:prstGeom prst="rect">
            <a:avLst/>
          </a:prstGeom>
        </p:spPr>
      </p:pic>
      <p:sp>
        <p:nvSpPr>
          <p:cNvPr id="20" name="pipe-num-2"/>
          <p:cNvSpPr/>
          <p:nvPr/>
        </p:nvSpPr>
        <p:spPr>
          <a:xfrm>
            <a:off x="5852160" y="3383280"/>
            <a:ext cx="548640" cy="548640"/>
          </a:xfrm>
          <a:prstGeom prst="ellipse">
            <a:avLst/>
          </a:prstGeom>
          <a:solidFill>
            <a:schemeClr val="accent1"/>
          </a:solidFill>
          <a:ln/>
        </p:spPr>
      </p:sp>
      <p:sp>
        <p:nvSpPr>
          <p:cNvPr id="21" name="Text 16"/>
          <p:cNvSpPr txBox="1"/>
          <p:nvPr/>
        </p:nvSpPr>
        <p:spPr>
          <a:xfrm>
            <a:off x="5852160" y="338328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3</a:t>
            </a:r>
            <a:endParaRPr lang="en-US" sz="1800" dirty="0"/>
          </a:p>
        </p:txBody>
      </p:sp>
      <p:sp>
        <p:nvSpPr>
          <p:cNvPr id="22" name="pipe-arrow-2"/>
          <p:cNvSpPr/>
          <p:nvPr/>
        </p:nvSpPr>
        <p:spPr>
          <a:xfrm>
            <a:off x="6537960" y="3657600"/>
            <a:ext cx="1965960" cy="0"/>
          </a:xfrm>
          <a:prstGeom prst="line">
            <a:avLst/>
          </a:prstGeom>
          <a:noFill/>
          <a:ln w="25400">
            <a:solidFill>
              <a:srgbClr val="000000"/>
            </a:solidFill>
            <a:prstDash val="solid"/>
            <a:tailEnd type="triangle"/>
          </a:ln>
        </p:spPr>
      </p:sp>
      <p:sp>
        <p:nvSpPr>
          <p:cNvPr id="23" name="Text 18"/>
          <p:cNvSpPr txBox="1"/>
          <p:nvPr/>
        </p:nvSpPr>
        <p:spPr>
          <a:xfrm>
            <a:off x="5120640" y="4114800"/>
            <a:ext cx="2011680" cy="365760"/>
          </a:xfrm>
          <a:prstGeom prst="rect">
            <a:avLst/>
          </a:prstGeom>
          <a:noFill/>
          <a:ln/>
        </p:spPr>
        <p:txBody>
          <a:bodyPr wrap="square" lIns="0" tIns="0" rIns="0" bIns="0" rtlCol="0" anchor="t"/>
          <a:lstStyle/>
          <a:p>
            <a:pPr algn="ctr" indent="0" marL="0">
              <a:buNone/>
            </a:pPr>
            <a:r>
              <a:rPr lang="en-US" sz="1600" b="1" dirty="0">
                <a:solidFill>
                  <a:schemeClr val="tx2"/>
                </a:solidFill>
                <a:latin typeface="Calibri" pitchFamily="34" charset="0"/>
                <a:ea typeface="Calibri" pitchFamily="34" charset="-122"/>
                <a:cs typeface="Calibri" pitchFamily="34" charset="-120"/>
              </a:rPr>
              <a:t>3D denoising</a:t>
            </a:r>
            <a:endParaRPr lang="en-US" sz="1600" dirty="0"/>
          </a:p>
        </p:txBody>
      </p:sp>
      <p:sp>
        <p:nvSpPr>
          <p:cNvPr id="24" name="Text 19"/>
          <p:cNvSpPr txBox="1"/>
          <p:nvPr/>
        </p:nvSpPr>
        <p:spPr>
          <a:xfrm>
            <a:off x="5120640" y="4526280"/>
            <a:ext cx="2011680" cy="594360"/>
          </a:xfrm>
          <a:prstGeom prst="rect">
            <a:avLst/>
          </a:prstGeom>
          <a:noFill/>
          <a:ln/>
        </p:spPr>
        <p:txBody>
          <a:bodyPr wrap="square" lIns="0" tIns="0" rIns="0" bIns="0" rtlCol="0" anchor="t"/>
          <a:lstStyle/>
          <a:p>
            <a:pPr algn="ctr" indent="0" marL="0">
              <a:buNone/>
            </a:pPr>
            <a:r>
              <a:rPr lang="en-US" sz="1300" dirty="0">
                <a:solidFill>
                  <a:schemeClr val="tx1"/>
                </a:solidFill>
                <a:latin typeface="Calibri" pitchFamily="34" charset="0"/>
                <a:ea typeface="Calibri" pitchFamily="34" charset="-122"/>
                <a:cs typeface="Calibri" pitchFamily="34" charset="-120"/>
              </a:rPr>
              <a:t>5×5×5 Gaussian convolution</a:t>
            </a:r>
            <a:endParaRPr lang="en-US" sz="1300" dirty="0"/>
          </a:p>
        </p:txBody>
      </p:sp>
      <p:sp>
        <p:nvSpPr>
          <p:cNvPr id="25" name="pipe-gpu-2"/>
          <p:cNvSpPr/>
          <p:nvPr/>
        </p:nvSpPr>
        <p:spPr>
          <a:xfrm>
            <a:off x="5166360" y="5257800"/>
            <a:ext cx="1920240" cy="640080"/>
          </a:xfrm>
          <a:prstGeom prst="roundRect">
            <a:avLst>
              <a:gd name="adj" fmla="val 8571"/>
            </a:avLst>
          </a:prstGeom>
          <a:solidFill>
            <a:schemeClr val="bg2"/>
          </a:solidFill>
          <a:ln/>
        </p:spPr>
      </p:sp>
      <p:sp>
        <p:nvSpPr>
          <p:cNvPr id="26" name="Text 21"/>
          <p:cNvSpPr txBox="1"/>
          <p:nvPr/>
        </p:nvSpPr>
        <p:spPr>
          <a:xfrm>
            <a:off x="5212080" y="5257800"/>
            <a:ext cx="1828800" cy="640080"/>
          </a:xfrm>
          <a:prstGeom prst="rect">
            <a:avLst/>
          </a:prstGeom>
          <a:noFill/>
          <a:ln/>
        </p:spPr>
        <p:txBody>
          <a:bodyPr wrap="square" lIns="0" tIns="0" rIns="0" bIns="0" rtlCol="0" anchor="ctr"/>
          <a:lstStyle/>
          <a:p>
            <a:pPr algn="ctr" indent="0" marL="0">
              <a:buNone/>
            </a:pPr>
            <a:r>
              <a:rPr lang="en-US" sz="1200" b="1" dirty="0">
                <a:solidFill>
                  <a:schemeClr val="accent5"/>
                </a:solidFill>
                <a:latin typeface="Calibri" pitchFamily="34" charset="0"/>
                <a:ea typeface="Calibri" pitchFamily="34" charset="-122"/>
                <a:cs typeface="Calibri" pitchFamily="34" charset="-120"/>
              </a:rPr>
              <a:t>Custom CUDA, shared memory</a:t>
            </a:r>
            <a:endParaRPr lang="en-US" sz="1200" dirty="0"/>
          </a:p>
        </p:txBody>
      </p:sp>
      <p:pic>
        <p:nvPicPr>
          <p:cNvPr id="27" name="pipe-img-seg_overlay" descr="Segmentation">    </p:cNvPr>
          <p:cNvPicPr>
            <a:picLocks noChangeAspect="1"/>
          </p:cNvPicPr>
          <p:nvPr/>
        </p:nvPicPr>
        <p:blipFill>
          <a:blip r:embed="rId4"/>
          <a:stretch>
            <a:fillRect/>
          </a:stretch>
        </p:blipFill>
        <p:spPr>
          <a:xfrm>
            <a:off x="7498080" y="1371600"/>
            <a:ext cx="1828800" cy="1828800"/>
          </a:xfrm>
          <a:prstGeom prst="rect">
            <a:avLst/>
          </a:prstGeom>
        </p:spPr>
      </p:pic>
      <p:sp>
        <p:nvSpPr>
          <p:cNvPr id="28" name="pipe-num-3"/>
          <p:cNvSpPr/>
          <p:nvPr/>
        </p:nvSpPr>
        <p:spPr>
          <a:xfrm>
            <a:off x="8138160" y="3383280"/>
            <a:ext cx="548640" cy="548640"/>
          </a:xfrm>
          <a:prstGeom prst="ellipse">
            <a:avLst/>
          </a:prstGeom>
          <a:solidFill>
            <a:schemeClr val="accent1"/>
          </a:solidFill>
          <a:ln/>
        </p:spPr>
      </p:sp>
      <p:sp>
        <p:nvSpPr>
          <p:cNvPr id="29" name="Text 23"/>
          <p:cNvSpPr txBox="1"/>
          <p:nvPr/>
        </p:nvSpPr>
        <p:spPr>
          <a:xfrm>
            <a:off x="8138160" y="338328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4</a:t>
            </a:r>
            <a:endParaRPr lang="en-US" sz="1800" dirty="0"/>
          </a:p>
        </p:txBody>
      </p:sp>
      <p:sp>
        <p:nvSpPr>
          <p:cNvPr id="30" name="pipe-arrow-3"/>
          <p:cNvSpPr/>
          <p:nvPr/>
        </p:nvSpPr>
        <p:spPr>
          <a:xfrm>
            <a:off x="8823960" y="3657600"/>
            <a:ext cx="1965960" cy="0"/>
          </a:xfrm>
          <a:prstGeom prst="line">
            <a:avLst/>
          </a:prstGeom>
          <a:noFill/>
          <a:ln w="25400">
            <a:solidFill>
              <a:srgbClr val="000000"/>
            </a:solidFill>
            <a:prstDash val="solid"/>
            <a:tailEnd type="triangle"/>
          </a:ln>
        </p:spPr>
      </p:sp>
      <p:sp>
        <p:nvSpPr>
          <p:cNvPr id="31" name="Text 25"/>
          <p:cNvSpPr txBox="1"/>
          <p:nvPr/>
        </p:nvSpPr>
        <p:spPr>
          <a:xfrm>
            <a:off x="7406640" y="4114800"/>
            <a:ext cx="2011680" cy="365760"/>
          </a:xfrm>
          <a:prstGeom prst="rect">
            <a:avLst/>
          </a:prstGeom>
          <a:noFill/>
          <a:ln/>
        </p:spPr>
        <p:txBody>
          <a:bodyPr wrap="square" lIns="0" tIns="0" rIns="0" bIns="0" rtlCol="0" anchor="t"/>
          <a:lstStyle/>
          <a:p>
            <a:pPr algn="ctr" indent="0" marL="0">
              <a:buNone/>
            </a:pPr>
            <a:r>
              <a:rPr lang="en-US" sz="1600" b="1" dirty="0">
                <a:solidFill>
                  <a:schemeClr val="tx2"/>
                </a:solidFill>
                <a:latin typeface="Calibri" pitchFamily="34" charset="0"/>
                <a:ea typeface="Calibri" pitchFamily="34" charset="-122"/>
                <a:cs typeface="Calibri" pitchFamily="34" charset="-120"/>
              </a:rPr>
              <a:t>Segmentation</a:t>
            </a:r>
            <a:endParaRPr lang="en-US" sz="1600" dirty="0"/>
          </a:p>
        </p:txBody>
      </p:sp>
      <p:sp>
        <p:nvSpPr>
          <p:cNvPr id="32" name="Text 26"/>
          <p:cNvSpPr txBox="1"/>
          <p:nvPr/>
        </p:nvSpPr>
        <p:spPr>
          <a:xfrm>
            <a:off x="7406640" y="4526280"/>
            <a:ext cx="2011680" cy="594360"/>
          </a:xfrm>
          <a:prstGeom prst="rect">
            <a:avLst/>
          </a:prstGeom>
          <a:noFill/>
          <a:ln/>
        </p:spPr>
        <p:txBody>
          <a:bodyPr wrap="square" lIns="0" tIns="0" rIns="0" bIns="0" rtlCol="0" anchor="t"/>
          <a:lstStyle/>
          <a:p>
            <a:pPr algn="ctr" indent="0" marL="0">
              <a:buNone/>
            </a:pPr>
            <a:r>
              <a:rPr lang="en-US" sz="1300" dirty="0">
                <a:solidFill>
                  <a:schemeClr val="tx1"/>
                </a:solidFill>
                <a:latin typeface="Calibri" pitchFamily="34" charset="0"/>
                <a:ea typeface="Calibri" pitchFamily="34" charset="-122"/>
                <a:cs typeface="Calibri" pitchFamily="34" charset="-120"/>
              </a:rPr>
              <a:t>2D U-Net, lesion masks</a:t>
            </a:r>
            <a:endParaRPr lang="en-US" sz="1300" dirty="0"/>
          </a:p>
        </p:txBody>
      </p:sp>
      <p:sp>
        <p:nvSpPr>
          <p:cNvPr id="33" name="pipe-gpu-3"/>
          <p:cNvSpPr/>
          <p:nvPr/>
        </p:nvSpPr>
        <p:spPr>
          <a:xfrm>
            <a:off x="7452360" y="5257800"/>
            <a:ext cx="1920240" cy="640080"/>
          </a:xfrm>
          <a:prstGeom prst="roundRect">
            <a:avLst>
              <a:gd name="adj" fmla="val 8571"/>
            </a:avLst>
          </a:prstGeom>
          <a:solidFill>
            <a:schemeClr val="bg2"/>
          </a:solidFill>
          <a:ln/>
        </p:spPr>
      </p:sp>
      <p:sp>
        <p:nvSpPr>
          <p:cNvPr id="34" name="Text 28"/>
          <p:cNvSpPr txBox="1"/>
          <p:nvPr/>
        </p:nvSpPr>
        <p:spPr>
          <a:xfrm>
            <a:off x="7498080" y="5257800"/>
            <a:ext cx="1828800" cy="640080"/>
          </a:xfrm>
          <a:prstGeom prst="rect">
            <a:avLst/>
          </a:prstGeom>
          <a:noFill/>
          <a:ln/>
        </p:spPr>
        <p:txBody>
          <a:bodyPr wrap="square" lIns="0" tIns="0" rIns="0" bIns="0" rtlCol="0" anchor="ctr"/>
          <a:lstStyle/>
          <a:p>
            <a:pPr algn="ctr" indent="0" marL="0">
              <a:buNone/>
            </a:pPr>
            <a:r>
              <a:rPr lang="en-US" sz="1200" b="1" dirty="0">
                <a:solidFill>
                  <a:schemeClr val="accent5"/>
                </a:solidFill>
                <a:latin typeface="Calibri" pitchFamily="34" charset="0"/>
                <a:ea typeface="Calibri" pitchFamily="34" charset="-122"/>
                <a:cs typeface="Calibri" pitchFamily="34" charset="-120"/>
              </a:rPr>
              <a:t>cuDNN + Tensor Cores (FP16)</a:t>
            </a:r>
            <a:endParaRPr lang="en-US" sz="1200" dirty="0"/>
          </a:p>
        </p:txBody>
      </p:sp>
      <p:pic>
        <p:nvPicPr>
          <p:cNvPr id="35" name="pipe-img-render" descr="3D visualisation">    </p:cNvPr>
          <p:cNvPicPr>
            <a:picLocks noChangeAspect="1"/>
          </p:cNvPicPr>
          <p:nvPr/>
        </p:nvPicPr>
        <p:blipFill>
          <a:blip r:embed="rId5"/>
          <a:stretch>
            <a:fillRect/>
          </a:stretch>
        </p:blipFill>
        <p:spPr>
          <a:xfrm>
            <a:off x="9784080" y="1371600"/>
            <a:ext cx="1828800" cy="1828800"/>
          </a:xfrm>
          <a:prstGeom prst="rect">
            <a:avLst/>
          </a:prstGeom>
        </p:spPr>
      </p:pic>
      <p:sp>
        <p:nvSpPr>
          <p:cNvPr id="36" name="pipe-num-4"/>
          <p:cNvSpPr/>
          <p:nvPr/>
        </p:nvSpPr>
        <p:spPr>
          <a:xfrm>
            <a:off x="10424160" y="3383280"/>
            <a:ext cx="548640" cy="548640"/>
          </a:xfrm>
          <a:prstGeom prst="ellipse">
            <a:avLst/>
          </a:prstGeom>
          <a:solidFill>
            <a:schemeClr val="accent1"/>
          </a:solidFill>
          <a:ln/>
        </p:spPr>
      </p:sp>
      <p:sp>
        <p:nvSpPr>
          <p:cNvPr id="37" name="Text 30"/>
          <p:cNvSpPr txBox="1"/>
          <p:nvPr/>
        </p:nvSpPr>
        <p:spPr>
          <a:xfrm>
            <a:off x="10424160" y="338328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5</a:t>
            </a:r>
            <a:endParaRPr lang="en-US" sz="1800" dirty="0"/>
          </a:p>
        </p:txBody>
      </p:sp>
      <p:sp>
        <p:nvSpPr>
          <p:cNvPr id="38" name="Text 31"/>
          <p:cNvSpPr txBox="1"/>
          <p:nvPr/>
        </p:nvSpPr>
        <p:spPr>
          <a:xfrm>
            <a:off x="9692640" y="4114800"/>
            <a:ext cx="2011680" cy="365760"/>
          </a:xfrm>
          <a:prstGeom prst="rect">
            <a:avLst/>
          </a:prstGeom>
          <a:noFill/>
          <a:ln/>
        </p:spPr>
        <p:txBody>
          <a:bodyPr wrap="square" lIns="0" tIns="0" rIns="0" bIns="0" rtlCol="0" anchor="t"/>
          <a:lstStyle/>
          <a:p>
            <a:pPr algn="ctr" indent="0" marL="0">
              <a:buNone/>
            </a:pPr>
            <a:r>
              <a:rPr lang="en-US" sz="1600" b="1" dirty="0">
                <a:solidFill>
                  <a:schemeClr val="tx2"/>
                </a:solidFill>
                <a:latin typeface="Calibri" pitchFamily="34" charset="0"/>
                <a:ea typeface="Calibri" pitchFamily="34" charset="-122"/>
                <a:cs typeface="Calibri" pitchFamily="34" charset="-120"/>
              </a:rPr>
              <a:t>3D visualisation</a:t>
            </a:r>
            <a:endParaRPr lang="en-US" sz="1600" dirty="0"/>
          </a:p>
        </p:txBody>
      </p:sp>
      <p:sp>
        <p:nvSpPr>
          <p:cNvPr id="39" name="Text 32"/>
          <p:cNvSpPr txBox="1"/>
          <p:nvPr/>
        </p:nvSpPr>
        <p:spPr>
          <a:xfrm>
            <a:off x="9692640" y="4526280"/>
            <a:ext cx="2011680" cy="594360"/>
          </a:xfrm>
          <a:prstGeom prst="rect">
            <a:avLst/>
          </a:prstGeom>
          <a:noFill/>
          <a:ln/>
        </p:spPr>
        <p:txBody>
          <a:bodyPr wrap="square" lIns="0" tIns="0" rIns="0" bIns="0" rtlCol="0" anchor="t"/>
          <a:lstStyle/>
          <a:p>
            <a:pPr algn="ctr" indent="0" marL="0">
              <a:buNone/>
            </a:pPr>
            <a:r>
              <a:rPr lang="en-US" sz="1300" dirty="0">
                <a:solidFill>
                  <a:schemeClr val="tx1"/>
                </a:solidFill>
                <a:latin typeface="Calibri" pitchFamily="34" charset="0"/>
                <a:ea typeface="Calibri" pitchFamily="34" charset="-122"/>
                <a:cs typeface="Calibri" pitchFamily="34" charset="-120"/>
              </a:rPr>
              <a:t>MIP + volume ray casting</a:t>
            </a:r>
            <a:endParaRPr lang="en-US" sz="1300" dirty="0"/>
          </a:p>
        </p:txBody>
      </p:sp>
      <p:sp>
        <p:nvSpPr>
          <p:cNvPr id="40" name="pipe-gpu-4"/>
          <p:cNvSpPr/>
          <p:nvPr/>
        </p:nvSpPr>
        <p:spPr>
          <a:xfrm>
            <a:off x="9738360" y="5257800"/>
            <a:ext cx="1920240" cy="640080"/>
          </a:xfrm>
          <a:prstGeom prst="roundRect">
            <a:avLst>
              <a:gd name="adj" fmla="val 8571"/>
            </a:avLst>
          </a:prstGeom>
          <a:solidFill>
            <a:schemeClr val="bg2"/>
          </a:solidFill>
          <a:ln/>
        </p:spPr>
      </p:sp>
      <p:sp>
        <p:nvSpPr>
          <p:cNvPr id="41" name="Text 34"/>
          <p:cNvSpPr txBox="1"/>
          <p:nvPr/>
        </p:nvSpPr>
        <p:spPr>
          <a:xfrm>
            <a:off x="9784080" y="5257800"/>
            <a:ext cx="1828800" cy="640080"/>
          </a:xfrm>
          <a:prstGeom prst="rect">
            <a:avLst/>
          </a:prstGeom>
          <a:noFill/>
          <a:ln/>
        </p:spPr>
        <p:txBody>
          <a:bodyPr wrap="square" lIns="0" tIns="0" rIns="0" bIns="0" rtlCol="0" anchor="ctr"/>
          <a:lstStyle/>
          <a:p>
            <a:pPr algn="ctr" indent="0" marL="0">
              <a:buNone/>
            </a:pPr>
            <a:r>
              <a:rPr lang="en-US" sz="1200" b="1" dirty="0">
                <a:solidFill>
                  <a:schemeClr val="accent5"/>
                </a:solidFill>
                <a:latin typeface="Calibri" pitchFamily="34" charset="0"/>
                <a:ea typeface="Calibri" pitchFamily="34" charset="-122"/>
                <a:cs typeface="Calibri" pitchFamily="34" charset="-120"/>
              </a:rPr>
              <a:t>PyTorch grid_sample</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How we measured: a fair, verified benchmark</a:t>
            </a:r>
            <a:endParaRPr lang="en-US" sz="3400" dirty="0"/>
          </a:p>
        </p:txBody>
      </p:sp>
      <p:sp>
        <p:nvSpPr>
          <p:cNvPr id="3" name="step-0"/>
          <p:cNvSpPr/>
          <p:nvPr/>
        </p:nvSpPr>
        <p:spPr>
          <a:xfrm>
            <a:off x="548640" y="1371600"/>
            <a:ext cx="2633472" cy="2057400"/>
          </a:xfrm>
          <a:prstGeom prst="roundRect">
            <a:avLst>
              <a:gd name="adj" fmla="val 3556"/>
            </a:avLst>
          </a:prstGeom>
          <a:solidFill>
            <a:schemeClr val="bg1"/>
          </a:solidFill>
          <a:ln w="9525">
            <a:solidFill>
              <a:srgbClr val="D9D9D9"/>
            </a:solidFill>
            <a:prstDash val="solid"/>
          </a:ln>
          <a:effectLst>
            <a:outerShdw sx="100000" sy="100000" kx="0" ky="0" algn="bl" rotWithShape="0" blurRad="76200" dist="19050" dir="5400000">
              <a:srgbClr val="000000">
                <a:alpha val="12000"/>
              </a:srgbClr>
            </a:outerShdw>
          </a:effectLst>
        </p:spPr>
      </p:sp>
      <p:sp>
        <p:nvSpPr>
          <p:cNvPr id="4" name="icon-bg-FaRocket"/>
          <p:cNvSpPr/>
          <p:nvPr/>
        </p:nvSpPr>
        <p:spPr>
          <a:xfrm>
            <a:off x="777240" y="1554480"/>
            <a:ext cx="594360" cy="594360"/>
          </a:xfrm>
          <a:prstGeom prst="ellipse">
            <a:avLst/>
          </a:prstGeom>
          <a:solidFill>
            <a:schemeClr val="accent1"/>
          </a:solidFill>
          <a:ln/>
        </p:spPr>
      </p:sp>
      <p:pic>
        <p:nvPicPr>
          <p:cNvPr id="5" name="icon-FaRocket" descr="Rocket icon">    </p:cNvPr>
          <p:cNvPicPr>
            <a:picLocks noChangeAspect="1"/>
          </p:cNvPicPr>
          <p:nvPr/>
        </p:nvPicPr>
        <p:blipFill>
          <a:blip r:embed="rId1"/>
          <a:stretch>
            <a:fillRect/>
          </a:stretch>
        </p:blipFill>
        <p:spPr>
          <a:xfrm>
            <a:off x="919886" y="1697126"/>
            <a:ext cx="309067" cy="309067"/>
          </a:xfrm>
          <a:prstGeom prst="rect">
            <a:avLst/>
          </a:prstGeom>
        </p:spPr>
      </p:pic>
      <p:sp>
        <p:nvSpPr>
          <p:cNvPr id="6" name="Text 3"/>
          <p:cNvSpPr txBox="1"/>
          <p:nvPr/>
        </p:nvSpPr>
        <p:spPr>
          <a:xfrm>
            <a:off x="1508760" y="1645920"/>
            <a:ext cx="1554480" cy="411480"/>
          </a:xfrm>
          <a:prstGeom prst="rect">
            <a:avLst/>
          </a:prstGeom>
          <a:noFill/>
          <a:ln/>
        </p:spPr>
        <p:txBody>
          <a:bodyPr wrap="square" lIns="0" tIns="0" rIns="0" bIns="0" rtlCol="0" anchor="t"/>
          <a:lstStyle/>
          <a:p>
            <a:pPr indent="0" marL="0">
              <a:buNone/>
            </a:pPr>
            <a:r>
              <a:rPr lang="en-US" sz="1800" b="1" dirty="0">
                <a:solidFill>
                  <a:schemeClr val="tx2"/>
                </a:solidFill>
                <a:latin typeface="Calibri" pitchFamily="34" charset="0"/>
                <a:ea typeface="Calibri" pitchFamily="34" charset="-122"/>
                <a:cs typeface="Calibri" pitchFamily="34" charset="-120"/>
              </a:rPr>
              <a:t>Warm-up</a:t>
            </a:r>
            <a:endParaRPr lang="en-US" sz="1800" dirty="0"/>
          </a:p>
        </p:txBody>
      </p:sp>
      <p:sp>
        <p:nvSpPr>
          <p:cNvPr id="7" name="Text 4"/>
          <p:cNvSpPr txBox="1"/>
          <p:nvPr/>
        </p:nvSpPr>
        <p:spPr>
          <a:xfrm>
            <a:off x="777240" y="2286000"/>
            <a:ext cx="2240280" cy="105156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Untimed first run: CUDA context, cuFFT plans, kernel loading</a:t>
            </a:r>
            <a:endParaRPr lang="en-US" sz="1300" dirty="0"/>
          </a:p>
        </p:txBody>
      </p:sp>
      <p:sp>
        <p:nvSpPr>
          <p:cNvPr id="8" name="step-arrow-0"/>
          <p:cNvSpPr/>
          <p:nvPr/>
        </p:nvSpPr>
        <p:spPr>
          <a:xfrm>
            <a:off x="3218688" y="2377440"/>
            <a:ext cx="146304" cy="0"/>
          </a:xfrm>
          <a:prstGeom prst="line">
            <a:avLst/>
          </a:prstGeom>
          <a:noFill/>
          <a:ln w="25400">
            <a:solidFill>
              <a:srgbClr val="000000"/>
            </a:solidFill>
            <a:prstDash val="solid"/>
            <a:tailEnd type="triangle"/>
          </a:ln>
        </p:spPr>
      </p:sp>
      <p:sp>
        <p:nvSpPr>
          <p:cNvPr id="9" name="step-1"/>
          <p:cNvSpPr/>
          <p:nvPr/>
        </p:nvSpPr>
        <p:spPr>
          <a:xfrm>
            <a:off x="3364992" y="1371600"/>
            <a:ext cx="2633472" cy="2057400"/>
          </a:xfrm>
          <a:prstGeom prst="roundRect">
            <a:avLst>
              <a:gd name="adj" fmla="val 3556"/>
            </a:avLst>
          </a:prstGeom>
          <a:solidFill>
            <a:schemeClr val="bg1"/>
          </a:solidFill>
          <a:ln w="9525">
            <a:solidFill>
              <a:srgbClr val="D9D9D9"/>
            </a:solidFill>
            <a:prstDash val="solid"/>
          </a:ln>
          <a:effectLst>
            <a:outerShdw sx="100000" sy="100000" kx="0" ky="0" algn="bl" rotWithShape="0" blurRad="76200" dist="19050" dir="5400000">
              <a:srgbClr val="000000">
                <a:alpha val="12000"/>
              </a:srgbClr>
            </a:outerShdw>
          </a:effectLst>
        </p:spPr>
      </p:sp>
      <p:sp>
        <p:nvSpPr>
          <p:cNvPr id="10" name="icon-bg-FaStopwatch"/>
          <p:cNvSpPr/>
          <p:nvPr/>
        </p:nvSpPr>
        <p:spPr>
          <a:xfrm>
            <a:off x="3593592" y="1554480"/>
            <a:ext cx="594360" cy="594360"/>
          </a:xfrm>
          <a:prstGeom prst="ellipse">
            <a:avLst/>
          </a:prstGeom>
          <a:solidFill>
            <a:schemeClr val="accent1"/>
          </a:solidFill>
          <a:ln/>
        </p:spPr>
      </p:sp>
      <p:pic>
        <p:nvPicPr>
          <p:cNvPr id="11" name="icon-FaStopwatch" descr="Stopwatch icon">    </p:cNvPr>
          <p:cNvPicPr>
            <a:picLocks noChangeAspect="1"/>
          </p:cNvPicPr>
          <p:nvPr/>
        </p:nvPicPr>
        <p:blipFill>
          <a:blip r:embed="rId2"/>
          <a:stretch>
            <a:fillRect/>
          </a:stretch>
        </p:blipFill>
        <p:spPr>
          <a:xfrm>
            <a:off x="3736238" y="1697126"/>
            <a:ext cx="309067" cy="309067"/>
          </a:xfrm>
          <a:prstGeom prst="rect">
            <a:avLst/>
          </a:prstGeom>
        </p:spPr>
      </p:pic>
      <p:sp>
        <p:nvSpPr>
          <p:cNvPr id="12" name="Text 8"/>
          <p:cNvSpPr txBox="1"/>
          <p:nvPr/>
        </p:nvSpPr>
        <p:spPr>
          <a:xfrm>
            <a:off x="4325112" y="1645920"/>
            <a:ext cx="1554480" cy="411480"/>
          </a:xfrm>
          <a:prstGeom prst="rect">
            <a:avLst/>
          </a:prstGeom>
          <a:noFill/>
          <a:ln/>
        </p:spPr>
        <p:txBody>
          <a:bodyPr wrap="square" lIns="0" tIns="0" rIns="0" bIns="0" rtlCol="0" anchor="t"/>
          <a:lstStyle/>
          <a:p>
            <a:pPr indent="0" marL="0">
              <a:buNone/>
            </a:pPr>
            <a:r>
              <a:rPr lang="en-US" sz="1800" b="1" dirty="0">
                <a:solidFill>
                  <a:schemeClr val="tx2"/>
                </a:solidFill>
                <a:latin typeface="Calibri" pitchFamily="34" charset="0"/>
                <a:ea typeface="Calibri" pitchFamily="34" charset="-122"/>
                <a:cs typeface="Calibri" pitchFamily="34" charset="-120"/>
              </a:rPr>
              <a:t>Time</a:t>
            </a:r>
            <a:endParaRPr lang="en-US" sz="1800" dirty="0"/>
          </a:p>
        </p:txBody>
      </p:sp>
      <p:sp>
        <p:nvSpPr>
          <p:cNvPr id="13" name="Text 9"/>
          <p:cNvSpPr txBox="1"/>
          <p:nvPr/>
        </p:nvSpPr>
        <p:spPr>
          <a:xfrm>
            <a:off x="3593592" y="2286000"/>
            <a:ext cx="2240280" cy="105156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cudaEvent timers inside kernels; perf_counter + synchronize in Python</a:t>
            </a:r>
            <a:endParaRPr lang="en-US" sz="1300" dirty="0"/>
          </a:p>
        </p:txBody>
      </p:sp>
      <p:sp>
        <p:nvSpPr>
          <p:cNvPr id="14" name="step-arrow-1"/>
          <p:cNvSpPr/>
          <p:nvPr/>
        </p:nvSpPr>
        <p:spPr>
          <a:xfrm>
            <a:off x="6035040" y="2377440"/>
            <a:ext cx="146304" cy="0"/>
          </a:xfrm>
          <a:prstGeom prst="line">
            <a:avLst/>
          </a:prstGeom>
          <a:noFill/>
          <a:ln w="25400">
            <a:solidFill>
              <a:srgbClr val="000000"/>
            </a:solidFill>
            <a:prstDash val="solid"/>
            <a:tailEnd type="triangle"/>
          </a:ln>
        </p:spPr>
      </p:sp>
      <p:sp>
        <p:nvSpPr>
          <p:cNvPr id="15" name="step-2"/>
          <p:cNvSpPr/>
          <p:nvPr/>
        </p:nvSpPr>
        <p:spPr>
          <a:xfrm>
            <a:off x="6181344" y="1371600"/>
            <a:ext cx="2633472" cy="2057400"/>
          </a:xfrm>
          <a:prstGeom prst="roundRect">
            <a:avLst>
              <a:gd name="adj" fmla="val 3556"/>
            </a:avLst>
          </a:prstGeom>
          <a:solidFill>
            <a:schemeClr val="bg1"/>
          </a:solidFill>
          <a:ln w="9525">
            <a:solidFill>
              <a:srgbClr val="D9D9D9"/>
            </a:solidFill>
            <a:prstDash val="solid"/>
          </a:ln>
          <a:effectLst>
            <a:outerShdw sx="100000" sy="100000" kx="0" ky="0" algn="bl" rotWithShape="0" blurRad="76200" dist="19050" dir="5400000">
              <a:srgbClr val="000000">
                <a:alpha val="12000"/>
              </a:srgbClr>
            </a:outerShdw>
          </a:effectLst>
        </p:spPr>
      </p:sp>
      <p:sp>
        <p:nvSpPr>
          <p:cNvPr id="16" name="icon-bg-FaChartLine"/>
          <p:cNvSpPr/>
          <p:nvPr/>
        </p:nvSpPr>
        <p:spPr>
          <a:xfrm>
            <a:off x="6409944" y="1554480"/>
            <a:ext cx="594360" cy="594360"/>
          </a:xfrm>
          <a:prstGeom prst="ellipse">
            <a:avLst/>
          </a:prstGeom>
          <a:solidFill>
            <a:schemeClr val="accent1"/>
          </a:solidFill>
          <a:ln/>
        </p:spPr>
      </p:sp>
      <p:pic>
        <p:nvPicPr>
          <p:cNvPr id="17" name="icon-FaChartLine" descr="ChartLine icon">    </p:cNvPr>
          <p:cNvPicPr>
            <a:picLocks noChangeAspect="1"/>
          </p:cNvPicPr>
          <p:nvPr/>
        </p:nvPicPr>
        <p:blipFill>
          <a:blip r:embed="rId3"/>
          <a:stretch>
            <a:fillRect/>
          </a:stretch>
        </p:blipFill>
        <p:spPr>
          <a:xfrm>
            <a:off x="6552590" y="1697126"/>
            <a:ext cx="309067" cy="309067"/>
          </a:xfrm>
          <a:prstGeom prst="rect">
            <a:avLst/>
          </a:prstGeom>
        </p:spPr>
      </p:pic>
      <p:sp>
        <p:nvSpPr>
          <p:cNvPr id="18" name="Text 13"/>
          <p:cNvSpPr txBox="1"/>
          <p:nvPr/>
        </p:nvSpPr>
        <p:spPr>
          <a:xfrm>
            <a:off x="7141464" y="1645920"/>
            <a:ext cx="1554480" cy="411480"/>
          </a:xfrm>
          <a:prstGeom prst="rect">
            <a:avLst/>
          </a:prstGeom>
          <a:noFill/>
          <a:ln/>
        </p:spPr>
        <p:txBody>
          <a:bodyPr wrap="square" lIns="0" tIns="0" rIns="0" bIns="0" rtlCol="0" anchor="t"/>
          <a:lstStyle/>
          <a:p>
            <a:pPr indent="0" marL="0">
              <a:buNone/>
            </a:pPr>
            <a:r>
              <a:rPr lang="en-US" sz="1800" b="1" dirty="0">
                <a:solidFill>
                  <a:schemeClr val="tx2"/>
                </a:solidFill>
                <a:latin typeface="Calibri" pitchFamily="34" charset="0"/>
                <a:ea typeface="Calibri" pitchFamily="34" charset="-122"/>
                <a:cs typeface="Calibri" pitchFamily="34" charset="-120"/>
              </a:rPr>
              <a:t>Repeat</a:t>
            </a:r>
            <a:endParaRPr lang="en-US" sz="1800" dirty="0"/>
          </a:p>
        </p:txBody>
      </p:sp>
      <p:sp>
        <p:nvSpPr>
          <p:cNvPr id="19" name="Text 14"/>
          <p:cNvSpPr txBox="1"/>
          <p:nvPr/>
        </p:nvSpPr>
        <p:spPr>
          <a:xfrm>
            <a:off x="6409944" y="2286000"/>
            <a:ext cx="2240280" cy="105156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3–10 repetitions, reported as the mean</a:t>
            </a:r>
            <a:endParaRPr lang="en-US" sz="1300" dirty="0"/>
          </a:p>
        </p:txBody>
      </p:sp>
      <p:sp>
        <p:nvSpPr>
          <p:cNvPr id="20" name="step-arrow-2"/>
          <p:cNvSpPr/>
          <p:nvPr/>
        </p:nvSpPr>
        <p:spPr>
          <a:xfrm>
            <a:off x="8851392" y="2377440"/>
            <a:ext cx="146304" cy="0"/>
          </a:xfrm>
          <a:prstGeom prst="line">
            <a:avLst/>
          </a:prstGeom>
          <a:noFill/>
          <a:ln w="25400">
            <a:solidFill>
              <a:srgbClr val="000000"/>
            </a:solidFill>
            <a:prstDash val="solid"/>
            <a:tailEnd type="triangle"/>
          </a:ln>
        </p:spPr>
      </p:sp>
      <p:sp>
        <p:nvSpPr>
          <p:cNvPr id="21" name="step-3"/>
          <p:cNvSpPr/>
          <p:nvPr/>
        </p:nvSpPr>
        <p:spPr>
          <a:xfrm>
            <a:off x="8997696" y="1371600"/>
            <a:ext cx="2633472" cy="2057400"/>
          </a:xfrm>
          <a:prstGeom prst="roundRect">
            <a:avLst>
              <a:gd name="adj" fmla="val 3556"/>
            </a:avLst>
          </a:prstGeom>
          <a:solidFill>
            <a:schemeClr val="bg1"/>
          </a:solidFill>
          <a:ln w="9525">
            <a:solidFill>
              <a:srgbClr val="D9D9D9"/>
            </a:solidFill>
            <a:prstDash val="solid"/>
          </a:ln>
          <a:effectLst>
            <a:outerShdw sx="100000" sy="100000" kx="0" ky="0" algn="bl" rotWithShape="0" blurRad="76200" dist="19050" dir="5400000">
              <a:srgbClr val="000000">
                <a:alpha val="12000"/>
              </a:srgbClr>
            </a:outerShdw>
          </a:effectLst>
        </p:spPr>
      </p:sp>
      <p:sp>
        <p:nvSpPr>
          <p:cNvPr id="22" name="icon-bg-FaCheckCircle"/>
          <p:cNvSpPr/>
          <p:nvPr/>
        </p:nvSpPr>
        <p:spPr>
          <a:xfrm>
            <a:off x="9226296" y="1554480"/>
            <a:ext cx="594360" cy="594360"/>
          </a:xfrm>
          <a:prstGeom prst="ellipse">
            <a:avLst/>
          </a:prstGeom>
          <a:solidFill>
            <a:schemeClr val="accent6"/>
          </a:solidFill>
          <a:ln/>
        </p:spPr>
      </p:sp>
      <p:pic>
        <p:nvPicPr>
          <p:cNvPr id="23" name="icon-FaCheckCircle" descr="CheckCircle icon">    </p:cNvPr>
          <p:cNvPicPr>
            <a:picLocks noChangeAspect="1"/>
          </p:cNvPicPr>
          <p:nvPr/>
        </p:nvPicPr>
        <p:blipFill>
          <a:blip r:embed="rId4"/>
          <a:stretch>
            <a:fillRect/>
          </a:stretch>
        </p:blipFill>
        <p:spPr>
          <a:xfrm>
            <a:off x="9368942" y="1697126"/>
            <a:ext cx="309067" cy="309067"/>
          </a:xfrm>
          <a:prstGeom prst="rect">
            <a:avLst/>
          </a:prstGeom>
        </p:spPr>
      </p:pic>
      <p:sp>
        <p:nvSpPr>
          <p:cNvPr id="24" name="Text 18"/>
          <p:cNvSpPr txBox="1"/>
          <p:nvPr/>
        </p:nvSpPr>
        <p:spPr>
          <a:xfrm>
            <a:off x="9957816" y="1645920"/>
            <a:ext cx="1554480" cy="411480"/>
          </a:xfrm>
          <a:prstGeom prst="rect">
            <a:avLst/>
          </a:prstGeom>
          <a:noFill/>
          <a:ln/>
        </p:spPr>
        <p:txBody>
          <a:bodyPr wrap="square" lIns="0" tIns="0" rIns="0" bIns="0" rtlCol="0" anchor="t"/>
          <a:lstStyle/>
          <a:p>
            <a:pPr indent="0" marL="0">
              <a:buNone/>
            </a:pPr>
            <a:r>
              <a:rPr lang="en-US" sz="1800" b="1" dirty="0">
                <a:solidFill>
                  <a:schemeClr val="tx2"/>
                </a:solidFill>
                <a:latin typeface="Calibri" pitchFamily="34" charset="0"/>
                <a:ea typeface="Calibri" pitchFamily="34" charset="-122"/>
                <a:cs typeface="Calibri" pitchFamily="34" charset="-120"/>
              </a:rPr>
              <a:t>Verify</a:t>
            </a:r>
            <a:endParaRPr lang="en-US" sz="1800" dirty="0"/>
          </a:p>
        </p:txBody>
      </p:sp>
      <p:sp>
        <p:nvSpPr>
          <p:cNvPr id="25" name="Text 19"/>
          <p:cNvSpPr txBox="1"/>
          <p:nvPr/>
        </p:nvSpPr>
        <p:spPr>
          <a:xfrm>
            <a:off x="9226296" y="2286000"/>
            <a:ext cx="2240280" cy="105156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Compare GPU output with CPU output and ground truth</a:t>
            </a:r>
            <a:endParaRPr lang="en-US" sz="1300" dirty="0"/>
          </a:p>
        </p:txBody>
      </p:sp>
      <p:sp>
        <p:nvSpPr>
          <p:cNvPr id="26" name="Text 20"/>
          <p:cNvSpPr txBox="1"/>
          <p:nvPr/>
        </p:nvSpPr>
        <p:spPr>
          <a:xfrm>
            <a:off x="548640" y="3657600"/>
            <a:ext cx="10972800"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Correctness check: GPU results match the CPU</a:t>
            </a:r>
            <a:endParaRPr lang="en-US" sz="1600" dirty="0"/>
          </a:p>
        </p:txBody>
      </p:sp>
      <p:graphicFrame>
        <p:nvGraphicFramePr>
          <p:cNvPr id="12" name="verify-table"/>
          <p:cNvGraphicFramePr>
            <a:graphicFrameLocks noGrp="1"/>
          </p:cNvGraphicFramePr>
          <p:nvPr>
            <p:extLst>
              <p:ext uri="{D42A27DB-BD31-4B8C-83A1-F6EECF244321}">
                <p14:modId xmlns:p14="http://schemas.microsoft.com/office/powerpoint/2010/main" val="1579011935"/>
              </p:ext>
            </p:extLst>
          </p:nvPr>
        </p:nvGraphicFramePr>
        <p:xfrm>
          <a:off x="548640" y="4069080"/>
          <a:ext cx="11064240" cy="914400"/>
        </p:xfrm>
        <a:graphic>
          <a:graphicData uri="http://schemas.openxmlformats.org/drawingml/2006/table">
            <a:tbl>
              <a:tblPr/>
              <a:tblGrid>
                <a:gridCol w="3840480"/>
                <a:gridCol w="2377440"/>
                <a:gridCol w="4846320"/>
              </a:tblGrid>
              <a:tr h="329184">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Stage</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00"/>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Max |CPU − GPU|</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00"/>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Quality vs ground truth</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00"/>
                    </a:solidFill>
                  </a:tcPr>
                </a:tc>
              </a:tr>
              <a:tr h="329184">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1  CT reconstruction (128 slices)</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2.5e-3</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PSNR 29.5 dB</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29184">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2  MRI iterative recon</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4.1e-6</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PSNR 25.6 dB (zero-filled 22.8 dB)</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29184">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3  3D denoising 256³</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7.2e-7</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PSNR 21.9 → 25.3 dB</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29184">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4  U-Net segmentation</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same weights</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Dice 0.909 on 200 test slices</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29184">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5  Volume rendering</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1.9e-3</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visually identical</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Stage 1 · CT reconstruction with filtered back projection</a:t>
            </a:r>
            <a:endParaRPr lang="en-US" sz="3400" dirty="0"/>
          </a:p>
        </p:txBody>
      </p:sp>
      <p:pic>
        <p:nvPicPr>
          <p:cNvPr id="3" name="fbp-sinogram" descr="Sinogram 256 angles × 256 detectors">    </p:cNvPr>
          <p:cNvPicPr>
            <a:picLocks noChangeAspect="1"/>
          </p:cNvPicPr>
          <p:nvPr/>
        </p:nvPicPr>
        <p:blipFill>
          <a:blip r:embed="rId1"/>
          <a:stretch>
            <a:fillRect/>
          </a:stretch>
        </p:blipFill>
        <p:spPr>
          <a:xfrm>
            <a:off x="548640" y="1508760"/>
            <a:ext cx="1234440" cy="1234440"/>
          </a:xfrm>
          <a:prstGeom prst="rect">
            <a:avLst/>
          </a:prstGeom>
        </p:spPr>
      </p:pic>
      <p:sp>
        <p:nvSpPr>
          <p:cNvPr id="4" name="Text 1"/>
          <p:cNvSpPr txBox="1"/>
          <p:nvPr/>
        </p:nvSpPr>
        <p:spPr>
          <a:xfrm>
            <a:off x="457200" y="2834640"/>
            <a:ext cx="1417320" cy="731520"/>
          </a:xfrm>
          <a:prstGeom prst="rect">
            <a:avLst/>
          </a:prstGeom>
          <a:noFill/>
          <a:ln/>
        </p:spPr>
        <p:txBody>
          <a:bodyPr wrap="square" lIns="0" tIns="0" rIns="0" bIns="0" rtlCol="0" anchor="t"/>
          <a:lstStyle/>
          <a:p>
            <a:pPr algn="ctr" indent="0" marL="0">
              <a:buNone/>
            </a:pPr>
            <a:r>
              <a:rPr lang="en-US" sz="1100" dirty="0">
                <a:solidFill>
                  <a:srgbClr val="595959"/>
                </a:solidFill>
                <a:latin typeface="Calibri" pitchFamily="34" charset="0"/>
                <a:ea typeface="Calibri" pitchFamily="34" charset="-122"/>
                <a:cs typeface="Calibri" pitchFamily="34" charset="-120"/>
              </a:rPr>
              <a:t>Sinogram</a:t>
            </a:r>
            <a:endParaRPr lang="en-US" sz="1100" dirty="0"/>
          </a:p>
          <a:p>
            <a:pPr algn="ctr" indent="0" marL="0">
              <a:buNone/>
            </a:pPr>
            <a:r>
              <a:rPr lang="en-US" sz="1100" dirty="0">
                <a:solidFill>
                  <a:srgbClr val="595959"/>
                </a:solidFill>
                <a:latin typeface="Calibri" pitchFamily="34" charset="0"/>
                <a:ea typeface="Calibri" pitchFamily="34" charset="-122"/>
                <a:cs typeface="Calibri" pitchFamily="34" charset="-120"/>
              </a:rPr>
              <a:t>256 angles × 256 detectors</a:t>
            </a:r>
            <a:endParaRPr lang="en-US" sz="1100" dirty="0"/>
          </a:p>
        </p:txBody>
      </p:sp>
      <p:sp>
        <p:nvSpPr>
          <p:cNvPr id="5" name="fbp-arr-0"/>
          <p:cNvSpPr/>
          <p:nvPr/>
        </p:nvSpPr>
        <p:spPr>
          <a:xfrm>
            <a:off x="1810512" y="2121408"/>
            <a:ext cx="201168" cy="0"/>
          </a:xfrm>
          <a:prstGeom prst="line">
            <a:avLst/>
          </a:prstGeom>
          <a:noFill/>
          <a:ln w="25400">
            <a:solidFill>
              <a:srgbClr val="000000"/>
            </a:solidFill>
            <a:prstDash val="solid"/>
            <a:tailEnd type="triangle"/>
          </a:ln>
        </p:spPr>
      </p:sp>
      <p:sp>
        <p:nvSpPr>
          <p:cNvPr id="6" name="fbp-step-1"/>
          <p:cNvSpPr/>
          <p:nvPr/>
        </p:nvSpPr>
        <p:spPr>
          <a:xfrm>
            <a:off x="2029968" y="1508760"/>
            <a:ext cx="1234440" cy="1234440"/>
          </a:xfrm>
          <a:prstGeom prst="roundRect">
            <a:avLst>
              <a:gd name="adj" fmla="val 5926"/>
            </a:avLst>
          </a:prstGeom>
          <a:solidFill>
            <a:schemeClr val="accent1"/>
          </a:solidFill>
          <a:ln/>
        </p:spPr>
      </p:sp>
      <p:sp>
        <p:nvSpPr>
          <p:cNvPr id="7" name="Text 4"/>
          <p:cNvSpPr txBox="1"/>
          <p:nvPr/>
        </p:nvSpPr>
        <p:spPr>
          <a:xfrm>
            <a:off x="1938528" y="1508760"/>
            <a:ext cx="1417320" cy="1234440"/>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Ramp filter</a:t>
            </a:r>
            <a:endParaRPr lang="en-US" sz="1200" dirty="0"/>
          </a:p>
          <a:p>
            <a:pPr algn="ctr" indent="0" marL="0">
              <a:buNone/>
            </a:pPr>
            <a:r>
              <a:rPr lang="en-US" sz="1200" b="1" dirty="0">
                <a:solidFill>
                  <a:schemeClr val="bg1"/>
                </a:solidFill>
                <a:latin typeface="Calibri" pitchFamily="34" charset="0"/>
                <a:ea typeface="Calibri" pitchFamily="34" charset="-122"/>
                <a:cs typeface="Calibri" pitchFamily="34" charset="-120"/>
              </a:rPr>
              <a:t>FFT · multiply · IFFT</a:t>
            </a:r>
            <a:endParaRPr lang="en-US" sz="1200" dirty="0"/>
          </a:p>
          <a:p>
            <a:pPr algn="ctr" indent="0" marL="0">
              <a:buNone/>
            </a:pPr>
            <a:r>
              <a:rPr lang="en-US" sz="1200" b="1" dirty="0">
                <a:solidFill>
                  <a:schemeClr val="bg1"/>
                </a:solidFill>
                <a:latin typeface="Calibri" pitchFamily="34" charset="0"/>
                <a:ea typeface="Calibri" pitchFamily="34" charset="-122"/>
                <a:cs typeface="Calibri" pitchFamily="34" charset="-120"/>
              </a:rPr>
              <a:t>(cuFFT)</a:t>
            </a:r>
            <a:endParaRPr lang="en-US" sz="1200" dirty="0"/>
          </a:p>
        </p:txBody>
      </p:sp>
      <p:sp>
        <p:nvSpPr>
          <p:cNvPr id="8" name="fbp-arr-1"/>
          <p:cNvSpPr/>
          <p:nvPr/>
        </p:nvSpPr>
        <p:spPr>
          <a:xfrm>
            <a:off x="3291840" y="2121408"/>
            <a:ext cx="201168" cy="0"/>
          </a:xfrm>
          <a:prstGeom prst="line">
            <a:avLst/>
          </a:prstGeom>
          <a:noFill/>
          <a:ln w="25400">
            <a:solidFill>
              <a:srgbClr val="000000"/>
            </a:solidFill>
            <a:prstDash val="solid"/>
            <a:tailEnd type="triangle"/>
          </a:ln>
        </p:spPr>
      </p:sp>
      <p:sp>
        <p:nvSpPr>
          <p:cNvPr id="9" name="fbp-step-2"/>
          <p:cNvSpPr/>
          <p:nvPr/>
        </p:nvSpPr>
        <p:spPr>
          <a:xfrm>
            <a:off x="3511296" y="1508760"/>
            <a:ext cx="1234440" cy="1234440"/>
          </a:xfrm>
          <a:prstGeom prst="roundRect">
            <a:avLst>
              <a:gd name="adj" fmla="val 5926"/>
            </a:avLst>
          </a:prstGeom>
          <a:solidFill>
            <a:schemeClr val="accent2"/>
          </a:solidFill>
          <a:ln/>
        </p:spPr>
      </p:sp>
      <p:sp>
        <p:nvSpPr>
          <p:cNvPr id="10" name="Text 7"/>
          <p:cNvSpPr txBox="1"/>
          <p:nvPr/>
        </p:nvSpPr>
        <p:spPr>
          <a:xfrm>
            <a:off x="3419856" y="1508760"/>
            <a:ext cx="1417320" cy="1234440"/>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Back-projection</a:t>
            </a:r>
            <a:endParaRPr lang="en-US" sz="1200" dirty="0"/>
          </a:p>
          <a:p>
            <a:pPr algn="ctr" indent="0" marL="0">
              <a:buNone/>
            </a:pPr>
            <a:r>
              <a:rPr lang="en-US" sz="1200" b="1" dirty="0">
                <a:solidFill>
                  <a:schemeClr val="bg1"/>
                </a:solidFill>
                <a:latin typeface="Calibri" pitchFamily="34" charset="0"/>
                <a:ea typeface="Calibri" pitchFamily="34" charset="-122"/>
                <a:cs typeface="Calibri" pitchFamily="34" charset="-120"/>
              </a:rPr>
              <a:t>CUDA kernel</a:t>
            </a:r>
            <a:endParaRPr lang="en-US" sz="1200" dirty="0"/>
          </a:p>
          <a:p>
            <a:pPr algn="ctr" indent="0" marL="0">
              <a:buNone/>
            </a:pPr>
            <a:r>
              <a:rPr lang="en-US" sz="1200" b="1" dirty="0">
                <a:solidFill>
                  <a:schemeClr val="bg1"/>
                </a:solidFill>
                <a:latin typeface="Calibri" pitchFamily="34" charset="0"/>
                <a:ea typeface="Calibri" pitchFamily="34" charset="-122"/>
                <a:cs typeface="Calibri" pitchFamily="34" charset="-120"/>
              </a:rPr>
              <a:t>1 thread / pixel</a:t>
            </a:r>
            <a:endParaRPr lang="en-US" sz="1200" dirty="0"/>
          </a:p>
        </p:txBody>
      </p:sp>
      <p:sp>
        <p:nvSpPr>
          <p:cNvPr id="11" name="fbp-arr-2"/>
          <p:cNvSpPr/>
          <p:nvPr/>
        </p:nvSpPr>
        <p:spPr>
          <a:xfrm>
            <a:off x="4773168" y="2121408"/>
            <a:ext cx="201168" cy="0"/>
          </a:xfrm>
          <a:prstGeom prst="line">
            <a:avLst/>
          </a:prstGeom>
          <a:noFill/>
          <a:ln w="25400">
            <a:solidFill>
              <a:srgbClr val="000000"/>
            </a:solidFill>
            <a:prstDash val="solid"/>
            <a:tailEnd type="triangle"/>
          </a:ln>
        </p:spPr>
      </p:sp>
      <p:pic>
        <p:nvPicPr>
          <p:cNvPr id="12" name="fbp-ct_recon" descr="Reconstructed slice">    </p:cNvPr>
          <p:cNvPicPr>
            <a:picLocks noChangeAspect="1"/>
          </p:cNvPicPr>
          <p:nvPr/>
        </p:nvPicPr>
        <p:blipFill>
          <a:blip r:embed="rId2"/>
          <a:stretch>
            <a:fillRect/>
          </a:stretch>
        </p:blipFill>
        <p:spPr>
          <a:xfrm>
            <a:off x="4992624" y="1508760"/>
            <a:ext cx="1234440" cy="1234440"/>
          </a:xfrm>
          <a:prstGeom prst="rect">
            <a:avLst/>
          </a:prstGeom>
        </p:spPr>
      </p:pic>
      <p:sp>
        <p:nvSpPr>
          <p:cNvPr id="13" name="Text 9"/>
          <p:cNvSpPr txBox="1"/>
          <p:nvPr/>
        </p:nvSpPr>
        <p:spPr>
          <a:xfrm>
            <a:off x="4901184" y="2834640"/>
            <a:ext cx="1417320" cy="731520"/>
          </a:xfrm>
          <a:prstGeom prst="rect">
            <a:avLst/>
          </a:prstGeom>
          <a:noFill/>
          <a:ln/>
        </p:spPr>
        <p:txBody>
          <a:bodyPr wrap="square" lIns="0" tIns="0" rIns="0" bIns="0" rtlCol="0" anchor="t"/>
          <a:lstStyle/>
          <a:p>
            <a:pPr algn="ctr" indent="0" marL="0">
              <a:buNone/>
            </a:pPr>
            <a:r>
              <a:rPr lang="en-US" sz="1100" dirty="0">
                <a:solidFill>
                  <a:srgbClr val="595959"/>
                </a:solidFill>
                <a:latin typeface="Calibri" pitchFamily="34" charset="0"/>
                <a:ea typeface="Calibri" pitchFamily="34" charset="-122"/>
                <a:cs typeface="Calibri" pitchFamily="34" charset="-120"/>
              </a:rPr>
              <a:t>Reconstructed</a:t>
            </a:r>
            <a:endParaRPr lang="en-US" sz="1100" dirty="0"/>
          </a:p>
          <a:p>
            <a:pPr algn="ctr" indent="0" marL="0">
              <a:buNone/>
            </a:pPr>
            <a:r>
              <a:rPr lang="en-US" sz="1100" dirty="0">
                <a:solidFill>
                  <a:srgbClr val="595959"/>
                </a:solidFill>
                <a:latin typeface="Calibri" pitchFamily="34" charset="0"/>
                <a:ea typeface="Calibri" pitchFamily="34" charset="-122"/>
                <a:cs typeface="Calibri" pitchFamily="34" charset="-120"/>
              </a:rPr>
              <a:t>slice</a:t>
            </a:r>
            <a:endParaRPr lang="en-US" sz="1100" dirty="0"/>
          </a:p>
        </p:txBody>
      </p:sp>
      <p:sp>
        <p:nvSpPr>
          <p:cNvPr id="14" name="fbp-why"/>
          <p:cNvSpPr/>
          <p:nvPr/>
        </p:nvSpPr>
        <p:spPr>
          <a:xfrm>
            <a:off x="548640" y="3794760"/>
            <a:ext cx="5760720" cy="2286000"/>
          </a:xfrm>
          <a:prstGeom prst="roundRect">
            <a:avLst>
              <a:gd name="adj" fmla="val 3200"/>
            </a:avLst>
          </a:prstGeom>
          <a:solidFill>
            <a:schemeClr val="bg2"/>
          </a:solidFill>
          <a:ln w="9525">
            <a:solidFill>
              <a:srgbClr val="D9D9D9"/>
            </a:solidFill>
            <a:prstDash val="solid"/>
          </a:ln>
        </p:spPr>
      </p:sp>
      <p:sp>
        <p:nvSpPr>
          <p:cNvPr id="15" name="Text 11"/>
          <p:cNvSpPr txBox="1"/>
          <p:nvPr/>
        </p:nvSpPr>
        <p:spPr>
          <a:xfrm>
            <a:off x="777240" y="3931920"/>
            <a:ext cx="5303520"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Why it parallelises perfectly</a:t>
            </a:r>
            <a:endParaRPr lang="en-US" sz="1600" dirty="0"/>
          </a:p>
        </p:txBody>
      </p:sp>
      <p:sp>
        <p:nvSpPr>
          <p:cNvPr id="16" name="Text 12"/>
          <p:cNvSpPr txBox="1"/>
          <p:nvPr/>
        </p:nvSpPr>
        <p:spPr>
          <a:xfrm>
            <a:off x="777240" y="4343400"/>
            <a:ext cx="5349240" cy="169164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Each pixel = sum over all angles of the filtered projection value where it lands</a:t>
            </a:r>
            <a:endParaRPr lang="en-US" sz="1400" dirty="0"/>
          </a:p>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Pixels never depend on each other, so no synchronisation is needed</a:t>
            </a:r>
            <a:endParaRPr lang="en-US" sz="1400" dirty="0"/>
          </a:p>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Volume: 128 slices × 256² px × 256 angles = 2.1 billion interpolations</a:t>
            </a:r>
            <a:endParaRPr lang="en-US" sz="1400" dirty="0"/>
          </a:p>
        </p:txBody>
      </p:sp>
      <p:sp>
        <p:nvSpPr>
          <p:cNvPr id="17" name="Text 13"/>
          <p:cNvSpPr txBox="1"/>
          <p:nvPr/>
        </p:nvSpPr>
        <p:spPr>
          <a:xfrm>
            <a:off x="6629400" y="1371600"/>
            <a:ext cx="4937760" cy="365760"/>
          </a:xfrm>
          <a:prstGeom prst="rect">
            <a:avLst/>
          </a:prstGeom>
          <a:noFill/>
          <a:ln/>
        </p:spPr>
        <p:txBody>
          <a:bodyPr wrap="square" lIns="0" tIns="0" rIns="0" bIns="0" rtlCol="0" anchor="t"/>
          <a:lstStyle/>
          <a:p>
            <a:pPr indent="0" marL="0">
              <a:buNone/>
            </a:pPr>
            <a:r>
              <a:rPr lang="en-US" sz="1500" b="1" dirty="0">
                <a:solidFill>
                  <a:schemeClr val="tx2"/>
                </a:solidFill>
                <a:latin typeface="Calibri" pitchFamily="34" charset="0"/>
                <a:ea typeface="Calibri" pitchFamily="34" charset="-122"/>
                <a:cs typeface="Calibri" pitchFamily="34" charset="-120"/>
              </a:rPr>
              <a:t>Core of our CUDA kernel (fbp.cu)</a:t>
            </a:r>
            <a:endParaRPr lang="en-US" sz="1500" dirty="0"/>
          </a:p>
        </p:txBody>
      </p:sp>
      <p:sp>
        <p:nvSpPr>
          <p:cNvPr id="18" name="code-bg"/>
          <p:cNvSpPr/>
          <p:nvPr/>
        </p:nvSpPr>
        <p:spPr>
          <a:xfrm>
            <a:off x="6629400" y="1783080"/>
            <a:ext cx="4983480" cy="3063240"/>
          </a:xfrm>
          <a:prstGeom prst="roundRect">
            <a:avLst>
              <a:gd name="adj" fmla="val 1791"/>
            </a:avLst>
          </a:prstGeom>
          <a:solidFill>
            <a:srgbClr val="1A1A1A"/>
          </a:solidFill>
          <a:ln/>
        </p:spPr>
      </p:sp>
      <p:sp>
        <p:nvSpPr>
          <p:cNvPr id="19" name="Text 15"/>
          <p:cNvSpPr txBox="1"/>
          <p:nvPr/>
        </p:nvSpPr>
        <p:spPr>
          <a:xfrm>
            <a:off x="6812280" y="1920240"/>
            <a:ext cx="4617720" cy="2788920"/>
          </a:xfrm>
          <a:prstGeom prst="rect">
            <a:avLst/>
          </a:prstGeom>
          <a:noFill/>
          <a:ln/>
        </p:spPr>
        <p:txBody>
          <a:bodyPr wrap="square" lIns="0" tIns="0" rIns="0" bIns="0" rtlCol="0" anchor="t"/>
          <a:lstStyle/>
          <a:p>
            <a:pPr indent="0" marL="0">
              <a:buNone/>
            </a:pPr>
            <a:r>
              <a:rPr lang="en-US" sz="1100" dirty="0">
                <a:solidFill>
                  <a:srgbClr val="F2F2F2"/>
                </a:solidFill>
                <a:latin typeface="Courier New" pitchFamily="34" charset="0"/>
                <a:ea typeface="Courier New" pitchFamily="34" charset="-122"/>
                <a:cs typeface="Courier New" pitchFamily="34" charset="-120"/>
              </a:rPr>
              <a:t>__global__ void backproject(const float* sino,</a:t>
            </a:r>
            <a:endParaRPr lang="en-US" sz="1100" dirty="0"/>
          </a:p>
          <a:p>
            <a:pPr indent="0" marL="0">
              <a:buNone/>
            </a:pPr>
            <a:r>
              <a:rPr lang="en-US" sz="1100" dirty="0">
                <a:solidFill>
                  <a:srgbClr val="F2F2F2"/>
                </a:solidFill>
                <a:latin typeface="Courier New" pitchFamily="34" charset="0"/>
                <a:ea typeface="Courier New" pitchFamily="34" charset="-122"/>
                <a:cs typeface="Courier New" pitchFamily="34" charset="-120"/>
              </a:rPr>
              <a:t>        float* img, int A, int D, int N) {</a:t>
            </a:r>
            <a:endParaRPr lang="en-US" sz="1100" dirty="0"/>
          </a:p>
          <a:p>
            <a:pPr indent="0" marL="0">
              <a:buNone/>
            </a:pPr>
            <a:r>
              <a:rPr lang="en-US" sz="1100" dirty="0">
                <a:solidFill>
                  <a:srgbClr val="F2F2F2"/>
                </a:solidFill>
                <a:latin typeface="Courier New" pitchFamily="34" charset="0"/>
                <a:ea typeface="Courier New" pitchFamily="34" charset="-122"/>
                <a:cs typeface="Courier New" pitchFamily="34" charset="-120"/>
              </a:rPr>
              <a:t>  int col = blockIdx.x*blockDim.x + threadIdx.x;</a:t>
            </a:r>
            <a:endParaRPr lang="en-US" sz="1100" dirty="0"/>
          </a:p>
          <a:p>
            <a:pPr indent="0" marL="0">
              <a:buNone/>
            </a:pPr>
            <a:r>
              <a:rPr lang="en-US" sz="1100" dirty="0">
                <a:solidFill>
                  <a:srgbClr val="F2F2F2"/>
                </a:solidFill>
                <a:latin typeface="Courier New" pitchFamily="34" charset="0"/>
                <a:ea typeface="Courier New" pitchFamily="34" charset="-122"/>
                <a:cs typeface="Courier New" pitchFamily="34" charset="-120"/>
              </a:rPr>
              <a:t>  int row = blockIdx.y*blockDim.y + threadIdx.y;</a:t>
            </a:r>
            <a:endParaRPr lang="en-US" sz="1100" dirty="0"/>
          </a:p>
          <a:p>
            <a:pPr indent="0" marL="0">
              <a:buNone/>
            </a:pPr>
            <a:r>
              <a:rPr lang="en-US" sz="1100" dirty="0">
                <a:solidFill>
                  <a:srgbClr val="F2F2F2"/>
                </a:solidFill>
                <a:latin typeface="Courier New" pitchFamily="34" charset="0"/>
                <a:ea typeface="Courier New" pitchFamily="34" charset="-122"/>
                <a:cs typeface="Courier New" pitchFamily="34" charset="-120"/>
              </a:rPr>
              <a:t>  int s   = blockIdx.z;          // slice</a:t>
            </a:r>
            <a:endParaRPr lang="en-US" sz="1100" dirty="0"/>
          </a:p>
          <a:p>
            <a:pPr indent="0" marL="0">
              <a:buNone/>
            </a:pPr>
            <a:r>
              <a:rPr lang="en-US" sz="1100" dirty="0">
                <a:solidFill>
                  <a:srgbClr val="F2F2F2"/>
                </a:solidFill>
                <a:latin typeface="Courier New" pitchFamily="34" charset="0"/>
                <a:ea typeface="Courier New" pitchFamily="34" charset="-122"/>
                <a:cs typeface="Courier New" pitchFamily="34" charset="-120"/>
              </a:rPr>
              <a:t>  float acc = 0.f;</a:t>
            </a:r>
            <a:endParaRPr lang="en-US" sz="1100" dirty="0"/>
          </a:p>
          <a:p>
            <a:pPr indent="0" marL="0">
              <a:buNone/>
            </a:pPr>
            <a:r>
              <a:rPr lang="en-US" sz="1100" dirty="0">
                <a:solidFill>
                  <a:srgbClr val="F2F2F2"/>
                </a:solidFill>
                <a:latin typeface="Courier New" pitchFamily="34" charset="0"/>
                <a:ea typeface="Courier New" pitchFamily="34" charset="-122"/>
                <a:cs typeface="Courier New" pitchFamily="34" charset="-120"/>
              </a:rPr>
              <a:t>  for (int a = 0; a &lt; A; ++a) {   // all angles</a:t>
            </a:r>
            <a:endParaRPr lang="en-US" sz="1100" dirty="0"/>
          </a:p>
          <a:p>
            <a:pPr indent="0" marL="0">
              <a:buNone/>
            </a:pPr>
            <a:r>
              <a:rPr lang="en-US" sz="1100" dirty="0">
                <a:solidFill>
                  <a:srgbClr val="F2F2F2"/>
                </a:solidFill>
                <a:latin typeface="Courier New" pitchFamily="34" charset="0"/>
                <a:ea typeface="Courier New" pitchFamily="34" charset="-122"/>
                <a:cs typeface="Courier New" pitchFamily="34" charset="-120"/>
              </a:rPr>
              <a:t>    float t = y*c_cos[a] - x*c_sin[a] + centre;</a:t>
            </a:r>
            <a:endParaRPr lang="en-US" sz="1100" dirty="0"/>
          </a:p>
          <a:p>
            <a:pPr indent="0" marL="0">
              <a:buNone/>
            </a:pPr>
            <a:r>
              <a:rPr lang="en-US" sz="1100" dirty="0">
                <a:solidFill>
                  <a:srgbClr val="F2F2F2"/>
                </a:solidFill>
                <a:latin typeface="Courier New" pitchFamily="34" charset="0"/>
                <a:ea typeface="Courier New" pitchFamily="34" charset="-122"/>
                <a:cs typeface="Courier New" pitchFamily="34" charset="-120"/>
              </a:rPr>
              <a:t>    int   i = floorf(t);  float w = t - i;</a:t>
            </a:r>
            <a:endParaRPr lang="en-US" sz="1100" dirty="0"/>
          </a:p>
          <a:p>
            <a:pPr indent="0" marL="0">
              <a:buNone/>
            </a:pPr>
            <a:r>
              <a:rPr lang="en-US" sz="1100" dirty="0">
                <a:solidFill>
                  <a:srgbClr val="F2F2F2"/>
                </a:solidFill>
                <a:latin typeface="Courier New" pitchFamily="34" charset="0"/>
                <a:ea typeface="Courier New" pitchFamily="34" charset="-122"/>
                <a:cs typeface="Courier New" pitchFamily="34" charset="-120"/>
              </a:rPr>
              <a:t>    acc += (1-w)*__ldg(p+i) + w*__ldg(p+i+1);</a:t>
            </a:r>
            <a:endParaRPr lang="en-US" sz="1100" dirty="0"/>
          </a:p>
          <a:p>
            <a:pPr indent="0" marL="0">
              <a:buNone/>
            </a:pPr>
            <a:r>
              <a:rPr lang="en-US" sz="1100" dirty="0">
                <a:solidFill>
                  <a:srgbClr val="F2F2F2"/>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F2F2F2"/>
                </a:solidFill>
                <a:latin typeface="Courier New" pitchFamily="34" charset="0"/>
                <a:ea typeface="Courier New" pitchFamily="34" charset="-122"/>
                <a:cs typeface="Courier New" pitchFamily="34" charset="-120"/>
              </a:rPr>
              <a:t>  img[...] = acc * PI / (2*A);</a:t>
            </a:r>
            <a:endParaRPr lang="en-US" sz="1100" dirty="0"/>
          </a:p>
          <a:p>
            <a:pPr indent="0" marL="0">
              <a:buNone/>
            </a:pPr>
            <a:r>
              <a:rPr lang="en-US" sz="1100" dirty="0">
                <a:solidFill>
                  <a:srgbClr val="F2F2F2"/>
                </a:solidFill>
                <a:latin typeface="Courier New" pitchFamily="34" charset="0"/>
                <a:ea typeface="Courier New" pitchFamily="34" charset="-122"/>
                <a:cs typeface="Courier New" pitchFamily="34" charset="-120"/>
              </a:rPr>
              <a:t>}</a:t>
            </a:r>
            <a:endParaRPr lang="en-US" sz="1100" dirty="0"/>
          </a:p>
        </p:txBody>
      </p:sp>
      <p:sp>
        <p:nvSpPr>
          <p:cNvPr id="20" name="Text 16"/>
          <p:cNvSpPr txBox="1"/>
          <p:nvPr/>
        </p:nvSpPr>
        <p:spPr>
          <a:xfrm>
            <a:off x="6675120" y="4937760"/>
            <a:ext cx="2286000" cy="685800"/>
          </a:xfrm>
          <a:prstGeom prst="rect">
            <a:avLst/>
          </a:prstGeom>
          <a:noFill/>
          <a:ln/>
        </p:spPr>
        <p:txBody>
          <a:bodyPr wrap="square" lIns="0" tIns="0" rIns="0" bIns="0" rtlCol="0" anchor="b"/>
          <a:lstStyle/>
          <a:p>
            <a:pPr indent="0" marL="0">
              <a:buNone/>
            </a:pPr>
            <a:r>
              <a:rPr lang="en-US" sz="3400" b="1" dirty="0">
                <a:solidFill>
                  <a:schemeClr val="accent1"/>
                </a:solidFill>
                <a:latin typeface="Cambria" pitchFamily="34" charset="0"/>
                <a:ea typeface="Cambria" pitchFamily="34" charset="-122"/>
                <a:cs typeface="Cambria" pitchFamily="34" charset="-120"/>
              </a:rPr>
              <a:t>8.4 M</a:t>
            </a:r>
            <a:endParaRPr lang="en-US" sz="3400" dirty="0"/>
          </a:p>
        </p:txBody>
      </p:sp>
      <p:sp>
        <p:nvSpPr>
          <p:cNvPr id="21" name="Text 17"/>
          <p:cNvSpPr txBox="1"/>
          <p:nvPr/>
        </p:nvSpPr>
        <p:spPr>
          <a:xfrm>
            <a:off x="6675120" y="5669280"/>
            <a:ext cx="2286000" cy="685800"/>
          </a:xfrm>
          <a:prstGeom prst="rect">
            <a:avLst/>
          </a:prstGeom>
          <a:noFill/>
          <a:ln/>
        </p:spPr>
        <p:txBody>
          <a:bodyPr wrap="square" lIns="0" tIns="0" rIns="0" bIns="0" rtlCol="0" anchor="t"/>
          <a:lstStyle/>
          <a:p>
            <a:pPr indent="0" marL="0">
              <a:buNone/>
            </a:pPr>
            <a:r>
              <a:rPr lang="en-US" sz="1300" dirty="0">
                <a:solidFill>
                  <a:srgbClr val="595959"/>
                </a:solidFill>
                <a:latin typeface="Calibri" pitchFamily="34" charset="0"/>
                <a:ea typeface="Calibri" pitchFamily="34" charset="-122"/>
                <a:cs typeface="Calibri" pitchFamily="34" charset="-120"/>
              </a:rPr>
              <a:t>GPU threads, one per pixel of every slice</a:t>
            </a:r>
            <a:endParaRPr lang="en-US" sz="1300" dirty="0"/>
          </a:p>
        </p:txBody>
      </p:sp>
      <p:sp>
        <p:nvSpPr>
          <p:cNvPr id="22" name="Text 18"/>
          <p:cNvSpPr txBox="1"/>
          <p:nvPr/>
        </p:nvSpPr>
        <p:spPr>
          <a:xfrm>
            <a:off x="9144000" y="4937760"/>
            <a:ext cx="2468880" cy="685800"/>
          </a:xfrm>
          <a:prstGeom prst="rect">
            <a:avLst/>
          </a:prstGeom>
          <a:noFill/>
          <a:ln/>
        </p:spPr>
        <p:txBody>
          <a:bodyPr wrap="square" lIns="0" tIns="0" rIns="0" bIns="0" rtlCol="0" anchor="b"/>
          <a:lstStyle/>
          <a:p>
            <a:pPr indent="0" marL="0">
              <a:buNone/>
            </a:pPr>
            <a:r>
              <a:rPr lang="en-US" sz="3400" b="1" dirty="0">
                <a:solidFill>
                  <a:schemeClr val="accent2"/>
                </a:solidFill>
                <a:latin typeface="Cambria" pitchFamily="34" charset="0"/>
                <a:ea typeface="Cambria" pitchFamily="34" charset="-122"/>
                <a:cs typeface="Cambria" pitchFamily="34" charset="-120"/>
              </a:rPr>
              <a:t>6.8 ms</a:t>
            </a:r>
            <a:endParaRPr lang="en-US" sz="3400" dirty="0"/>
          </a:p>
        </p:txBody>
      </p:sp>
      <p:sp>
        <p:nvSpPr>
          <p:cNvPr id="23" name="Text 19"/>
          <p:cNvSpPr txBox="1"/>
          <p:nvPr/>
        </p:nvSpPr>
        <p:spPr>
          <a:xfrm>
            <a:off x="9144000" y="5669280"/>
            <a:ext cx="2468880" cy="685800"/>
          </a:xfrm>
          <a:prstGeom prst="rect">
            <a:avLst/>
          </a:prstGeom>
          <a:noFill/>
          <a:ln/>
        </p:spPr>
        <p:txBody>
          <a:bodyPr wrap="square" lIns="0" tIns="0" rIns="0" bIns="0" rtlCol="0" anchor="t"/>
          <a:lstStyle/>
          <a:p>
            <a:pPr indent="0" marL="0">
              <a:buNone/>
            </a:pPr>
            <a:r>
              <a:rPr lang="en-US" sz="1300" dirty="0">
                <a:solidFill>
                  <a:srgbClr val="595959"/>
                </a:solidFill>
                <a:latin typeface="Calibri" pitchFamily="34" charset="0"/>
                <a:ea typeface="Calibri" pitchFamily="34" charset="-122"/>
                <a:cs typeface="Calibri" pitchFamily="34" charset="-120"/>
              </a:rPr>
              <a:t>kernel time for all 128 slices</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Stage 1 results · 265× faster CT reconstruction</a:t>
            </a:r>
            <a:endParaRPr lang="en-US" sz="3400" dirty="0"/>
          </a:p>
        </p:txBody>
      </p:sp>
      <p:pic>
        <p:nvPicPr>
          <p:cNvPr id="3" name="ct-fbp-figure" descr="Phantom, sinogram, CPU and GPU reconstructions">    </p:cNvPr>
          <p:cNvPicPr>
            <a:picLocks noChangeAspect="1"/>
          </p:cNvPicPr>
          <p:nvPr/>
        </p:nvPicPr>
        <p:blipFill>
          <a:blip r:embed="rId1"/>
          <a:stretch>
            <a:fillRect/>
          </a:stretch>
        </p:blipFill>
        <p:spPr>
          <a:xfrm>
            <a:off x="548640" y="1394551"/>
            <a:ext cx="7040880" cy="1828619"/>
          </a:xfrm>
          <a:prstGeom prst="rect">
            <a:avLst/>
          </a:prstGeom>
        </p:spPr>
      </p:pic>
      <p:graphicFrame>
        <p:nvGraphicFramePr>
          <p:cNvPr id="4" name="ct-chart" descr=""/>
          <p:cNvGraphicFramePr/>
          <p:nvPr/>
        </p:nvGraphicFramePr>
        <p:xfrm>
          <a:off x="548640" y="3429000"/>
          <a:ext cx="7040880" cy="2697480"/>
        </p:xfrm>
        <a:graphic xmlns:a="http://schemas.openxmlformats.org/drawingml/2006/main">
          <a:graphicData uri="http://schemas.openxmlformats.org/drawingml/2006/chart">
            <c:chart xmlns:c="http://schemas.openxmlformats.org/drawingml/2006/chart" r:id="rId2"/>
          </a:graphicData>
        </a:graphic>
      </p:graphicFrame>
      <p:sp>
        <p:nvSpPr>
          <p:cNvPr id="5" name="ct-stats"/>
          <p:cNvSpPr/>
          <p:nvPr/>
        </p:nvSpPr>
        <p:spPr>
          <a:xfrm>
            <a:off x="7955280" y="1325880"/>
            <a:ext cx="3657600" cy="4800600"/>
          </a:xfrm>
          <a:prstGeom prst="roundRect">
            <a:avLst>
              <a:gd name="adj" fmla="val 2000"/>
            </a:avLst>
          </a:prstGeom>
          <a:solidFill>
            <a:schemeClr val="bg2"/>
          </a:solidFill>
          <a:ln w="9525">
            <a:solidFill>
              <a:srgbClr val="D9D9D9"/>
            </a:solidFill>
            <a:prstDash val="solid"/>
          </a:ln>
        </p:spPr>
      </p:sp>
      <p:sp>
        <p:nvSpPr>
          <p:cNvPr id="6" name="Text 2"/>
          <p:cNvSpPr txBox="1"/>
          <p:nvPr/>
        </p:nvSpPr>
        <p:spPr>
          <a:xfrm>
            <a:off x="8229600" y="1417320"/>
            <a:ext cx="3200400" cy="685800"/>
          </a:xfrm>
          <a:prstGeom prst="rect">
            <a:avLst/>
          </a:prstGeom>
          <a:noFill/>
          <a:ln/>
        </p:spPr>
        <p:txBody>
          <a:bodyPr wrap="square" lIns="0" tIns="0" rIns="0" bIns="0" rtlCol="0" anchor="b"/>
          <a:lstStyle/>
          <a:p>
            <a:pPr indent="0" marL="0">
              <a:buNone/>
            </a:pPr>
            <a:r>
              <a:rPr lang="en-US" sz="4400" b="1" dirty="0">
                <a:solidFill>
                  <a:schemeClr val="accent2"/>
                </a:solidFill>
                <a:latin typeface="Cambria" pitchFamily="34" charset="0"/>
                <a:ea typeface="Cambria" pitchFamily="34" charset="-122"/>
                <a:cs typeface="Cambria" pitchFamily="34" charset="-120"/>
              </a:rPr>
              <a:t>265×</a:t>
            </a:r>
            <a:endParaRPr lang="en-US" sz="4400" dirty="0"/>
          </a:p>
        </p:txBody>
      </p:sp>
      <p:sp>
        <p:nvSpPr>
          <p:cNvPr id="7" name="Text 3"/>
          <p:cNvSpPr txBox="1"/>
          <p:nvPr/>
        </p:nvSpPr>
        <p:spPr>
          <a:xfrm>
            <a:off x="8229600" y="2148840"/>
            <a:ext cx="3200400" cy="685800"/>
          </a:xfrm>
          <a:prstGeom prst="rect">
            <a:avLst/>
          </a:prstGeom>
          <a:noFill/>
          <a:ln/>
        </p:spPr>
        <p:txBody>
          <a:bodyPr wrap="square" lIns="0" tIns="0" rIns="0" bIns="0" rtlCol="0" anchor="t"/>
          <a:lstStyle/>
          <a:p>
            <a:pPr indent="0" marL="0">
              <a:buNone/>
            </a:pPr>
            <a:r>
              <a:rPr lang="en-US" sz="1300" dirty="0">
                <a:solidFill>
                  <a:srgbClr val="595959"/>
                </a:solidFill>
                <a:latin typeface="Calibri" pitchFamily="34" charset="0"/>
                <a:ea typeface="Calibri" pitchFamily="34" charset="-122"/>
                <a:cs typeface="Calibri" pitchFamily="34" charset="-120"/>
              </a:rPr>
              <a:t>full 128-slice volume: 11.8 s → 45 ms (incl. transfers)</a:t>
            </a:r>
            <a:endParaRPr lang="en-US" sz="1300" dirty="0"/>
          </a:p>
        </p:txBody>
      </p:sp>
      <p:sp>
        <p:nvSpPr>
          <p:cNvPr id="8" name="Text 4"/>
          <p:cNvSpPr txBox="1"/>
          <p:nvPr/>
        </p:nvSpPr>
        <p:spPr>
          <a:xfrm>
            <a:off x="8229600" y="2971800"/>
            <a:ext cx="3200400" cy="685800"/>
          </a:xfrm>
          <a:prstGeom prst="rect">
            <a:avLst/>
          </a:prstGeom>
          <a:noFill/>
          <a:ln/>
        </p:spPr>
        <p:txBody>
          <a:bodyPr wrap="square" lIns="0" tIns="0" rIns="0" bIns="0" rtlCol="0" anchor="b"/>
          <a:lstStyle/>
          <a:p>
            <a:pPr indent="0" marL="0">
              <a:buNone/>
            </a:pPr>
            <a:r>
              <a:rPr lang="en-US" sz="4000" b="1" dirty="0">
                <a:solidFill>
                  <a:schemeClr val="accent1"/>
                </a:solidFill>
                <a:latin typeface="Cambria" pitchFamily="34" charset="0"/>
                <a:ea typeface="Cambria" pitchFamily="34" charset="-122"/>
                <a:cs typeface="Cambria" pitchFamily="34" charset="-120"/>
              </a:rPr>
              <a:t>906×</a:t>
            </a:r>
            <a:endParaRPr lang="en-US" sz="4000" dirty="0"/>
          </a:p>
        </p:txBody>
      </p:sp>
      <p:sp>
        <p:nvSpPr>
          <p:cNvPr id="9" name="Text 5"/>
          <p:cNvSpPr txBox="1"/>
          <p:nvPr/>
        </p:nvSpPr>
        <p:spPr>
          <a:xfrm>
            <a:off x="8229600" y="3703320"/>
            <a:ext cx="3200400" cy="685800"/>
          </a:xfrm>
          <a:prstGeom prst="rect">
            <a:avLst/>
          </a:prstGeom>
          <a:noFill/>
          <a:ln/>
        </p:spPr>
        <p:txBody>
          <a:bodyPr wrap="square" lIns="0" tIns="0" rIns="0" bIns="0" rtlCol="0" anchor="t"/>
          <a:lstStyle/>
          <a:p>
            <a:pPr indent="0" marL="0">
              <a:buNone/>
            </a:pPr>
            <a:r>
              <a:rPr lang="en-US" sz="1300" dirty="0">
                <a:solidFill>
                  <a:srgbClr val="595959"/>
                </a:solidFill>
                <a:latin typeface="Calibri" pitchFamily="34" charset="0"/>
                <a:ea typeface="Calibri" pitchFamily="34" charset="-122"/>
                <a:cs typeface="Calibri" pitchFamily="34" charset="-120"/>
              </a:rPr>
              <a:t>single 512² slice: 1.3 s → 1.4 ms</a:t>
            </a:r>
            <a:endParaRPr lang="en-US" sz="1300" dirty="0"/>
          </a:p>
        </p:txBody>
      </p:sp>
      <p:sp>
        <p:nvSpPr>
          <p:cNvPr id="10" name="Text 6"/>
          <p:cNvSpPr txBox="1"/>
          <p:nvPr/>
        </p:nvSpPr>
        <p:spPr>
          <a:xfrm>
            <a:off x="8229600" y="4480560"/>
            <a:ext cx="3200400" cy="685800"/>
          </a:xfrm>
          <a:prstGeom prst="rect">
            <a:avLst/>
          </a:prstGeom>
          <a:noFill/>
          <a:ln/>
        </p:spPr>
        <p:txBody>
          <a:bodyPr wrap="square" lIns="0" tIns="0" rIns="0" bIns="0" rtlCol="0" anchor="b"/>
          <a:lstStyle/>
          <a:p>
            <a:pPr indent="0" marL="0">
              <a:buNone/>
            </a:pPr>
            <a:r>
              <a:rPr lang="en-US" sz="4000" b="1" dirty="0">
                <a:solidFill>
                  <a:schemeClr val="accent5"/>
                </a:solidFill>
                <a:latin typeface="Cambria" pitchFamily="34" charset="0"/>
                <a:ea typeface="Cambria" pitchFamily="34" charset="-122"/>
                <a:cs typeface="Cambria" pitchFamily="34" charset="-120"/>
              </a:rPr>
              <a:t>29.5 dB</a:t>
            </a:r>
            <a:endParaRPr lang="en-US" sz="4000" dirty="0"/>
          </a:p>
        </p:txBody>
      </p:sp>
      <p:sp>
        <p:nvSpPr>
          <p:cNvPr id="11" name="Text 7"/>
          <p:cNvSpPr txBox="1"/>
          <p:nvPr/>
        </p:nvSpPr>
        <p:spPr>
          <a:xfrm>
            <a:off x="8229600" y="5212080"/>
            <a:ext cx="3200400" cy="685800"/>
          </a:xfrm>
          <a:prstGeom prst="rect">
            <a:avLst/>
          </a:prstGeom>
          <a:noFill/>
          <a:ln/>
        </p:spPr>
        <p:txBody>
          <a:bodyPr wrap="square" lIns="0" tIns="0" rIns="0" bIns="0" rtlCol="0" anchor="t"/>
          <a:lstStyle/>
          <a:p>
            <a:pPr indent="0" marL="0">
              <a:buNone/>
            </a:pPr>
            <a:r>
              <a:rPr lang="en-US" sz="1300" dirty="0">
                <a:solidFill>
                  <a:srgbClr val="595959"/>
                </a:solidFill>
                <a:latin typeface="Calibri" pitchFamily="34" charset="0"/>
                <a:ea typeface="Calibri" pitchFamily="34" charset="-122"/>
                <a:cs typeface="Calibri" pitchFamily="34" charset="-120"/>
              </a:rPr>
              <a:t>PSNR, same as CPU; max difference 2.5e-3</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Stage 2 · MRI: 4× less data, better image, 7.0× faster</a:t>
            </a:r>
            <a:endParaRPr lang="en-US" sz="3400" dirty="0"/>
          </a:p>
        </p:txBody>
      </p:sp>
      <p:pic>
        <p:nvPicPr>
          <p:cNvPr id="3" name="mri-figure" descr="MRI reconstruction steps">    </p:cNvPr>
          <p:cNvPicPr>
            <a:picLocks noChangeAspect="1"/>
          </p:cNvPicPr>
          <p:nvPr/>
        </p:nvPicPr>
        <p:blipFill>
          <a:blip r:embed="rId1"/>
          <a:stretch>
            <a:fillRect/>
          </a:stretch>
        </p:blipFill>
        <p:spPr>
          <a:xfrm>
            <a:off x="548640" y="1406330"/>
            <a:ext cx="11064240" cy="2353699"/>
          </a:xfrm>
          <a:prstGeom prst="rect">
            <a:avLst/>
          </a:prstGeom>
        </p:spPr>
      </p:pic>
      <p:sp>
        <p:nvSpPr>
          <p:cNvPr id="4" name="mri-stat-0"/>
          <p:cNvSpPr/>
          <p:nvPr/>
        </p:nvSpPr>
        <p:spPr>
          <a:xfrm>
            <a:off x="548640" y="4069080"/>
            <a:ext cx="2633472" cy="2011680"/>
          </a:xfrm>
          <a:prstGeom prst="roundRect">
            <a:avLst>
              <a:gd name="adj" fmla="val 3636"/>
            </a:avLst>
          </a:prstGeom>
          <a:solidFill>
            <a:schemeClr val="bg1"/>
          </a:solidFill>
          <a:ln w="9525">
            <a:solidFill>
              <a:srgbClr val="D9D9D9"/>
            </a:solidFill>
            <a:prstDash val="solid"/>
          </a:ln>
          <a:effectLst>
            <a:outerShdw sx="100000" sy="100000" kx="0" ky="0" algn="bl" rotWithShape="0" blurRad="76200" dist="19050" dir="5400000">
              <a:srgbClr val="000000">
                <a:alpha val="12000"/>
              </a:srgbClr>
            </a:outerShdw>
          </a:effectLst>
        </p:spPr>
      </p:sp>
      <p:sp>
        <p:nvSpPr>
          <p:cNvPr id="5" name="Text 2"/>
          <p:cNvSpPr txBox="1"/>
          <p:nvPr/>
        </p:nvSpPr>
        <p:spPr>
          <a:xfrm>
            <a:off x="777240" y="4160520"/>
            <a:ext cx="2240280" cy="685800"/>
          </a:xfrm>
          <a:prstGeom prst="rect">
            <a:avLst/>
          </a:prstGeom>
          <a:noFill/>
          <a:ln/>
        </p:spPr>
        <p:txBody>
          <a:bodyPr wrap="square" lIns="0" tIns="0" rIns="0" bIns="0" rtlCol="0" anchor="b"/>
          <a:lstStyle/>
          <a:p>
            <a:pPr indent="0" marL="0">
              <a:buNone/>
            </a:pPr>
            <a:r>
              <a:rPr lang="en-US" sz="3800" b="1" dirty="0">
                <a:solidFill>
                  <a:schemeClr val="accent5"/>
                </a:solidFill>
                <a:latin typeface="Cambria" pitchFamily="34" charset="0"/>
                <a:ea typeface="Cambria" pitchFamily="34" charset="-122"/>
                <a:cs typeface="Cambria" pitchFamily="34" charset="-120"/>
              </a:rPr>
              <a:t>4×</a:t>
            </a:r>
            <a:endParaRPr lang="en-US" sz="3800" dirty="0"/>
          </a:p>
        </p:txBody>
      </p:sp>
      <p:sp>
        <p:nvSpPr>
          <p:cNvPr id="6" name="Text 3"/>
          <p:cNvSpPr txBox="1"/>
          <p:nvPr/>
        </p:nvSpPr>
        <p:spPr>
          <a:xfrm>
            <a:off x="777240" y="4892040"/>
            <a:ext cx="2240280" cy="685800"/>
          </a:xfrm>
          <a:prstGeom prst="rect">
            <a:avLst/>
          </a:prstGeom>
          <a:noFill/>
          <a:ln/>
        </p:spPr>
        <p:txBody>
          <a:bodyPr wrap="square" lIns="0" tIns="0" rIns="0" bIns="0" rtlCol="0" anchor="t"/>
          <a:lstStyle/>
          <a:p>
            <a:pPr indent="0" marL="0">
              <a:buNone/>
            </a:pPr>
            <a:r>
              <a:rPr lang="en-US" sz="1300" dirty="0">
                <a:solidFill>
                  <a:srgbClr val="595959"/>
                </a:solidFill>
                <a:latin typeface="Calibri" pitchFamily="34" charset="0"/>
                <a:ea typeface="Calibri" pitchFamily="34" charset="-122"/>
                <a:cs typeface="Calibri" pitchFamily="34" charset="-120"/>
              </a:rPr>
              <a:t>fewer k-space lines measured, so a 4× shorter scan</a:t>
            </a:r>
            <a:endParaRPr lang="en-US" sz="1300" dirty="0"/>
          </a:p>
        </p:txBody>
      </p:sp>
      <p:sp>
        <p:nvSpPr>
          <p:cNvPr id="7" name="mri-stat-1"/>
          <p:cNvSpPr/>
          <p:nvPr/>
        </p:nvSpPr>
        <p:spPr>
          <a:xfrm>
            <a:off x="3364992" y="4069080"/>
            <a:ext cx="2633472" cy="2011680"/>
          </a:xfrm>
          <a:prstGeom prst="roundRect">
            <a:avLst>
              <a:gd name="adj" fmla="val 3636"/>
            </a:avLst>
          </a:prstGeom>
          <a:solidFill>
            <a:schemeClr val="bg1"/>
          </a:solidFill>
          <a:ln w="9525">
            <a:solidFill>
              <a:srgbClr val="D9D9D9"/>
            </a:solidFill>
            <a:prstDash val="solid"/>
          </a:ln>
          <a:effectLst>
            <a:outerShdw sx="100000" sy="100000" kx="0" ky="0" algn="bl" rotWithShape="0" blurRad="76200" dist="19050" dir="5400000">
              <a:srgbClr val="000000">
                <a:alpha val="12000"/>
              </a:srgbClr>
            </a:outerShdw>
          </a:effectLst>
        </p:spPr>
      </p:sp>
      <p:sp>
        <p:nvSpPr>
          <p:cNvPr id="8" name="Text 5"/>
          <p:cNvSpPr txBox="1"/>
          <p:nvPr/>
        </p:nvSpPr>
        <p:spPr>
          <a:xfrm>
            <a:off x="3593592" y="4160520"/>
            <a:ext cx="2240280" cy="685800"/>
          </a:xfrm>
          <a:prstGeom prst="rect">
            <a:avLst/>
          </a:prstGeom>
          <a:noFill/>
          <a:ln/>
        </p:spPr>
        <p:txBody>
          <a:bodyPr wrap="square" lIns="0" tIns="0" rIns="0" bIns="0" rtlCol="0" anchor="b"/>
          <a:lstStyle/>
          <a:p>
            <a:pPr indent="0" marL="0">
              <a:buNone/>
            </a:pPr>
            <a:r>
              <a:rPr lang="en-US" sz="3800" b="1" dirty="0">
                <a:solidFill>
                  <a:schemeClr val="accent1"/>
                </a:solidFill>
                <a:latin typeface="Cambria" pitchFamily="34" charset="0"/>
                <a:ea typeface="Cambria" pitchFamily="34" charset="-122"/>
                <a:cs typeface="Cambria" pitchFamily="34" charset="-120"/>
              </a:rPr>
              <a:t>+2.8 dB</a:t>
            </a:r>
            <a:endParaRPr lang="en-US" sz="3800" dirty="0"/>
          </a:p>
        </p:txBody>
      </p:sp>
      <p:sp>
        <p:nvSpPr>
          <p:cNvPr id="9" name="Text 6"/>
          <p:cNvSpPr txBox="1"/>
          <p:nvPr/>
        </p:nvSpPr>
        <p:spPr>
          <a:xfrm>
            <a:off x="3593592" y="4892040"/>
            <a:ext cx="2240280" cy="685800"/>
          </a:xfrm>
          <a:prstGeom prst="rect">
            <a:avLst/>
          </a:prstGeom>
          <a:noFill/>
          <a:ln/>
        </p:spPr>
        <p:txBody>
          <a:bodyPr wrap="square" lIns="0" tIns="0" rIns="0" bIns="0" rtlCol="0" anchor="t"/>
          <a:lstStyle/>
          <a:p>
            <a:pPr indent="0" marL="0">
              <a:buNone/>
            </a:pPr>
            <a:r>
              <a:rPr lang="en-US" sz="1300" dirty="0">
                <a:solidFill>
                  <a:srgbClr val="595959"/>
                </a:solidFill>
                <a:latin typeface="Calibri" pitchFamily="34" charset="0"/>
                <a:ea typeface="Calibri" pitchFamily="34" charset="-122"/>
                <a:cs typeface="Calibri" pitchFamily="34" charset="-120"/>
              </a:rPr>
              <a:t>PSNR gain: 22.8 → 25.6 dB (zero-filled vs our GPU recon)</a:t>
            </a:r>
            <a:endParaRPr lang="en-US" sz="1300" dirty="0"/>
          </a:p>
        </p:txBody>
      </p:sp>
      <p:sp>
        <p:nvSpPr>
          <p:cNvPr id="10" name="mri-stat-2"/>
          <p:cNvSpPr/>
          <p:nvPr/>
        </p:nvSpPr>
        <p:spPr>
          <a:xfrm>
            <a:off x="6181344" y="4069080"/>
            <a:ext cx="2633472" cy="2011680"/>
          </a:xfrm>
          <a:prstGeom prst="roundRect">
            <a:avLst>
              <a:gd name="adj" fmla="val 3636"/>
            </a:avLst>
          </a:prstGeom>
          <a:solidFill>
            <a:schemeClr val="bg1"/>
          </a:solidFill>
          <a:ln w="9525">
            <a:solidFill>
              <a:srgbClr val="D9D9D9"/>
            </a:solidFill>
            <a:prstDash val="solid"/>
          </a:ln>
          <a:effectLst>
            <a:outerShdw sx="100000" sy="100000" kx="0" ky="0" algn="bl" rotWithShape="0" blurRad="76200" dist="19050" dir="5400000">
              <a:srgbClr val="000000">
                <a:alpha val="12000"/>
              </a:srgbClr>
            </a:outerShdw>
          </a:effectLst>
        </p:spPr>
      </p:sp>
      <p:sp>
        <p:nvSpPr>
          <p:cNvPr id="11" name="Text 8"/>
          <p:cNvSpPr txBox="1"/>
          <p:nvPr/>
        </p:nvSpPr>
        <p:spPr>
          <a:xfrm>
            <a:off x="6409944" y="4160520"/>
            <a:ext cx="2240280" cy="685800"/>
          </a:xfrm>
          <a:prstGeom prst="rect">
            <a:avLst/>
          </a:prstGeom>
          <a:noFill/>
          <a:ln/>
        </p:spPr>
        <p:txBody>
          <a:bodyPr wrap="square" lIns="0" tIns="0" rIns="0" bIns="0" rtlCol="0" anchor="b"/>
          <a:lstStyle/>
          <a:p>
            <a:pPr indent="0" marL="0">
              <a:buNone/>
            </a:pPr>
            <a:r>
              <a:rPr lang="en-US" sz="3800" b="1" dirty="0">
                <a:solidFill>
                  <a:schemeClr val="accent2"/>
                </a:solidFill>
                <a:latin typeface="Cambria" pitchFamily="34" charset="0"/>
                <a:ea typeface="Cambria" pitchFamily="34" charset="-122"/>
                <a:cs typeface="Cambria" pitchFamily="34" charset="-120"/>
              </a:rPr>
              <a:t>7.0×</a:t>
            </a:r>
            <a:endParaRPr lang="en-US" sz="3800" dirty="0"/>
          </a:p>
        </p:txBody>
      </p:sp>
      <p:sp>
        <p:nvSpPr>
          <p:cNvPr id="12" name="Text 9"/>
          <p:cNvSpPr txBox="1"/>
          <p:nvPr/>
        </p:nvSpPr>
        <p:spPr>
          <a:xfrm>
            <a:off x="6409944" y="4892040"/>
            <a:ext cx="2240280" cy="685800"/>
          </a:xfrm>
          <a:prstGeom prst="rect">
            <a:avLst/>
          </a:prstGeom>
          <a:noFill/>
          <a:ln/>
        </p:spPr>
        <p:txBody>
          <a:bodyPr wrap="square" lIns="0" tIns="0" rIns="0" bIns="0" rtlCol="0" anchor="t"/>
          <a:lstStyle/>
          <a:p>
            <a:pPr indent="0" marL="0">
              <a:buNone/>
            </a:pPr>
            <a:r>
              <a:rPr lang="en-US" sz="1300" dirty="0">
                <a:solidFill>
                  <a:srgbClr val="595959"/>
                </a:solidFill>
                <a:latin typeface="Calibri" pitchFamily="34" charset="0"/>
                <a:ea typeface="Calibri" pitchFamily="34" charset="-122"/>
                <a:cs typeface="Calibri" pitchFamily="34" charset="-120"/>
              </a:rPr>
              <a:t>iterative recon, 10 slices × 400 FFTs: 670 ms → 96 ms vs 6-thread CPU</a:t>
            </a:r>
            <a:endParaRPr lang="en-US" sz="1300" dirty="0"/>
          </a:p>
        </p:txBody>
      </p:sp>
      <p:sp>
        <p:nvSpPr>
          <p:cNvPr id="13" name="mri-stat-3"/>
          <p:cNvSpPr/>
          <p:nvPr/>
        </p:nvSpPr>
        <p:spPr>
          <a:xfrm>
            <a:off x="8997696" y="4069080"/>
            <a:ext cx="2633472" cy="2011680"/>
          </a:xfrm>
          <a:prstGeom prst="roundRect">
            <a:avLst>
              <a:gd name="adj" fmla="val 3636"/>
            </a:avLst>
          </a:prstGeom>
          <a:solidFill>
            <a:schemeClr val="bg1"/>
          </a:solidFill>
          <a:ln w="9525">
            <a:solidFill>
              <a:srgbClr val="D9D9D9"/>
            </a:solidFill>
            <a:prstDash val="solid"/>
          </a:ln>
          <a:effectLst>
            <a:outerShdw sx="100000" sy="100000" kx="0" ky="0" algn="bl" rotWithShape="0" blurRad="76200" dist="19050" dir="5400000">
              <a:srgbClr val="000000">
                <a:alpha val="12000"/>
              </a:srgbClr>
            </a:outerShdw>
          </a:effectLst>
        </p:spPr>
      </p:sp>
      <p:sp>
        <p:nvSpPr>
          <p:cNvPr id="14" name="Text 11"/>
          <p:cNvSpPr txBox="1"/>
          <p:nvPr/>
        </p:nvSpPr>
        <p:spPr>
          <a:xfrm>
            <a:off x="9226296" y="4160520"/>
            <a:ext cx="2240280" cy="685800"/>
          </a:xfrm>
          <a:prstGeom prst="rect">
            <a:avLst/>
          </a:prstGeom>
          <a:noFill/>
          <a:ln/>
        </p:spPr>
        <p:txBody>
          <a:bodyPr wrap="square" lIns="0" tIns="0" rIns="0" bIns="0" rtlCol="0" anchor="b"/>
          <a:lstStyle/>
          <a:p>
            <a:pPr indent="0" marL="0">
              <a:buNone/>
            </a:pPr>
            <a:r>
              <a:rPr lang="en-US" sz="3800" b="1" dirty="0">
                <a:solidFill>
                  <a:schemeClr val="accent1"/>
                </a:solidFill>
                <a:latin typeface="Cambria" pitchFamily="34" charset="0"/>
                <a:ea typeface="Cambria" pitchFamily="34" charset="-122"/>
                <a:cs typeface="Cambria" pitchFamily="34" charset="-120"/>
              </a:rPr>
              <a:t>12×</a:t>
            </a:r>
            <a:endParaRPr lang="en-US" sz="3800" dirty="0"/>
          </a:p>
        </p:txBody>
      </p:sp>
      <p:sp>
        <p:nvSpPr>
          <p:cNvPr id="15" name="Text 12"/>
          <p:cNvSpPr txBox="1"/>
          <p:nvPr/>
        </p:nvSpPr>
        <p:spPr>
          <a:xfrm>
            <a:off x="9226296" y="4892040"/>
            <a:ext cx="2240280" cy="685800"/>
          </a:xfrm>
          <a:prstGeom prst="rect">
            <a:avLst/>
          </a:prstGeom>
          <a:noFill/>
          <a:ln/>
        </p:spPr>
        <p:txBody>
          <a:bodyPr wrap="square" lIns="0" tIns="0" rIns="0" bIns="0" rtlCol="0" anchor="t"/>
          <a:lstStyle/>
          <a:p>
            <a:pPr indent="0" marL="0">
              <a:buNone/>
            </a:pPr>
            <a:r>
              <a:rPr lang="en-US" sz="1300" dirty="0">
                <a:solidFill>
                  <a:srgbClr val="595959"/>
                </a:solidFill>
                <a:latin typeface="Calibri" pitchFamily="34" charset="0"/>
                <a:ea typeface="Calibri" pitchFamily="34" charset="-122"/>
                <a:cs typeface="Calibri" pitchFamily="34" charset="-120"/>
              </a:rPr>
              <a:t>cuFFT on a 512³ 3D FFT: 238 ms → 19 ms vs 6-thread CPU</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Stage 3 · 3D denoising: 503× over CPU, 1.75× from tiling</a:t>
            </a:r>
            <a:endParaRPr lang="en-US" sz="3400" dirty="0"/>
          </a:p>
        </p:txBody>
      </p:sp>
      <p:sp>
        <p:nvSpPr>
          <p:cNvPr id="3" name="conv-panel-0"/>
          <p:cNvSpPr/>
          <p:nvPr/>
        </p:nvSpPr>
        <p:spPr>
          <a:xfrm>
            <a:off x="548640" y="1325880"/>
            <a:ext cx="5394960" cy="2103120"/>
          </a:xfrm>
          <a:prstGeom prst="roundRect">
            <a:avLst>
              <a:gd name="adj" fmla="val 3478"/>
            </a:avLst>
          </a:prstGeom>
          <a:solidFill>
            <a:schemeClr val="bg1"/>
          </a:solidFill>
          <a:ln w="9525">
            <a:solidFill>
              <a:srgbClr val="D9D9D9"/>
            </a:solidFill>
            <a:prstDash val="solid"/>
          </a:ln>
          <a:effectLst>
            <a:outerShdw sx="100000" sy="100000" kx="0" ky="0" algn="bl" rotWithShape="0" blurRad="76200" dist="19050" dir="5400000">
              <a:srgbClr val="000000">
                <a:alpha val="12000"/>
              </a:srgbClr>
            </a:outerShdw>
          </a:effectLst>
        </p:spPr>
      </p:sp>
      <p:sp>
        <p:nvSpPr>
          <p:cNvPr id="4" name="Text 2"/>
          <p:cNvSpPr txBox="1"/>
          <p:nvPr/>
        </p:nvSpPr>
        <p:spPr>
          <a:xfrm>
            <a:off x="777240" y="1435608"/>
            <a:ext cx="4937760" cy="365760"/>
          </a:xfrm>
          <a:prstGeom prst="rect">
            <a:avLst/>
          </a:prstGeom>
          <a:noFill/>
          <a:ln/>
        </p:spPr>
        <p:txBody>
          <a:bodyPr wrap="square" lIns="0" tIns="0" rIns="0" bIns="0" rtlCol="0" anchor="t"/>
          <a:lstStyle/>
          <a:p>
            <a:pPr indent="0" marL="0">
              <a:buNone/>
            </a:pPr>
            <a:r>
              <a:rPr lang="en-US" sz="1700" b="1" dirty="0">
                <a:solidFill>
                  <a:schemeClr val="tx1"/>
                </a:solidFill>
                <a:latin typeface="Calibri" pitchFamily="34" charset="0"/>
                <a:ea typeface="Calibri" pitchFamily="34" charset="-122"/>
                <a:cs typeface="Calibri" pitchFamily="34" charset="-120"/>
              </a:rPr>
              <a:t>Naive kernel</a:t>
            </a:r>
            <a:endParaRPr lang="en-US" sz="1700" dirty="0"/>
          </a:p>
        </p:txBody>
      </p:sp>
      <p:sp>
        <p:nvSpPr>
          <p:cNvPr id="5" name="nv-0-0"/>
          <p:cNvSpPr/>
          <p:nvPr/>
        </p:nvSpPr>
        <p:spPr>
          <a:xfrm>
            <a:off x="822960" y="1874520"/>
            <a:ext cx="201168" cy="201168"/>
          </a:xfrm>
          <a:prstGeom prst="rect">
            <a:avLst/>
          </a:prstGeom>
          <a:solidFill>
            <a:srgbClr val="D9D9D9"/>
          </a:solidFill>
          <a:ln/>
        </p:spPr>
      </p:sp>
      <p:sp>
        <p:nvSpPr>
          <p:cNvPr id="6" name="nv-0-1"/>
          <p:cNvSpPr/>
          <p:nvPr/>
        </p:nvSpPr>
        <p:spPr>
          <a:xfrm>
            <a:off x="1051560" y="1874520"/>
            <a:ext cx="201168" cy="201168"/>
          </a:xfrm>
          <a:prstGeom prst="rect">
            <a:avLst/>
          </a:prstGeom>
          <a:solidFill>
            <a:srgbClr val="D9D9D9"/>
          </a:solidFill>
          <a:ln/>
        </p:spPr>
      </p:sp>
      <p:sp>
        <p:nvSpPr>
          <p:cNvPr id="7" name="nv-0-2"/>
          <p:cNvSpPr/>
          <p:nvPr/>
        </p:nvSpPr>
        <p:spPr>
          <a:xfrm>
            <a:off x="1280160" y="1874520"/>
            <a:ext cx="201168" cy="201168"/>
          </a:xfrm>
          <a:prstGeom prst="rect">
            <a:avLst/>
          </a:prstGeom>
          <a:solidFill>
            <a:srgbClr val="D9D9D9"/>
          </a:solidFill>
          <a:ln/>
        </p:spPr>
      </p:sp>
      <p:sp>
        <p:nvSpPr>
          <p:cNvPr id="8" name="nv-0-3"/>
          <p:cNvSpPr/>
          <p:nvPr/>
        </p:nvSpPr>
        <p:spPr>
          <a:xfrm>
            <a:off x="1508760" y="1874520"/>
            <a:ext cx="201168" cy="201168"/>
          </a:xfrm>
          <a:prstGeom prst="rect">
            <a:avLst/>
          </a:prstGeom>
          <a:solidFill>
            <a:srgbClr val="D9D9D9"/>
          </a:solidFill>
          <a:ln/>
        </p:spPr>
      </p:sp>
      <p:sp>
        <p:nvSpPr>
          <p:cNvPr id="9" name="nv-0-4"/>
          <p:cNvSpPr/>
          <p:nvPr/>
        </p:nvSpPr>
        <p:spPr>
          <a:xfrm>
            <a:off x="1737360" y="1874520"/>
            <a:ext cx="201168" cy="201168"/>
          </a:xfrm>
          <a:prstGeom prst="rect">
            <a:avLst/>
          </a:prstGeom>
          <a:solidFill>
            <a:srgbClr val="D9D9D9"/>
          </a:solidFill>
          <a:ln/>
        </p:spPr>
      </p:sp>
      <p:sp>
        <p:nvSpPr>
          <p:cNvPr id="10" name="nv-1-0"/>
          <p:cNvSpPr/>
          <p:nvPr/>
        </p:nvSpPr>
        <p:spPr>
          <a:xfrm>
            <a:off x="822960" y="2103120"/>
            <a:ext cx="201168" cy="201168"/>
          </a:xfrm>
          <a:prstGeom prst="rect">
            <a:avLst/>
          </a:prstGeom>
          <a:solidFill>
            <a:srgbClr val="D9D9D9"/>
          </a:solidFill>
          <a:ln/>
        </p:spPr>
      </p:sp>
      <p:sp>
        <p:nvSpPr>
          <p:cNvPr id="11" name="nv-1-1"/>
          <p:cNvSpPr/>
          <p:nvPr/>
        </p:nvSpPr>
        <p:spPr>
          <a:xfrm>
            <a:off x="1051560" y="2103120"/>
            <a:ext cx="201168" cy="201168"/>
          </a:xfrm>
          <a:prstGeom prst="rect">
            <a:avLst/>
          </a:prstGeom>
          <a:solidFill>
            <a:srgbClr val="D9D9D9"/>
          </a:solidFill>
          <a:ln/>
        </p:spPr>
      </p:sp>
      <p:sp>
        <p:nvSpPr>
          <p:cNvPr id="12" name="nv-1-2"/>
          <p:cNvSpPr/>
          <p:nvPr/>
        </p:nvSpPr>
        <p:spPr>
          <a:xfrm>
            <a:off x="1280160" y="2103120"/>
            <a:ext cx="201168" cy="201168"/>
          </a:xfrm>
          <a:prstGeom prst="rect">
            <a:avLst/>
          </a:prstGeom>
          <a:solidFill>
            <a:srgbClr val="D9D9D9"/>
          </a:solidFill>
          <a:ln/>
        </p:spPr>
      </p:sp>
      <p:sp>
        <p:nvSpPr>
          <p:cNvPr id="13" name="nv-1-3"/>
          <p:cNvSpPr/>
          <p:nvPr/>
        </p:nvSpPr>
        <p:spPr>
          <a:xfrm>
            <a:off x="1508760" y="2103120"/>
            <a:ext cx="201168" cy="201168"/>
          </a:xfrm>
          <a:prstGeom prst="rect">
            <a:avLst/>
          </a:prstGeom>
          <a:solidFill>
            <a:srgbClr val="D9D9D9"/>
          </a:solidFill>
          <a:ln/>
        </p:spPr>
      </p:sp>
      <p:sp>
        <p:nvSpPr>
          <p:cNvPr id="14" name="nv-1-4"/>
          <p:cNvSpPr/>
          <p:nvPr/>
        </p:nvSpPr>
        <p:spPr>
          <a:xfrm>
            <a:off x="1737360" y="2103120"/>
            <a:ext cx="201168" cy="201168"/>
          </a:xfrm>
          <a:prstGeom prst="rect">
            <a:avLst/>
          </a:prstGeom>
          <a:solidFill>
            <a:srgbClr val="D9D9D9"/>
          </a:solidFill>
          <a:ln/>
        </p:spPr>
      </p:sp>
      <p:sp>
        <p:nvSpPr>
          <p:cNvPr id="15" name="nv-2-0"/>
          <p:cNvSpPr/>
          <p:nvPr/>
        </p:nvSpPr>
        <p:spPr>
          <a:xfrm>
            <a:off x="822960" y="2331720"/>
            <a:ext cx="201168" cy="201168"/>
          </a:xfrm>
          <a:prstGeom prst="rect">
            <a:avLst/>
          </a:prstGeom>
          <a:solidFill>
            <a:srgbClr val="D9D9D9"/>
          </a:solidFill>
          <a:ln/>
        </p:spPr>
      </p:sp>
      <p:sp>
        <p:nvSpPr>
          <p:cNvPr id="16" name="nv-2-1"/>
          <p:cNvSpPr/>
          <p:nvPr/>
        </p:nvSpPr>
        <p:spPr>
          <a:xfrm>
            <a:off x="1051560" y="2331720"/>
            <a:ext cx="201168" cy="201168"/>
          </a:xfrm>
          <a:prstGeom prst="rect">
            <a:avLst/>
          </a:prstGeom>
          <a:solidFill>
            <a:srgbClr val="D9D9D9"/>
          </a:solidFill>
          <a:ln/>
        </p:spPr>
      </p:sp>
      <p:sp>
        <p:nvSpPr>
          <p:cNvPr id="17" name="nv-2-2"/>
          <p:cNvSpPr/>
          <p:nvPr/>
        </p:nvSpPr>
        <p:spPr>
          <a:xfrm>
            <a:off x="1280160" y="2331720"/>
            <a:ext cx="201168" cy="201168"/>
          </a:xfrm>
          <a:prstGeom prst="rect">
            <a:avLst/>
          </a:prstGeom>
          <a:solidFill>
            <a:srgbClr val="000000"/>
          </a:solidFill>
          <a:ln/>
        </p:spPr>
      </p:sp>
      <p:sp>
        <p:nvSpPr>
          <p:cNvPr id="18" name="nv-2-3"/>
          <p:cNvSpPr/>
          <p:nvPr/>
        </p:nvSpPr>
        <p:spPr>
          <a:xfrm>
            <a:off x="1508760" y="2331720"/>
            <a:ext cx="201168" cy="201168"/>
          </a:xfrm>
          <a:prstGeom prst="rect">
            <a:avLst/>
          </a:prstGeom>
          <a:solidFill>
            <a:srgbClr val="D9D9D9"/>
          </a:solidFill>
          <a:ln/>
        </p:spPr>
      </p:sp>
      <p:sp>
        <p:nvSpPr>
          <p:cNvPr id="19" name="nv-2-4"/>
          <p:cNvSpPr/>
          <p:nvPr/>
        </p:nvSpPr>
        <p:spPr>
          <a:xfrm>
            <a:off x="1737360" y="2331720"/>
            <a:ext cx="201168" cy="201168"/>
          </a:xfrm>
          <a:prstGeom prst="rect">
            <a:avLst/>
          </a:prstGeom>
          <a:solidFill>
            <a:srgbClr val="D9D9D9"/>
          </a:solidFill>
          <a:ln/>
        </p:spPr>
      </p:sp>
      <p:sp>
        <p:nvSpPr>
          <p:cNvPr id="20" name="nv-3-0"/>
          <p:cNvSpPr/>
          <p:nvPr/>
        </p:nvSpPr>
        <p:spPr>
          <a:xfrm>
            <a:off x="822960" y="2560320"/>
            <a:ext cx="201168" cy="201168"/>
          </a:xfrm>
          <a:prstGeom prst="rect">
            <a:avLst/>
          </a:prstGeom>
          <a:solidFill>
            <a:srgbClr val="D9D9D9"/>
          </a:solidFill>
          <a:ln/>
        </p:spPr>
      </p:sp>
      <p:sp>
        <p:nvSpPr>
          <p:cNvPr id="21" name="nv-3-1"/>
          <p:cNvSpPr/>
          <p:nvPr/>
        </p:nvSpPr>
        <p:spPr>
          <a:xfrm>
            <a:off x="1051560" y="2560320"/>
            <a:ext cx="201168" cy="201168"/>
          </a:xfrm>
          <a:prstGeom prst="rect">
            <a:avLst/>
          </a:prstGeom>
          <a:solidFill>
            <a:srgbClr val="D9D9D9"/>
          </a:solidFill>
          <a:ln/>
        </p:spPr>
      </p:sp>
      <p:sp>
        <p:nvSpPr>
          <p:cNvPr id="22" name="nv-3-2"/>
          <p:cNvSpPr/>
          <p:nvPr/>
        </p:nvSpPr>
        <p:spPr>
          <a:xfrm>
            <a:off x="1280160" y="2560320"/>
            <a:ext cx="201168" cy="201168"/>
          </a:xfrm>
          <a:prstGeom prst="rect">
            <a:avLst/>
          </a:prstGeom>
          <a:solidFill>
            <a:srgbClr val="D9D9D9"/>
          </a:solidFill>
          <a:ln/>
        </p:spPr>
      </p:sp>
      <p:sp>
        <p:nvSpPr>
          <p:cNvPr id="23" name="nv-3-3"/>
          <p:cNvSpPr/>
          <p:nvPr/>
        </p:nvSpPr>
        <p:spPr>
          <a:xfrm>
            <a:off x="1508760" y="2560320"/>
            <a:ext cx="201168" cy="201168"/>
          </a:xfrm>
          <a:prstGeom prst="rect">
            <a:avLst/>
          </a:prstGeom>
          <a:solidFill>
            <a:srgbClr val="D9D9D9"/>
          </a:solidFill>
          <a:ln/>
        </p:spPr>
      </p:sp>
      <p:sp>
        <p:nvSpPr>
          <p:cNvPr id="24" name="nv-3-4"/>
          <p:cNvSpPr/>
          <p:nvPr/>
        </p:nvSpPr>
        <p:spPr>
          <a:xfrm>
            <a:off x="1737360" y="2560320"/>
            <a:ext cx="201168" cy="201168"/>
          </a:xfrm>
          <a:prstGeom prst="rect">
            <a:avLst/>
          </a:prstGeom>
          <a:solidFill>
            <a:srgbClr val="D9D9D9"/>
          </a:solidFill>
          <a:ln/>
        </p:spPr>
      </p:sp>
      <p:sp>
        <p:nvSpPr>
          <p:cNvPr id="25" name="nv-4-0"/>
          <p:cNvSpPr/>
          <p:nvPr/>
        </p:nvSpPr>
        <p:spPr>
          <a:xfrm>
            <a:off x="822960" y="2788920"/>
            <a:ext cx="201168" cy="201168"/>
          </a:xfrm>
          <a:prstGeom prst="rect">
            <a:avLst/>
          </a:prstGeom>
          <a:solidFill>
            <a:srgbClr val="D9D9D9"/>
          </a:solidFill>
          <a:ln/>
        </p:spPr>
      </p:sp>
      <p:sp>
        <p:nvSpPr>
          <p:cNvPr id="26" name="nv-4-1"/>
          <p:cNvSpPr/>
          <p:nvPr/>
        </p:nvSpPr>
        <p:spPr>
          <a:xfrm>
            <a:off x="1051560" y="2788920"/>
            <a:ext cx="201168" cy="201168"/>
          </a:xfrm>
          <a:prstGeom prst="rect">
            <a:avLst/>
          </a:prstGeom>
          <a:solidFill>
            <a:srgbClr val="D9D9D9"/>
          </a:solidFill>
          <a:ln/>
        </p:spPr>
      </p:sp>
      <p:sp>
        <p:nvSpPr>
          <p:cNvPr id="27" name="nv-4-2"/>
          <p:cNvSpPr/>
          <p:nvPr/>
        </p:nvSpPr>
        <p:spPr>
          <a:xfrm>
            <a:off x="1280160" y="2788920"/>
            <a:ext cx="201168" cy="201168"/>
          </a:xfrm>
          <a:prstGeom prst="rect">
            <a:avLst/>
          </a:prstGeom>
          <a:solidFill>
            <a:srgbClr val="D9D9D9"/>
          </a:solidFill>
          <a:ln/>
        </p:spPr>
      </p:sp>
      <p:sp>
        <p:nvSpPr>
          <p:cNvPr id="28" name="nv-4-3"/>
          <p:cNvSpPr/>
          <p:nvPr/>
        </p:nvSpPr>
        <p:spPr>
          <a:xfrm>
            <a:off x="1508760" y="2788920"/>
            <a:ext cx="201168" cy="201168"/>
          </a:xfrm>
          <a:prstGeom prst="rect">
            <a:avLst/>
          </a:prstGeom>
          <a:solidFill>
            <a:srgbClr val="D9D9D9"/>
          </a:solidFill>
          <a:ln/>
        </p:spPr>
      </p:sp>
      <p:sp>
        <p:nvSpPr>
          <p:cNvPr id="29" name="nv-4-4"/>
          <p:cNvSpPr/>
          <p:nvPr/>
        </p:nvSpPr>
        <p:spPr>
          <a:xfrm>
            <a:off x="1737360" y="2788920"/>
            <a:ext cx="201168" cy="201168"/>
          </a:xfrm>
          <a:prstGeom prst="rect">
            <a:avLst/>
          </a:prstGeom>
          <a:solidFill>
            <a:srgbClr val="D9D9D9"/>
          </a:solidFill>
          <a:ln/>
        </p:spPr>
      </p:sp>
      <p:sp>
        <p:nvSpPr>
          <p:cNvPr id="30" name="Text 28"/>
          <p:cNvSpPr txBox="1"/>
          <p:nvPr/>
        </p:nvSpPr>
        <p:spPr>
          <a:xfrm>
            <a:off x="822960" y="3035808"/>
            <a:ext cx="1115568" cy="228600"/>
          </a:xfrm>
          <a:prstGeom prst="rect">
            <a:avLst/>
          </a:prstGeom>
          <a:noFill/>
          <a:ln/>
        </p:spPr>
        <p:txBody>
          <a:bodyPr wrap="square" lIns="0" tIns="0" rIns="0" bIns="0" rtlCol="0" anchor="t"/>
          <a:lstStyle/>
          <a:p>
            <a:pPr algn="ctr" indent="0" marL="0">
              <a:buNone/>
            </a:pPr>
            <a:r>
              <a:rPr lang="en-US" sz="1000" b="1" dirty="0">
                <a:solidFill>
                  <a:srgbClr val="595959"/>
                </a:solidFill>
                <a:latin typeface="Calibri" pitchFamily="34" charset="0"/>
                <a:ea typeface="Calibri" pitchFamily="34" charset="-122"/>
                <a:cs typeface="Calibri" pitchFamily="34" charset="-120"/>
              </a:rPr>
              <a:t>GLOBAL</a:t>
            </a:r>
            <a:endParaRPr lang="en-US" sz="1000" dirty="0"/>
          </a:p>
        </p:txBody>
      </p:sp>
      <p:sp>
        <p:nvSpPr>
          <p:cNvPr id="31" name="Text 29"/>
          <p:cNvSpPr txBox="1"/>
          <p:nvPr/>
        </p:nvSpPr>
        <p:spPr>
          <a:xfrm>
            <a:off x="2240280" y="1874520"/>
            <a:ext cx="3520440" cy="9601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Each thread reads its 125 neighbours directly from slow global memory.</a:t>
            </a:r>
            <a:endParaRPr lang="en-US" sz="1300" dirty="0"/>
          </a:p>
        </p:txBody>
      </p:sp>
      <p:sp>
        <p:nvSpPr>
          <p:cNvPr id="32" name="Text 30"/>
          <p:cNvSpPr txBox="1"/>
          <p:nvPr/>
        </p:nvSpPr>
        <p:spPr>
          <a:xfrm>
            <a:off x="2240280" y="2880360"/>
            <a:ext cx="3520440" cy="365760"/>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125 global reads per voxel · 4.2 ms</a:t>
            </a:r>
            <a:endParaRPr lang="en-US" sz="1400" dirty="0"/>
          </a:p>
        </p:txBody>
      </p:sp>
      <p:sp>
        <p:nvSpPr>
          <p:cNvPr id="33" name="conv-panel-1"/>
          <p:cNvSpPr/>
          <p:nvPr/>
        </p:nvSpPr>
        <p:spPr>
          <a:xfrm>
            <a:off x="6217920" y="1325880"/>
            <a:ext cx="5394960" cy="2103120"/>
          </a:xfrm>
          <a:prstGeom prst="roundRect">
            <a:avLst>
              <a:gd name="adj" fmla="val 3478"/>
            </a:avLst>
          </a:prstGeom>
          <a:solidFill>
            <a:schemeClr val="bg1"/>
          </a:solidFill>
          <a:ln w="9525">
            <a:solidFill>
              <a:srgbClr val="D9D9D9"/>
            </a:solidFill>
            <a:prstDash val="solid"/>
          </a:ln>
          <a:effectLst>
            <a:outerShdw sx="100000" sy="100000" kx="0" ky="0" algn="bl" rotWithShape="0" blurRad="76200" dist="19050" dir="5400000">
              <a:srgbClr val="000000">
                <a:alpha val="12000"/>
              </a:srgbClr>
            </a:outerShdw>
          </a:effectLst>
        </p:spPr>
      </p:sp>
      <p:sp>
        <p:nvSpPr>
          <p:cNvPr id="34" name="Text 32"/>
          <p:cNvSpPr txBox="1"/>
          <p:nvPr/>
        </p:nvSpPr>
        <p:spPr>
          <a:xfrm>
            <a:off x="6446520" y="1435608"/>
            <a:ext cx="4937760" cy="365760"/>
          </a:xfrm>
          <a:prstGeom prst="rect">
            <a:avLst/>
          </a:prstGeom>
          <a:noFill/>
          <a:ln/>
        </p:spPr>
        <p:txBody>
          <a:bodyPr wrap="square" lIns="0" tIns="0" rIns="0" bIns="0" rtlCol="0" anchor="t"/>
          <a:lstStyle/>
          <a:p>
            <a:pPr indent="0" marL="0">
              <a:buNone/>
            </a:pPr>
            <a:r>
              <a:rPr lang="en-US" sz="1700" b="1" dirty="0">
                <a:solidFill>
                  <a:schemeClr val="tx1"/>
                </a:solidFill>
                <a:latin typeface="Calibri" pitchFamily="34" charset="0"/>
                <a:ea typeface="Calibri" pitchFamily="34" charset="-122"/>
                <a:cs typeface="Calibri" pitchFamily="34" charset="-120"/>
              </a:rPr>
              <a:t>Tiled kernel (shared memory)</a:t>
            </a:r>
            <a:endParaRPr lang="en-US" sz="1700" dirty="0"/>
          </a:p>
        </p:txBody>
      </p:sp>
      <p:sp>
        <p:nvSpPr>
          <p:cNvPr id="35" name="tile-halo"/>
          <p:cNvSpPr/>
          <p:nvPr/>
        </p:nvSpPr>
        <p:spPr>
          <a:xfrm>
            <a:off x="6492240" y="1874520"/>
            <a:ext cx="1115568" cy="1115568"/>
          </a:xfrm>
          <a:prstGeom prst="rect">
            <a:avLst/>
          </a:prstGeom>
          <a:solidFill>
            <a:schemeClr val="bg2"/>
          </a:solidFill>
          <a:ln w="19050">
            <a:solidFill>
              <a:srgbClr val="000000"/>
            </a:solidFill>
            <a:prstDash val="dash"/>
          </a:ln>
        </p:spPr>
      </p:sp>
      <p:sp>
        <p:nvSpPr>
          <p:cNvPr id="36" name="tile-core"/>
          <p:cNvSpPr/>
          <p:nvPr/>
        </p:nvSpPr>
        <p:spPr>
          <a:xfrm>
            <a:off x="6675120" y="2057400"/>
            <a:ext cx="749808" cy="749808"/>
          </a:xfrm>
          <a:prstGeom prst="rect">
            <a:avLst/>
          </a:prstGeom>
          <a:solidFill>
            <a:schemeClr val="accent1"/>
          </a:solidFill>
          <a:ln/>
        </p:spPr>
      </p:sp>
      <p:sp>
        <p:nvSpPr>
          <p:cNvPr id="37" name="Text 35"/>
          <p:cNvSpPr txBox="1"/>
          <p:nvPr/>
        </p:nvSpPr>
        <p:spPr>
          <a:xfrm>
            <a:off x="6492240" y="3035808"/>
            <a:ext cx="1115568" cy="228600"/>
          </a:xfrm>
          <a:prstGeom prst="rect">
            <a:avLst/>
          </a:prstGeom>
          <a:noFill/>
          <a:ln/>
        </p:spPr>
        <p:txBody>
          <a:bodyPr wrap="square" lIns="0" tIns="0" rIns="0" bIns="0" rtlCol="0" anchor="t"/>
          <a:lstStyle/>
          <a:p>
            <a:pPr algn="ctr" indent="0" marL="0">
              <a:buNone/>
            </a:pPr>
            <a:r>
              <a:rPr lang="en-US" sz="1000" b="1" dirty="0">
                <a:solidFill>
                  <a:schemeClr val="tx1"/>
                </a:solidFill>
                <a:latin typeface="Calibri" pitchFamily="34" charset="0"/>
                <a:ea typeface="Calibri" pitchFamily="34" charset="-122"/>
                <a:cs typeface="Calibri" pitchFamily="34" charset="-120"/>
              </a:rPr>
              <a:t>SHARED</a:t>
            </a:r>
            <a:endParaRPr lang="en-US" sz="1000" dirty="0"/>
          </a:p>
        </p:txBody>
      </p:sp>
      <p:sp>
        <p:nvSpPr>
          <p:cNvPr id="38" name="Text 36"/>
          <p:cNvSpPr txBox="1"/>
          <p:nvPr/>
        </p:nvSpPr>
        <p:spPr>
          <a:xfrm>
            <a:off x="7909560" y="1874520"/>
            <a:ext cx="3520440" cy="9601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Each 8×8×8 block first copies a 12×12×12 tile (with halo) into shared memory, then reads neighbours from there.</a:t>
            </a:r>
            <a:endParaRPr lang="en-US" sz="1300" dirty="0"/>
          </a:p>
        </p:txBody>
      </p:sp>
      <p:sp>
        <p:nvSpPr>
          <p:cNvPr id="39" name="Text 37"/>
          <p:cNvSpPr txBox="1"/>
          <p:nvPr/>
        </p:nvSpPr>
        <p:spPr>
          <a:xfrm>
            <a:off x="7909560" y="2880360"/>
            <a:ext cx="3520440" cy="365760"/>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3.4 global reads per voxel · 2.4 ms</a:t>
            </a:r>
            <a:endParaRPr lang="en-US" sz="1400" dirty="0"/>
          </a:p>
        </p:txBody>
      </p:sp>
      <p:graphicFrame>
        <p:nvGraphicFramePr>
          <p:cNvPr id="40" name="conv-time-chart" descr=""/>
          <p:cNvGraphicFramePr/>
          <p:nvPr/>
        </p:nvGraphicFramePr>
        <p:xfrm>
          <a:off x="548640" y="3611880"/>
          <a:ext cx="5486400" cy="2560320"/>
        </p:xfrm>
        <a:graphic xmlns:a="http://schemas.openxmlformats.org/drawingml/2006/main">
          <a:graphicData uri="http://schemas.openxmlformats.org/drawingml/2006/chart">
            <c:chart xmlns:c="http://schemas.openxmlformats.org/drawingml/2006/chart" r:id="rId1"/>
          </a:graphicData>
        </a:graphic>
      </p:graphicFrame>
      <p:graphicFrame>
        <p:nvGraphicFramePr>
          <p:cNvPr id="41" name="conv-speedup-chart" descr=""/>
          <p:cNvGraphicFramePr/>
          <p:nvPr/>
        </p:nvGraphicFramePr>
        <p:xfrm>
          <a:off x="6309360" y="3611880"/>
          <a:ext cx="5303520" cy="2560320"/>
        </p:xfrm>
        <a:graphic xmlns:a="http://schemas.openxmlformats.org/drawingml/2006/main">
          <a:graphicData uri="http://schemas.openxmlformats.org/drawingml/2006/chart">
            <c:chart xmlns:c="http://schemas.openxmlformats.org/drawingml/2006/chart" r:id="rId2"/>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Stage 4 · U-Net segmentation: Dice 0.91, 46× faster</a:t>
            </a:r>
            <a:endParaRPr lang="en-US" sz="3400" dirty="0"/>
          </a:p>
        </p:txBody>
      </p:sp>
      <p:pic>
        <p:nvPicPr>
          <p:cNvPr id="3" name="seg-figure" descr="U-Net predictions vs ground truth">    </p:cNvPr>
          <p:cNvPicPr>
            <a:picLocks noChangeAspect="1"/>
          </p:cNvPicPr>
          <p:nvPr/>
        </p:nvPicPr>
        <p:blipFill>
          <a:blip r:embed="rId1"/>
          <a:stretch>
            <a:fillRect/>
          </a:stretch>
        </p:blipFill>
        <p:spPr>
          <a:xfrm>
            <a:off x="548640" y="1547770"/>
            <a:ext cx="5760720" cy="4356821"/>
          </a:xfrm>
          <a:prstGeom prst="rect">
            <a:avLst/>
          </a:prstGeom>
        </p:spPr>
      </p:pic>
      <p:sp>
        <p:nvSpPr>
          <p:cNvPr id="4" name="Text 1"/>
          <p:cNvSpPr txBox="1"/>
          <p:nvPr/>
        </p:nvSpPr>
        <p:spPr>
          <a:xfrm>
            <a:off x="6583680" y="1325880"/>
            <a:ext cx="1600200" cy="685800"/>
          </a:xfrm>
          <a:prstGeom prst="rect">
            <a:avLst/>
          </a:prstGeom>
          <a:noFill/>
          <a:ln/>
        </p:spPr>
        <p:txBody>
          <a:bodyPr wrap="square" lIns="0" tIns="0" rIns="0" bIns="0" rtlCol="0" anchor="b"/>
          <a:lstStyle/>
          <a:p>
            <a:pPr indent="0" marL="0">
              <a:buNone/>
            </a:pPr>
            <a:r>
              <a:rPr lang="en-US" sz="3000" b="1" dirty="0">
                <a:solidFill>
                  <a:schemeClr val="tx1"/>
                </a:solidFill>
                <a:latin typeface="Cambria" pitchFamily="34" charset="0"/>
                <a:ea typeface="Cambria" pitchFamily="34" charset="-122"/>
                <a:cs typeface="Cambria" pitchFamily="34" charset="-120"/>
              </a:rPr>
              <a:t>0.909</a:t>
            </a:r>
            <a:endParaRPr lang="en-US" sz="3000" dirty="0"/>
          </a:p>
        </p:txBody>
      </p:sp>
      <p:sp>
        <p:nvSpPr>
          <p:cNvPr id="5" name="Text 2"/>
          <p:cNvSpPr txBox="1"/>
          <p:nvPr/>
        </p:nvSpPr>
        <p:spPr>
          <a:xfrm>
            <a:off x="6583680" y="2057400"/>
            <a:ext cx="1600200" cy="685800"/>
          </a:xfrm>
          <a:prstGeom prst="rect">
            <a:avLst/>
          </a:prstGeom>
          <a:noFill/>
          <a:ln/>
        </p:spPr>
        <p:txBody>
          <a:bodyPr wrap="square" lIns="0" tIns="0" rIns="0" bIns="0" rtlCol="0" anchor="t"/>
          <a:lstStyle/>
          <a:p>
            <a:pPr indent="0" marL="0">
              <a:buNone/>
            </a:pPr>
            <a:r>
              <a:rPr lang="en-US" sz="1300" dirty="0">
                <a:solidFill>
                  <a:srgbClr val="595959"/>
                </a:solidFill>
                <a:latin typeface="Calibri" pitchFamily="34" charset="0"/>
                <a:ea typeface="Calibri" pitchFamily="34" charset="-122"/>
                <a:cs typeface="Calibri" pitchFamily="34" charset="-120"/>
              </a:rPr>
              <a:t>Dice on 200 unseen test slices</a:t>
            </a:r>
            <a:endParaRPr lang="en-US" sz="1300" dirty="0"/>
          </a:p>
        </p:txBody>
      </p:sp>
      <p:sp>
        <p:nvSpPr>
          <p:cNvPr id="6" name="Text 3"/>
          <p:cNvSpPr txBox="1"/>
          <p:nvPr/>
        </p:nvSpPr>
        <p:spPr>
          <a:xfrm>
            <a:off x="8321040" y="1325880"/>
            <a:ext cx="1600200" cy="685800"/>
          </a:xfrm>
          <a:prstGeom prst="rect">
            <a:avLst/>
          </a:prstGeom>
          <a:noFill/>
          <a:ln/>
        </p:spPr>
        <p:txBody>
          <a:bodyPr wrap="square" lIns="0" tIns="0" rIns="0" bIns="0" rtlCol="0" anchor="b"/>
          <a:lstStyle/>
          <a:p>
            <a:pPr indent="0" marL="0">
              <a:buNone/>
            </a:pPr>
            <a:r>
              <a:rPr lang="en-US" sz="3000" b="1" dirty="0">
                <a:solidFill>
                  <a:schemeClr val="tx1"/>
                </a:solidFill>
                <a:latin typeface="Cambria" pitchFamily="34" charset="0"/>
                <a:ea typeface="Cambria" pitchFamily="34" charset="-122"/>
                <a:cs typeface="Cambria" pitchFamily="34" charset="-120"/>
              </a:rPr>
              <a:t>8.7×</a:t>
            </a:r>
            <a:endParaRPr lang="en-US" sz="3000" dirty="0"/>
          </a:p>
        </p:txBody>
      </p:sp>
      <p:sp>
        <p:nvSpPr>
          <p:cNvPr id="7" name="Text 4"/>
          <p:cNvSpPr txBox="1"/>
          <p:nvPr/>
        </p:nvSpPr>
        <p:spPr>
          <a:xfrm>
            <a:off x="8321040" y="2057400"/>
            <a:ext cx="1600200" cy="685800"/>
          </a:xfrm>
          <a:prstGeom prst="rect">
            <a:avLst/>
          </a:prstGeom>
          <a:noFill/>
          <a:ln/>
        </p:spPr>
        <p:txBody>
          <a:bodyPr wrap="square" lIns="0" tIns="0" rIns="0" bIns="0" rtlCol="0" anchor="t"/>
          <a:lstStyle/>
          <a:p>
            <a:pPr indent="0" marL="0">
              <a:buNone/>
            </a:pPr>
            <a:r>
              <a:rPr lang="en-US" sz="1300" dirty="0">
                <a:solidFill>
                  <a:srgbClr val="595959"/>
                </a:solidFill>
                <a:latin typeface="Calibri" pitchFamily="34" charset="0"/>
                <a:ea typeface="Calibri" pitchFamily="34" charset="-122"/>
                <a:cs typeface="Calibri" pitchFamily="34" charset="-120"/>
              </a:rPr>
              <a:t>faster training: 107.3 s → 12.4 s per epoch</a:t>
            </a:r>
            <a:endParaRPr lang="en-US" sz="1300" dirty="0"/>
          </a:p>
        </p:txBody>
      </p:sp>
      <p:sp>
        <p:nvSpPr>
          <p:cNvPr id="8" name="Text 5"/>
          <p:cNvSpPr txBox="1"/>
          <p:nvPr/>
        </p:nvSpPr>
        <p:spPr>
          <a:xfrm>
            <a:off x="10058400" y="1325880"/>
            <a:ext cx="1600200" cy="685800"/>
          </a:xfrm>
          <a:prstGeom prst="rect">
            <a:avLst/>
          </a:prstGeom>
          <a:noFill/>
          <a:ln/>
        </p:spPr>
        <p:txBody>
          <a:bodyPr wrap="square" lIns="0" tIns="0" rIns="0" bIns="0" rtlCol="0" anchor="b"/>
          <a:lstStyle/>
          <a:p>
            <a:pPr indent="0" marL="0">
              <a:buNone/>
            </a:pPr>
            <a:r>
              <a:rPr lang="en-US" sz="3000" b="1" dirty="0">
                <a:solidFill>
                  <a:schemeClr val="tx1"/>
                </a:solidFill>
                <a:latin typeface="Cambria" pitchFamily="34" charset="0"/>
                <a:ea typeface="Cambria" pitchFamily="34" charset="-122"/>
                <a:cs typeface="Cambria" pitchFamily="34" charset="-120"/>
              </a:rPr>
              <a:t>0.38 ms</a:t>
            </a:r>
            <a:endParaRPr lang="en-US" sz="3000" dirty="0"/>
          </a:p>
        </p:txBody>
      </p:sp>
      <p:sp>
        <p:nvSpPr>
          <p:cNvPr id="9" name="Text 6"/>
          <p:cNvSpPr txBox="1"/>
          <p:nvPr/>
        </p:nvSpPr>
        <p:spPr>
          <a:xfrm>
            <a:off x="10058400" y="2057400"/>
            <a:ext cx="1600200" cy="685800"/>
          </a:xfrm>
          <a:prstGeom prst="rect">
            <a:avLst/>
          </a:prstGeom>
          <a:noFill/>
          <a:ln/>
        </p:spPr>
        <p:txBody>
          <a:bodyPr wrap="square" lIns="0" tIns="0" rIns="0" bIns="0" rtlCol="0" anchor="t"/>
          <a:lstStyle/>
          <a:p>
            <a:pPr indent="0" marL="0">
              <a:buNone/>
            </a:pPr>
            <a:r>
              <a:rPr lang="en-US" sz="1300" dirty="0">
                <a:solidFill>
                  <a:srgbClr val="595959"/>
                </a:solidFill>
                <a:latin typeface="Calibri" pitchFamily="34" charset="0"/>
                <a:ea typeface="Calibri" pitchFamily="34" charset="-122"/>
                <a:cs typeface="Calibri" pitchFamily="34" charset="-120"/>
              </a:rPr>
              <a:t>per slice on GPU (CPU: 17 ms)</a:t>
            </a:r>
            <a:endParaRPr lang="en-US" sz="1300" dirty="0"/>
          </a:p>
        </p:txBody>
      </p:sp>
      <p:graphicFrame>
        <p:nvGraphicFramePr>
          <p:cNvPr id="10" name="infer-chart" descr=""/>
          <p:cNvGraphicFramePr/>
          <p:nvPr/>
        </p:nvGraphicFramePr>
        <p:xfrm>
          <a:off x="6583680" y="3063240"/>
          <a:ext cx="5029200" cy="3063240"/>
        </p:xfrm>
        <a:graphic xmlns:a="http://schemas.openxmlformats.org/drawingml/2006/main">
          <a:graphicData uri="http://schemas.openxmlformats.org/drawingml/2006/chart">
            <c:chart xmlns:c="http://schemas.openxmlformats.org/drawingml/2006/chart" r:id="rId2"/>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Stage 5 · Interactive 3D visualisation</a:t>
            </a:r>
            <a:endParaRPr lang="en-US" sz="3400" dirty="0"/>
          </a:p>
        </p:txBody>
      </p:sp>
      <p:pic>
        <p:nvPicPr>
          <p:cNvPr id="3" name="render-figure" descr="MIP and volume rendering views">    </p:cNvPr>
          <p:cNvPicPr>
            <a:picLocks noChangeAspect="1"/>
          </p:cNvPicPr>
          <p:nvPr/>
        </p:nvPicPr>
        <p:blipFill>
          <a:blip r:embed="rId1"/>
          <a:stretch>
            <a:fillRect/>
          </a:stretch>
        </p:blipFill>
        <p:spPr>
          <a:xfrm>
            <a:off x="548640" y="1325880"/>
            <a:ext cx="7315200" cy="3397986"/>
          </a:xfrm>
          <a:prstGeom prst="rect">
            <a:avLst/>
          </a:prstGeom>
        </p:spPr>
      </p:pic>
      <p:sp>
        <p:nvSpPr>
          <p:cNvPr id="4" name="render-stats"/>
          <p:cNvSpPr/>
          <p:nvPr/>
        </p:nvSpPr>
        <p:spPr>
          <a:xfrm>
            <a:off x="8183880" y="1325880"/>
            <a:ext cx="3429000" cy="4800600"/>
          </a:xfrm>
          <a:prstGeom prst="roundRect">
            <a:avLst>
              <a:gd name="adj" fmla="val 2133"/>
            </a:avLst>
          </a:prstGeom>
          <a:solidFill>
            <a:schemeClr val="bg2"/>
          </a:solidFill>
          <a:ln w="9525">
            <a:solidFill>
              <a:srgbClr val="D9D9D9"/>
            </a:solidFill>
            <a:prstDash val="solid"/>
          </a:ln>
        </p:spPr>
      </p:sp>
      <p:sp>
        <p:nvSpPr>
          <p:cNvPr id="5" name="Text 2"/>
          <p:cNvSpPr txBox="1"/>
          <p:nvPr/>
        </p:nvSpPr>
        <p:spPr>
          <a:xfrm>
            <a:off x="8412480" y="1417320"/>
            <a:ext cx="3017520" cy="685800"/>
          </a:xfrm>
          <a:prstGeom prst="rect">
            <a:avLst/>
          </a:prstGeom>
          <a:noFill/>
          <a:ln/>
        </p:spPr>
        <p:txBody>
          <a:bodyPr wrap="square" lIns="0" tIns="0" rIns="0" bIns="0" rtlCol="0" anchor="b"/>
          <a:lstStyle/>
          <a:p>
            <a:pPr indent="0" marL="0">
              <a:buNone/>
            </a:pPr>
            <a:r>
              <a:rPr lang="en-US" sz="4000" b="1" dirty="0">
                <a:solidFill>
                  <a:schemeClr val="accent1"/>
                </a:solidFill>
                <a:latin typeface="Cambria" pitchFamily="34" charset="0"/>
                <a:ea typeface="Cambria" pitchFamily="34" charset="-122"/>
                <a:cs typeface="Cambria" pitchFamily="34" charset="-120"/>
              </a:rPr>
              <a:t>69 fps</a:t>
            </a:r>
            <a:endParaRPr lang="en-US" sz="4000" dirty="0"/>
          </a:p>
        </p:txBody>
      </p:sp>
      <p:sp>
        <p:nvSpPr>
          <p:cNvPr id="6" name="Text 3"/>
          <p:cNvSpPr txBox="1"/>
          <p:nvPr/>
        </p:nvSpPr>
        <p:spPr>
          <a:xfrm>
            <a:off x="8412480" y="2148840"/>
            <a:ext cx="3017520" cy="685800"/>
          </a:xfrm>
          <a:prstGeom prst="rect">
            <a:avLst/>
          </a:prstGeom>
          <a:noFill/>
          <a:ln/>
        </p:spPr>
        <p:txBody>
          <a:bodyPr wrap="square" lIns="0" tIns="0" rIns="0" bIns="0" rtlCol="0" anchor="t"/>
          <a:lstStyle/>
          <a:p>
            <a:pPr indent="0" marL="0">
              <a:buNone/>
            </a:pPr>
            <a:r>
              <a:rPr lang="en-US" sz="1300" dirty="0">
                <a:solidFill>
                  <a:srgbClr val="595959"/>
                </a:solidFill>
                <a:latin typeface="Calibri" pitchFamily="34" charset="0"/>
                <a:ea typeface="Calibri" pitchFamily="34" charset="-122"/>
                <a:cs typeface="Calibri" pitchFamily="34" charset="-120"/>
              </a:rPr>
              <a:t>volume rendering on GPU (CPU: 2.2 fps)</a:t>
            </a:r>
            <a:endParaRPr lang="en-US" sz="1300" dirty="0"/>
          </a:p>
        </p:txBody>
      </p:sp>
      <p:sp>
        <p:nvSpPr>
          <p:cNvPr id="7" name="Text 4"/>
          <p:cNvSpPr txBox="1"/>
          <p:nvPr/>
        </p:nvSpPr>
        <p:spPr>
          <a:xfrm>
            <a:off x="8412480" y="2880360"/>
            <a:ext cx="3017520" cy="685800"/>
          </a:xfrm>
          <a:prstGeom prst="rect">
            <a:avLst/>
          </a:prstGeom>
          <a:noFill/>
          <a:ln/>
        </p:spPr>
        <p:txBody>
          <a:bodyPr wrap="square" lIns="0" tIns="0" rIns="0" bIns="0" rtlCol="0" anchor="b"/>
          <a:lstStyle/>
          <a:p>
            <a:pPr indent="0" marL="0">
              <a:buNone/>
            </a:pPr>
            <a:r>
              <a:rPr lang="en-US" sz="4000" b="1" dirty="0">
                <a:solidFill>
                  <a:schemeClr val="accent2"/>
                </a:solidFill>
                <a:latin typeface="Cambria" pitchFamily="34" charset="0"/>
                <a:ea typeface="Cambria" pitchFamily="34" charset="-122"/>
                <a:cs typeface="Cambria" pitchFamily="34" charset="-120"/>
              </a:rPr>
              <a:t>31×</a:t>
            </a:r>
            <a:endParaRPr lang="en-US" sz="4000" dirty="0"/>
          </a:p>
        </p:txBody>
      </p:sp>
      <p:sp>
        <p:nvSpPr>
          <p:cNvPr id="8" name="Text 5"/>
          <p:cNvSpPr txBox="1"/>
          <p:nvPr/>
        </p:nvSpPr>
        <p:spPr>
          <a:xfrm>
            <a:off x="8412480" y="3611880"/>
            <a:ext cx="3017520" cy="685800"/>
          </a:xfrm>
          <a:prstGeom prst="rect">
            <a:avLst/>
          </a:prstGeom>
          <a:noFill/>
          <a:ln/>
        </p:spPr>
        <p:txBody>
          <a:bodyPr wrap="square" lIns="0" tIns="0" rIns="0" bIns="0" rtlCol="0" anchor="t"/>
          <a:lstStyle/>
          <a:p>
            <a:pPr indent="0" marL="0">
              <a:buNone/>
            </a:pPr>
            <a:r>
              <a:rPr lang="en-US" sz="1300" dirty="0">
                <a:solidFill>
                  <a:srgbClr val="595959"/>
                </a:solidFill>
                <a:latin typeface="Calibri" pitchFamily="34" charset="0"/>
                <a:ea typeface="Calibri" pitchFamily="34" charset="-122"/>
                <a:cs typeface="Calibri" pitchFamily="34" charset="-120"/>
              </a:rPr>
              <a:t>faster rendering; MIP 38×</a:t>
            </a:r>
            <a:endParaRPr lang="en-US" sz="1300" dirty="0"/>
          </a:p>
        </p:txBody>
      </p:sp>
      <p:sp>
        <p:nvSpPr>
          <p:cNvPr id="9" name="Text 6"/>
          <p:cNvSpPr txBox="1"/>
          <p:nvPr/>
        </p:nvSpPr>
        <p:spPr>
          <a:xfrm>
            <a:off x="8412480" y="4434840"/>
            <a:ext cx="3017520" cy="164592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Each view: rotate volume (trilinear resampling), then cast one ray per pixel</a:t>
            </a:r>
            <a:endParaRPr lang="en-US" sz="1300" dirty="0"/>
          </a:p>
          <a:p>
            <a:pPr marL="177800" indent="-1778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36 views of a real head CT (resampled to 256 × 226 × 256)</a:t>
            </a:r>
            <a:endParaRPr lang="en-US" sz="1300" dirty="0"/>
          </a:p>
          <a:p>
            <a:pPr marL="177800" indent="-1778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Every ray is independent, so it runs in parallel</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End-to-end: the whole pipeline is 44× faster</a:t>
            </a:r>
            <a:endParaRPr lang="en-US" sz="3400" dirty="0"/>
          </a:p>
        </p:txBody>
      </p:sp>
      <p:graphicFrame>
        <p:nvGraphicFramePr>
          <p:cNvPr id="19" name="pipeline-table"/>
          <p:cNvGraphicFramePr>
            <a:graphicFrameLocks noGrp="1"/>
          </p:cNvGraphicFramePr>
          <p:nvPr>
            <p:extLst>
              <p:ext uri="{D42A27DB-BD31-4B8C-83A1-F6EECF244321}">
                <p14:modId xmlns:p14="http://schemas.microsoft.com/office/powerpoint/2010/main" val="1579011935"/>
              </p:ext>
            </p:extLst>
          </p:nvPr>
        </p:nvGraphicFramePr>
        <p:xfrm>
          <a:off x="548640" y="1325880"/>
          <a:ext cx="6949440" cy="914400"/>
        </p:xfrm>
        <a:graphic>
          <a:graphicData uri="http://schemas.openxmlformats.org/drawingml/2006/table">
            <a:tbl>
              <a:tblPr/>
              <a:tblGrid>
                <a:gridCol w="3657600"/>
                <a:gridCol w="1097280"/>
                <a:gridCol w="1097280"/>
                <a:gridCol w="1097280"/>
              </a:tblGrid>
              <a:tr h="45720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Stage</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00"/>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CPU</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00"/>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GPU</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00"/>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Speedup</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00"/>
                    </a:solidFill>
                  </a:tcPr>
                </a:tc>
              </a:tr>
              <a:tr h="457200">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CT reconstruction (128 × 256², FBP)</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r" indent="0" marL="0">
                        <a:buNone/>
                      </a:pPr>
                      <a:r>
                        <a:rPr lang="en-US" sz="1300" dirty="0">
                          <a:solidFill>
                            <a:srgbClr val="000000"/>
                          </a:solidFill>
                          <a:latin typeface="Calibri" pitchFamily="34" charset="0"/>
                          <a:ea typeface="Calibri" pitchFamily="34" charset="-122"/>
                          <a:cs typeface="Calibri" pitchFamily="34" charset="-120"/>
                        </a:rPr>
                        <a:t>11.8 s</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r" indent="0" marL="0">
                        <a:buNone/>
                      </a:pPr>
                      <a:r>
                        <a:rPr lang="en-US" sz="1300" dirty="0">
                          <a:solidFill>
                            <a:srgbClr val="000000"/>
                          </a:solidFill>
                          <a:latin typeface="Calibri" pitchFamily="34" charset="0"/>
                          <a:ea typeface="Calibri" pitchFamily="34" charset="-122"/>
                          <a:cs typeface="Calibri" pitchFamily="34" charset="-120"/>
                        </a:rPr>
                        <a:t>45 ms</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r" indent="0" marL="0">
                        <a:buNone/>
                      </a:pPr>
                      <a:r>
                        <a:rPr lang="en-US" sz="1300" b="1" dirty="0">
                          <a:solidFill>
                            <a:srgbClr val="000000"/>
                          </a:solidFill>
                          <a:latin typeface="Calibri" pitchFamily="34" charset="0"/>
                          <a:ea typeface="Calibri" pitchFamily="34" charset="-122"/>
                          <a:cs typeface="Calibri" pitchFamily="34" charset="-120"/>
                        </a:rPr>
                        <a:t>265×</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57200">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MRI CS recon (10 × 256², 200 iters)</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r" indent="0" marL="0">
                        <a:buNone/>
                      </a:pPr>
                      <a:r>
                        <a:rPr lang="en-US" sz="1300" dirty="0">
                          <a:solidFill>
                            <a:srgbClr val="000000"/>
                          </a:solidFill>
                          <a:latin typeface="Calibri" pitchFamily="34" charset="0"/>
                          <a:ea typeface="Calibri" pitchFamily="34" charset="-122"/>
                          <a:cs typeface="Calibri" pitchFamily="34" charset="-120"/>
                        </a:rPr>
                        <a:t>670 ms</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r" indent="0" marL="0">
                        <a:buNone/>
                      </a:pPr>
                      <a:r>
                        <a:rPr lang="en-US" sz="1300" dirty="0">
                          <a:solidFill>
                            <a:srgbClr val="000000"/>
                          </a:solidFill>
                          <a:latin typeface="Calibri" pitchFamily="34" charset="0"/>
                          <a:ea typeface="Calibri" pitchFamily="34" charset="-122"/>
                          <a:cs typeface="Calibri" pitchFamily="34" charset="-120"/>
                        </a:rPr>
                        <a:t>96 ms</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r" indent="0" marL="0">
                        <a:buNone/>
                      </a:pPr>
                      <a:r>
                        <a:rPr lang="en-US" sz="1300" b="1" dirty="0">
                          <a:solidFill>
                            <a:srgbClr val="000000"/>
                          </a:solidFill>
                          <a:latin typeface="Calibri" pitchFamily="34" charset="0"/>
                          <a:ea typeface="Calibri" pitchFamily="34" charset="-122"/>
                          <a:cs typeface="Calibri" pitchFamily="34" charset="-120"/>
                        </a:rPr>
                        <a:t>7.0×</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57200">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3D denoise (256³, 5³ Gaussian)</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r" indent="0" marL="0">
                        <a:buNone/>
                      </a:pPr>
                      <a:r>
                        <a:rPr lang="en-US" sz="1300" dirty="0">
                          <a:solidFill>
                            <a:srgbClr val="000000"/>
                          </a:solidFill>
                          <a:latin typeface="Calibri" pitchFamily="34" charset="0"/>
                          <a:ea typeface="Calibri" pitchFamily="34" charset="-122"/>
                          <a:cs typeface="Calibri" pitchFamily="34" charset="-120"/>
                        </a:rPr>
                        <a:t>1.2 s</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r" indent="0" marL="0">
                        <a:buNone/>
                      </a:pPr>
                      <a:r>
                        <a:rPr lang="en-US" sz="1300" dirty="0">
                          <a:solidFill>
                            <a:srgbClr val="000000"/>
                          </a:solidFill>
                          <a:latin typeface="Calibri" pitchFamily="34" charset="0"/>
                          <a:ea typeface="Calibri" pitchFamily="34" charset="-122"/>
                          <a:cs typeface="Calibri" pitchFamily="34" charset="-120"/>
                        </a:rPr>
                        <a:t>16 ms</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r" indent="0" marL="0">
                        <a:buNone/>
                      </a:pPr>
                      <a:r>
                        <a:rPr lang="en-US" sz="1300" b="1" dirty="0">
                          <a:solidFill>
                            <a:srgbClr val="000000"/>
                          </a:solidFill>
                          <a:latin typeface="Calibri" pitchFamily="34" charset="0"/>
                          <a:ea typeface="Calibri" pitchFamily="34" charset="-122"/>
                          <a:cs typeface="Calibri" pitchFamily="34" charset="-120"/>
                        </a:rPr>
                        <a:t>78×</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57200">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U-Net inference (128 slices)</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r" indent="0" marL="0">
                        <a:buNone/>
                      </a:pPr>
                      <a:r>
                        <a:rPr lang="en-US" sz="1300" dirty="0">
                          <a:solidFill>
                            <a:srgbClr val="000000"/>
                          </a:solidFill>
                          <a:latin typeface="Calibri" pitchFamily="34" charset="0"/>
                          <a:ea typeface="Calibri" pitchFamily="34" charset="-122"/>
                          <a:cs typeface="Calibri" pitchFamily="34" charset="-120"/>
                        </a:rPr>
                        <a:t>2.2 s</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r" indent="0" marL="0">
                        <a:buNone/>
                      </a:pPr>
                      <a:r>
                        <a:rPr lang="en-US" sz="1300" dirty="0">
                          <a:solidFill>
                            <a:srgbClr val="000000"/>
                          </a:solidFill>
                          <a:latin typeface="Calibri" pitchFamily="34" charset="0"/>
                          <a:ea typeface="Calibri" pitchFamily="34" charset="-122"/>
                          <a:cs typeface="Calibri" pitchFamily="34" charset="-120"/>
                        </a:rPr>
                        <a:t>49 ms</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r" indent="0" marL="0">
                        <a:buNone/>
                      </a:pPr>
                      <a:r>
                        <a:rPr lang="en-US" sz="1300" b="1" dirty="0">
                          <a:solidFill>
                            <a:srgbClr val="000000"/>
                          </a:solidFill>
                          <a:latin typeface="Calibri" pitchFamily="34" charset="0"/>
                          <a:ea typeface="Calibri" pitchFamily="34" charset="-122"/>
                          <a:cs typeface="Calibri" pitchFamily="34" charset="-120"/>
                        </a:rPr>
                        <a:t>46×</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57200">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3D rendering (36 DVR views)</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r" indent="0" marL="0">
                        <a:buNone/>
                      </a:pPr>
                      <a:r>
                        <a:rPr lang="en-US" sz="1300" dirty="0">
                          <a:solidFill>
                            <a:srgbClr val="000000"/>
                          </a:solidFill>
                          <a:latin typeface="Calibri" pitchFamily="34" charset="0"/>
                          <a:ea typeface="Calibri" pitchFamily="34" charset="-122"/>
                          <a:cs typeface="Calibri" pitchFamily="34" charset="-120"/>
                        </a:rPr>
                        <a:t>16.2 s</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r" indent="0" marL="0">
                        <a:buNone/>
                      </a:pPr>
                      <a:r>
                        <a:rPr lang="en-US" sz="1300" dirty="0">
                          <a:solidFill>
                            <a:srgbClr val="000000"/>
                          </a:solidFill>
                          <a:latin typeface="Calibri" pitchFamily="34" charset="0"/>
                          <a:ea typeface="Calibri" pitchFamily="34" charset="-122"/>
                          <a:cs typeface="Calibri" pitchFamily="34" charset="-120"/>
                        </a:rPr>
                        <a:t>523 ms</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r" indent="0" marL="0">
                        <a:buNone/>
                      </a:pPr>
                      <a:r>
                        <a:rPr lang="en-US" sz="1300" b="1" dirty="0">
                          <a:solidFill>
                            <a:srgbClr val="000000"/>
                          </a:solidFill>
                          <a:latin typeface="Calibri" pitchFamily="34" charset="0"/>
                          <a:ea typeface="Calibri" pitchFamily="34" charset="-122"/>
                          <a:cs typeface="Calibri" pitchFamily="34" charset="-120"/>
                        </a:rPr>
                        <a:t>31×</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57200">
                <a:tc>
                  <a:txBody>
                    <a:bodyPr/>
                    <a:lstStyle/>
                    <a:p>
                      <a:pPr indent="0" marL="0">
                        <a:buNone/>
                      </a:pPr>
                      <a:r>
                        <a:rPr lang="en-US" sz="1300" b="1" dirty="0">
                          <a:solidFill>
                            <a:srgbClr val="000000"/>
                          </a:solidFill>
                          <a:latin typeface="Calibri" pitchFamily="34" charset="0"/>
                          <a:ea typeface="Calibri" pitchFamily="34" charset="-122"/>
                          <a:cs typeface="Calibri" pitchFamily="34" charset="-120"/>
                        </a:rPr>
                        <a:t>Total pipeline</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r" indent="0" marL="0">
                        <a:buNone/>
                      </a:pPr>
                      <a:r>
                        <a:rPr lang="en-US" sz="1300" b="1" dirty="0">
                          <a:solidFill>
                            <a:srgbClr val="000000"/>
                          </a:solidFill>
                          <a:latin typeface="Calibri" pitchFamily="34" charset="0"/>
                          <a:ea typeface="Calibri" pitchFamily="34" charset="-122"/>
                          <a:cs typeface="Calibri" pitchFamily="34" charset="-120"/>
                        </a:rPr>
                        <a:t>32.2 s</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r" indent="0" marL="0">
                        <a:buNone/>
                      </a:pPr>
                      <a:r>
                        <a:rPr lang="en-US" sz="1300" b="1" dirty="0">
                          <a:solidFill>
                            <a:srgbClr val="000000"/>
                          </a:solidFill>
                          <a:latin typeface="Calibri" pitchFamily="34" charset="0"/>
                          <a:ea typeface="Calibri" pitchFamily="34" charset="-122"/>
                          <a:cs typeface="Calibri" pitchFamily="34" charset="-120"/>
                        </a:rPr>
                        <a:t>728 ms</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r" indent="0" marL="0">
                        <a:buNone/>
                      </a:pPr>
                      <a:r>
                        <a:rPr lang="en-US" sz="1300" b="1" dirty="0">
                          <a:solidFill>
                            <a:srgbClr val="404040"/>
                          </a:solidFill>
                          <a:latin typeface="Calibri" pitchFamily="34" charset="0"/>
                          <a:ea typeface="Calibri" pitchFamily="34" charset="-122"/>
                          <a:cs typeface="Calibri" pitchFamily="34" charset="-120"/>
                        </a:rPr>
                        <a:t>44×</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4" name="Text 1"/>
          <p:cNvSpPr txBox="1"/>
          <p:nvPr/>
        </p:nvSpPr>
        <p:spPr>
          <a:xfrm>
            <a:off x="548640" y="4709160"/>
            <a:ext cx="6949440" cy="320040"/>
          </a:xfrm>
          <a:prstGeom prst="rect">
            <a:avLst/>
          </a:prstGeom>
          <a:noFill/>
          <a:ln/>
        </p:spPr>
        <p:txBody>
          <a:bodyPr wrap="square" lIns="0" tIns="0" rIns="0" bIns="0" rtlCol="0" anchor="t"/>
          <a:lstStyle/>
          <a:p>
            <a:pPr indent="0" marL="0">
              <a:buNone/>
            </a:pPr>
            <a:r>
              <a:rPr lang="en-US" sz="1100" i="1" dirty="0">
                <a:solidFill>
                  <a:srgbClr val="595959"/>
                </a:solidFill>
                <a:latin typeface="Calibri" pitchFamily="34" charset="0"/>
                <a:ea typeface="Calibri" pitchFamily="34" charset="-122"/>
                <a:cs typeface="Calibri" pitchFamily="34" charset="-120"/>
              </a:rPr>
              <a:t>GPU times include host↔device transfers. Stage 4 = inference on 128 slices.</a:t>
            </a:r>
            <a:endParaRPr lang="en-US" sz="1100" dirty="0"/>
          </a:p>
        </p:txBody>
      </p:sp>
      <p:sp>
        <p:nvSpPr>
          <p:cNvPr id="5" name="e2e-big"/>
          <p:cNvSpPr/>
          <p:nvPr/>
        </p:nvSpPr>
        <p:spPr>
          <a:xfrm>
            <a:off x="7818120" y="1325880"/>
            <a:ext cx="3794760" cy="2240280"/>
          </a:xfrm>
          <a:prstGeom prst="roundRect">
            <a:avLst>
              <a:gd name="adj" fmla="val 3265"/>
            </a:avLst>
          </a:prstGeom>
          <a:solidFill>
            <a:srgbClr val="000000"/>
          </a:solidFill>
          <a:ln w="9525">
            <a:solidFill>
              <a:srgbClr val="D9D9D9"/>
            </a:solidFill>
            <a:prstDash val="solid"/>
          </a:ln>
        </p:spPr>
      </p:sp>
      <p:sp>
        <p:nvSpPr>
          <p:cNvPr id="6" name="Text 3"/>
          <p:cNvSpPr txBox="1"/>
          <p:nvPr/>
        </p:nvSpPr>
        <p:spPr>
          <a:xfrm>
            <a:off x="8046720" y="1508760"/>
            <a:ext cx="3383280" cy="731520"/>
          </a:xfrm>
          <a:prstGeom prst="rect">
            <a:avLst/>
          </a:prstGeom>
          <a:noFill/>
          <a:ln/>
        </p:spPr>
        <p:txBody>
          <a:bodyPr wrap="square" lIns="0" tIns="0" rIns="0" bIns="0" rtlCol="0" anchor="t"/>
          <a:lstStyle/>
          <a:p>
            <a:pPr indent="0" marL="0">
              <a:buNone/>
            </a:pPr>
            <a:r>
              <a:rPr lang="en-US" sz="3000" b="1" dirty="0">
                <a:solidFill>
                  <a:schemeClr val="bg1"/>
                </a:solidFill>
                <a:latin typeface="Cambria" pitchFamily="34" charset="0"/>
                <a:ea typeface="Cambria" pitchFamily="34" charset="-122"/>
                <a:cs typeface="Cambria" pitchFamily="34" charset="-120"/>
              </a:rPr>
              <a:t>32.2 s  →  728 ms</a:t>
            </a:r>
            <a:endParaRPr lang="en-US" sz="3000" dirty="0"/>
          </a:p>
        </p:txBody>
      </p:sp>
      <p:sp>
        <p:nvSpPr>
          <p:cNvPr id="7" name="Text 4"/>
          <p:cNvSpPr txBox="1"/>
          <p:nvPr/>
        </p:nvSpPr>
        <p:spPr>
          <a:xfrm>
            <a:off x="8046720" y="2240280"/>
            <a:ext cx="3383280" cy="365760"/>
          </a:xfrm>
          <a:prstGeom prst="rect">
            <a:avLst/>
          </a:prstGeom>
          <a:noFill/>
          <a:ln/>
        </p:spPr>
        <p:txBody>
          <a:bodyPr wrap="square" lIns="0" tIns="0" rIns="0" bIns="0" rtlCol="0" anchor="t"/>
          <a:lstStyle/>
          <a:p>
            <a:pPr indent="0" marL="0">
              <a:buNone/>
            </a:pPr>
            <a:r>
              <a:rPr lang="en-US" sz="1400" dirty="0">
                <a:solidFill>
                  <a:srgbClr val="BFBFBF"/>
                </a:solidFill>
                <a:latin typeface="Calibri" pitchFamily="34" charset="0"/>
                <a:ea typeface="Calibri" pitchFamily="34" charset="-122"/>
                <a:cs typeface="Calibri" pitchFamily="34" charset="-120"/>
              </a:rPr>
              <a:t>for one study through all five stages</a:t>
            </a:r>
            <a:endParaRPr lang="en-US" sz="1400" dirty="0"/>
          </a:p>
        </p:txBody>
      </p:sp>
      <p:sp>
        <p:nvSpPr>
          <p:cNvPr id="8" name="Text 5"/>
          <p:cNvSpPr txBox="1"/>
          <p:nvPr/>
        </p:nvSpPr>
        <p:spPr>
          <a:xfrm>
            <a:off x="8046720" y="2743200"/>
            <a:ext cx="3383280" cy="548640"/>
          </a:xfrm>
          <a:prstGeom prst="rect">
            <a:avLst/>
          </a:prstGeom>
          <a:noFill/>
          <a:ln/>
        </p:spPr>
        <p:txBody>
          <a:bodyPr wrap="square" lIns="0" tIns="0" rIns="0" bIns="0" rtlCol="0" anchor="t"/>
          <a:lstStyle/>
          <a:p>
            <a:pPr indent="0" marL="0">
              <a:buNone/>
            </a:pPr>
            <a:r>
              <a:rPr lang="en-US" sz="1500" b="1" dirty="0">
                <a:solidFill>
                  <a:schemeClr val="bg1"/>
                </a:solidFill>
                <a:latin typeface="Calibri" pitchFamily="34" charset="0"/>
                <a:ea typeface="Calibri" pitchFamily="34" charset="-122"/>
                <a:cs typeface="Calibri" pitchFamily="34" charset="-120"/>
              </a:rPr>
              <a:t>From waiting time to interactive</a:t>
            </a:r>
            <a:endParaRPr lang="en-US" sz="1500" dirty="0"/>
          </a:p>
        </p:txBody>
      </p:sp>
      <p:graphicFrame>
        <p:nvGraphicFramePr>
          <p:cNvPr id="9" name="breakdown-chart" descr=""/>
          <p:cNvGraphicFramePr/>
          <p:nvPr/>
        </p:nvGraphicFramePr>
        <p:xfrm>
          <a:off x="548640" y="5029200"/>
          <a:ext cx="11064240" cy="1325880"/>
        </p:xfrm>
        <a:graphic xmlns:a="http://schemas.openxmlformats.org/drawingml/2006/main">
          <a:graphicData uri="http://schemas.openxmlformats.org/drawingml/2006/chart">
            <c:chart xmlns:c="http://schemas.openxmlformats.org/drawingml/2006/chart" r:id="rId1"/>
          </a:graphicData>
        </a:graphic>
      </p:graphicFrame>
      <p:sp>
        <p:nvSpPr>
          <p:cNvPr id="10" name="Text 6"/>
          <p:cNvSpPr txBox="1"/>
          <p:nvPr/>
        </p:nvSpPr>
        <p:spPr>
          <a:xfrm>
            <a:off x="7818120" y="3794760"/>
            <a:ext cx="3749040" cy="320040"/>
          </a:xfrm>
          <a:prstGeom prst="rect">
            <a:avLst/>
          </a:prstGeom>
          <a:noFill/>
          <a:ln/>
        </p:spPr>
        <p:txBody>
          <a:bodyPr wrap="square" lIns="0" tIns="0" rIns="0" bIns="0" rtlCol="0" anchor="t"/>
          <a:lstStyle/>
          <a:p>
            <a:pPr indent="0" marL="0">
              <a:buNone/>
            </a:pPr>
            <a:r>
              <a:rPr lang="en-US" sz="1400" b="1" dirty="0">
                <a:solidFill>
                  <a:schemeClr val="tx2"/>
                </a:solidFill>
                <a:latin typeface="Calibri" pitchFamily="34" charset="0"/>
                <a:ea typeface="Calibri" pitchFamily="34" charset="-122"/>
                <a:cs typeface="Calibri" pitchFamily="34" charset="-120"/>
              </a:rPr>
              <a:t>Where GPU time goes (ms)</a:t>
            </a:r>
            <a:endParaRPr lang="en-US" sz="1400" dirty="0"/>
          </a:p>
        </p:txBody>
      </p:sp>
      <p:sp>
        <p:nvSpPr>
          <p:cNvPr id="11" name="Text 7"/>
          <p:cNvSpPr txBox="1"/>
          <p:nvPr/>
        </p:nvSpPr>
        <p:spPr>
          <a:xfrm>
            <a:off x="7818120" y="4114800"/>
            <a:ext cx="3749040" cy="86868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Data transfer is 85% of the denoise stage. Keeping data on the GPU between stages is the next big win (Amdahl's law).</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Challenges, limitations and future scope</a:t>
            </a:r>
            <a:endParaRPr lang="en-US" sz="3400" dirty="0"/>
          </a:p>
        </p:txBody>
      </p:sp>
      <p:sp>
        <p:nvSpPr>
          <p:cNvPr id="3" name="chal-0"/>
          <p:cNvSpPr/>
          <p:nvPr/>
        </p:nvSpPr>
        <p:spPr>
          <a:xfrm>
            <a:off x="548640" y="1325880"/>
            <a:ext cx="3566160" cy="2240280"/>
          </a:xfrm>
          <a:prstGeom prst="roundRect">
            <a:avLst>
              <a:gd name="adj" fmla="val 3265"/>
            </a:avLst>
          </a:prstGeom>
          <a:solidFill>
            <a:schemeClr val="bg1"/>
          </a:solidFill>
          <a:ln w="9525">
            <a:solidFill>
              <a:srgbClr val="D9D9D9"/>
            </a:solidFill>
            <a:prstDash val="solid"/>
          </a:ln>
          <a:effectLst>
            <a:outerShdw sx="100000" sy="100000" kx="0" ky="0" algn="bl" rotWithShape="0" blurRad="76200" dist="19050" dir="5400000">
              <a:srgbClr val="000000">
                <a:alpha val="12000"/>
              </a:srgbClr>
            </a:outerShdw>
          </a:effectLst>
        </p:spPr>
      </p:sp>
      <p:sp>
        <p:nvSpPr>
          <p:cNvPr id="4" name="icon-bg-FaExchangeAlt"/>
          <p:cNvSpPr/>
          <p:nvPr/>
        </p:nvSpPr>
        <p:spPr>
          <a:xfrm>
            <a:off x="777240" y="1554480"/>
            <a:ext cx="566928" cy="566928"/>
          </a:xfrm>
          <a:prstGeom prst="ellipse">
            <a:avLst/>
          </a:prstGeom>
          <a:solidFill>
            <a:schemeClr val="accent2"/>
          </a:solidFill>
          <a:ln/>
        </p:spPr>
      </p:sp>
      <p:pic>
        <p:nvPicPr>
          <p:cNvPr id="5" name="icon-FaExchangeAlt" descr="ExchangeAlt icon">    </p:cNvPr>
          <p:cNvPicPr>
            <a:picLocks noChangeAspect="1"/>
          </p:cNvPicPr>
          <p:nvPr/>
        </p:nvPicPr>
        <p:blipFill>
          <a:blip r:embed="rId1"/>
          <a:stretch>
            <a:fillRect/>
          </a:stretch>
        </p:blipFill>
        <p:spPr>
          <a:xfrm>
            <a:off x="913303" y="1690543"/>
            <a:ext cx="294803" cy="294803"/>
          </a:xfrm>
          <a:prstGeom prst="rect">
            <a:avLst/>
          </a:prstGeom>
        </p:spPr>
      </p:pic>
      <p:sp>
        <p:nvSpPr>
          <p:cNvPr id="6" name="Text 3"/>
          <p:cNvSpPr txBox="1"/>
          <p:nvPr/>
        </p:nvSpPr>
        <p:spPr>
          <a:xfrm>
            <a:off x="1463040" y="1600200"/>
            <a:ext cx="2514600" cy="50292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PCIe transfer bottleneck</a:t>
            </a:r>
            <a:endParaRPr lang="en-US" sz="1600" dirty="0"/>
          </a:p>
        </p:txBody>
      </p:sp>
      <p:sp>
        <p:nvSpPr>
          <p:cNvPr id="7" name="Text 4"/>
          <p:cNvSpPr txBox="1"/>
          <p:nvPr/>
        </p:nvSpPr>
        <p:spPr>
          <a:xfrm>
            <a:off x="777240" y="2286000"/>
            <a:ext cx="3154680" cy="11887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11.8 GB/s measured. Fix: pinned memory, CUDA streams to overlap copy and compute, GPU-resident pipeline</a:t>
            </a:r>
            <a:endParaRPr lang="en-US" sz="1300" dirty="0"/>
          </a:p>
        </p:txBody>
      </p:sp>
      <p:sp>
        <p:nvSpPr>
          <p:cNvPr id="8" name="chal-1"/>
          <p:cNvSpPr/>
          <p:nvPr/>
        </p:nvSpPr>
        <p:spPr>
          <a:xfrm>
            <a:off x="4297680" y="1325880"/>
            <a:ext cx="3566160" cy="2240280"/>
          </a:xfrm>
          <a:prstGeom prst="roundRect">
            <a:avLst>
              <a:gd name="adj" fmla="val 3265"/>
            </a:avLst>
          </a:prstGeom>
          <a:solidFill>
            <a:schemeClr val="bg1"/>
          </a:solidFill>
          <a:ln w="9525">
            <a:solidFill>
              <a:srgbClr val="D9D9D9"/>
            </a:solidFill>
            <a:prstDash val="solid"/>
          </a:ln>
          <a:effectLst>
            <a:outerShdw sx="100000" sy="100000" kx="0" ky="0" algn="bl" rotWithShape="0" blurRad="76200" dist="19050" dir="5400000">
              <a:srgbClr val="000000">
                <a:alpha val="12000"/>
              </a:srgbClr>
            </a:outerShdw>
          </a:effectLst>
        </p:spPr>
      </p:sp>
      <p:sp>
        <p:nvSpPr>
          <p:cNvPr id="9" name="icon-bg-FaMemory"/>
          <p:cNvSpPr/>
          <p:nvPr/>
        </p:nvSpPr>
        <p:spPr>
          <a:xfrm>
            <a:off x="4526280" y="1554480"/>
            <a:ext cx="566928" cy="566928"/>
          </a:xfrm>
          <a:prstGeom prst="ellipse">
            <a:avLst/>
          </a:prstGeom>
          <a:solidFill>
            <a:schemeClr val="accent2"/>
          </a:solidFill>
          <a:ln/>
        </p:spPr>
      </p:sp>
      <p:pic>
        <p:nvPicPr>
          <p:cNvPr id="10" name="icon-FaMemory" descr="Memory icon">    </p:cNvPr>
          <p:cNvPicPr>
            <a:picLocks noChangeAspect="1"/>
          </p:cNvPicPr>
          <p:nvPr/>
        </p:nvPicPr>
        <p:blipFill>
          <a:blip r:embed="rId2"/>
          <a:stretch>
            <a:fillRect/>
          </a:stretch>
        </p:blipFill>
        <p:spPr>
          <a:xfrm>
            <a:off x="4662343" y="1690543"/>
            <a:ext cx="294803" cy="294803"/>
          </a:xfrm>
          <a:prstGeom prst="rect">
            <a:avLst/>
          </a:prstGeom>
        </p:spPr>
      </p:pic>
      <p:sp>
        <p:nvSpPr>
          <p:cNvPr id="11" name="Text 7"/>
          <p:cNvSpPr txBox="1"/>
          <p:nvPr/>
        </p:nvSpPr>
        <p:spPr>
          <a:xfrm>
            <a:off x="5212080" y="1600200"/>
            <a:ext cx="2514600" cy="50292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GPU memory limits</a:t>
            </a:r>
            <a:endParaRPr lang="en-US" sz="1600" dirty="0"/>
          </a:p>
        </p:txBody>
      </p:sp>
      <p:sp>
        <p:nvSpPr>
          <p:cNvPr id="12" name="Text 8"/>
          <p:cNvSpPr txBox="1"/>
          <p:nvPr/>
        </p:nvSpPr>
        <p:spPr>
          <a:xfrm>
            <a:off x="4526280" y="2286000"/>
            <a:ext cx="3154680" cy="11887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8 GB VRAM: a 512³ complex FFT already needs 1 GB. Fix: tiling, streaming, multi-GPU</a:t>
            </a:r>
            <a:endParaRPr lang="en-US" sz="1300" dirty="0"/>
          </a:p>
        </p:txBody>
      </p:sp>
      <p:sp>
        <p:nvSpPr>
          <p:cNvPr id="13" name="chal-2"/>
          <p:cNvSpPr/>
          <p:nvPr/>
        </p:nvSpPr>
        <p:spPr>
          <a:xfrm>
            <a:off x="8046720" y="1325880"/>
            <a:ext cx="3566160" cy="2240280"/>
          </a:xfrm>
          <a:prstGeom prst="roundRect">
            <a:avLst>
              <a:gd name="adj" fmla="val 3265"/>
            </a:avLst>
          </a:prstGeom>
          <a:solidFill>
            <a:schemeClr val="bg1"/>
          </a:solidFill>
          <a:ln w="9525">
            <a:solidFill>
              <a:srgbClr val="D9D9D9"/>
            </a:solidFill>
            <a:prstDash val="solid"/>
          </a:ln>
          <a:effectLst>
            <a:outerShdw sx="100000" sy="100000" kx="0" ky="0" algn="bl" rotWithShape="0" blurRad="76200" dist="19050" dir="5400000">
              <a:srgbClr val="000000">
                <a:alpha val="12000"/>
              </a:srgbClr>
            </a:outerShdw>
          </a:effectLst>
        </p:spPr>
      </p:sp>
      <p:sp>
        <p:nvSpPr>
          <p:cNvPr id="14" name="icon-bg-FaBalanceScale"/>
          <p:cNvSpPr/>
          <p:nvPr/>
        </p:nvSpPr>
        <p:spPr>
          <a:xfrm>
            <a:off x="8275320" y="1554480"/>
            <a:ext cx="566928" cy="566928"/>
          </a:xfrm>
          <a:prstGeom prst="ellipse">
            <a:avLst/>
          </a:prstGeom>
          <a:solidFill>
            <a:schemeClr val="accent1"/>
          </a:solidFill>
          <a:ln/>
        </p:spPr>
      </p:sp>
      <p:pic>
        <p:nvPicPr>
          <p:cNvPr id="15" name="icon-FaBalanceScale" descr="BalanceScale icon">    </p:cNvPr>
          <p:cNvPicPr>
            <a:picLocks noChangeAspect="1"/>
          </p:cNvPicPr>
          <p:nvPr/>
        </p:nvPicPr>
        <p:blipFill>
          <a:blip r:embed="rId3"/>
          <a:stretch>
            <a:fillRect/>
          </a:stretch>
        </p:blipFill>
        <p:spPr>
          <a:xfrm>
            <a:off x="8411383" y="1690543"/>
            <a:ext cx="294803" cy="294803"/>
          </a:xfrm>
          <a:prstGeom prst="rect">
            <a:avLst/>
          </a:prstGeom>
        </p:spPr>
      </p:pic>
      <p:sp>
        <p:nvSpPr>
          <p:cNvPr id="16" name="Text 11"/>
          <p:cNvSpPr txBox="1"/>
          <p:nvPr/>
        </p:nvSpPr>
        <p:spPr>
          <a:xfrm>
            <a:off x="8961120" y="1600200"/>
            <a:ext cx="2514600" cy="50292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Precision and validation</a:t>
            </a:r>
            <a:endParaRPr lang="en-US" sz="1600" dirty="0"/>
          </a:p>
        </p:txBody>
      </p:sp>
      <p:sp>
        <p:nvSpPr>
          <p:cNvPr id="17" name="Text 12"/>
          <p:cNvSpPr txBox="1"/>
          <p:nvPr/>
        </p:nvSpPr>
        <p:spPr>
          <a:xfrm>
            <a:off x="8275320" y="2286000"/>
            <a:ext cx="3154680" cy="11887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FP16 needs careful checking; clinical use needs bit-level reproducibility and validation</a:t>
            </a:r>
            <a:endParaRPr lang="en-US" sz="1300" dirty="0"/>
          </a:p>
        </p:txBody>
      </p:sp>
      <p:sp>
        <p:nvSpPr>
          <p:cNvPr id="18" name="chal-3"/>
          <p:cNvSpPr/>
          <p:nvPr/>
        </p:nvSpPr>
        <p:spPr>
          <a:xfrm>
            <a:off x="548640" y="3749040"/>
            <a:ext cx="3566160" cy="2240280"/>
          </a:xfrm>
          <a:prstGeom prst="roundRect">
            <a:avLst>
              <a:gd name="adj" fmla="val 3265"/>
            </a:avLst>
          </a:prstGeom>
          <a:solidFill>
            <a:schemeClr val="bg1"/>
          </a:solidFill>
          <a:ln w="9525">
            <a:solidFill>
              <a:srgbClr val="D9D9D9"/>
            </a:solidFill>
            <a:prstDash val="solid"/>
          </a:ln>
          <a:effectLst>
            <a:outerShdw sx="100000" sy="100000" kx="0" ky="0" algn="bl" rotWithShape="0" blurRad="76200" dist="19050" dir="5400000">
              <a:srgbClr val="000000">
                <a:alpha val="12000"/>
              </a:srgbClr>
            </a:outerShdw>
          </a:effectLst>
        </p:spPr>
      </p:sp>
      <p:sp>
        <p:nvSpPr>
          <p:cNvPr id="19" name="icon-bg-FaLock"/>
          <p:cNvSpPr/>
          <p:nvPr/>
        </p:nvSpPr>
        <p:spPr>
          <a:xfrm>
            <a:off x="777240" y="3977640"/>
            <a:ext cx="566928" cy="566928"/>
          </a:xfrm>
          <a:prstGeom prst="ellipse">
            <a:avLst/>
          </a:prstGeom>
          <a:solidFill>
            <a:schemeClr val="accent1"/>
          </a:solidFill>
          <a:ln/>
        </p:spPr>
      </p:sp>
      <p:pic>
        <p:nvPicPr>
          <p:cNvPr id="20" name="icon-FaLock" descr="Lock icon">    </p:cNvPr>
          <p:cNvPicPr>
            <a:picLocks noChangeAspect="1"/>
          </p:cNvPicPr>
          <p:nvPr/>
        </p:nvPicPr>
        <p:blipFill>
          <a:blip r:embed="rId4"/>
          <a:stretch>
            <a:fillRect/>
          </a:stretch>
        </p:blipFill>
        <p:spPr>
          <a:xfrm>
            <a:off x="913303" y="4113703"/>
            <a:ext cx="294803" cy="294803"/>
          </a:xfrm>
          <a:prstGeom prst="rect">
            <a:avLst/>
          </a:prstGeom>
        </p:spPr>
      </p:pic>
      <p:sp>
        <p:nvSpPr>
          <p:cNvPr id="21" name="Text 15"/>
          <p:cNvSpPr txBox="1"/>
          <p:nvPr/>
        </p:nvSpPr>
        <p:spPr>
          <a:xfrm>
            <a:off x="1463040" y="4023360"/>
            <a:ext cx="2514600" cy="50292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Privacy and regulation</a:t>
            </a:r>
            <a:endParaRPr lang="en-US" sz="1600" dirty="0"/>
          </a:p>
        </p:txBody>
      </p:sp>
      <p:sp>
        <p:nvSpPr>
          <p:cNvPr id="22" name="Text 16"/>
          <p:cNvSpPr txBox="1"/>
          <p:nvPr/>
        </p:nvSpPr>
        <p:spPr>
          <a:xfrm>
            <a:off x="777240" y="4709160"/>
            <a:ext cx="3154680" cy="11887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Patient data rules (HIPAA/GDPR), FDA/CE approval. Fix: federated learning, on-premise GPUs</a:t>
            </a:r>
            <a:endParaRPr lang="en-US" sz="1300" dirty="0"/>
          </a:p>
        </p:txBody>
      </p:sp>
      <p:sp>
        <p:nvSpPr>
          <p:cNvPr id="23" name="chal-4"/>
          <p:cNvSpPr/>
          <p:nvPr/>
        </p:nvSpPr>
        <p:spPr>
          <a:xfrm>
            <a:off x="4297680" y="3749040"/>
            <a:ext cx="3566160" cy="2240280"/>
          </a:xfrm>
          <a:prstGeom prst="roundRect">
            <a:avLst>
              <a:gd name="adj" fmla="val 3265"/>
            </a:avLst>
          </a:prstGeom>
          <a:solidFill>
            <a:schemeClr val="bg1"/>
          </a:solidFill>
          <a:ln w="9525">
            <a:solidFill>
              <a:srgbClr val="D9D9D9"/>
            </a:solidFill>
            <a:prstDash val="solid"/>
          </a:ln>
          <a:effectLst>
            <a:outerShdw sx="100000" sy="100000" kx="0" ky="0" algn="bl" rotWithShape="0" blurRad="76200" dist="19050" dir="5400000">
              <a:srgbClr val="000000">
                <a:alpha val="12000"/>
              </a:srgbClr>
            </a:outerShdw>
          </a:effectLst>
        </p:spPr>
      </p:sp>
      <p:sp>
        <p:nvSpPr>
          <p:cNvPr id="24" name="icon-bg-FaNetworkWired"/>
          <p:cNvSpPr/>
          <p:nvPr/>
        </p:nvSpPr>
        <p:spPr>
          <a:xfrm>
            <a:off x="4526280" y="3977640"/>
            <a:ext cx="566928" cy="566928"/>
          </a:xfrm>
          <a:prstGeom prst="ellipse">
            <a:avLst/>
          </a:prstGeom>
          <a:solidFill>
            <a:schemeClr val="accent1"/>
          </a:solidFill>
          <a:ln/>
        </p:spPr>
      </p:sp>
      <p:pic>
        <p:nvPicPr>
          <p:cNvPr id="25" name="icon-FaNetworkWired" descr="NetworkWired icon">    </p:cNvPr>
          <p:cNvPicPr>
            <a:picLocks noChangeAspect="1"/>
          </p:cNvPicPr>
          <p:nvPr/>
        </p:nvPicPr>
        <p:blipFill>
          <a:blip r:embed="rId5"/>
          <a:stretch>
            <a:fillRect/>
          </a:stretch>
        </p:blipFill>
        <p:spPr>
          <a:xfrm>
            <a:off x="4662343" y="4113703"/>
            <a:ext cx="294803" cy="294803"/>
          </a:xfrm>
          <a:prstGeom prst="rect">
            <a:avLst/>
          </a:prstGeom>
        </p:spPr>
      </p:pic>
      <p:sp>
        <p:nvSpPr>
          <p:cNvPr id="26" name="Text 19"/>
          <p:cNvSpPr txBox="1"/>
          <p:nvPr/>
        </p:nvSpPr>
        <p:spPr>
          <a:xfrm>
            <a:off x="5212080" y="4023360"/>
            <a:ext cx="2514600" cy="50292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Scaling out</a:t>
            </a:r>
            <a:endParaRPr lang="en-US" sz="1600" dirty="0"/>
          </a:p>
        </p:txBody>
      </p:sp>
      <p:sp>
        <p:nvSpPr>
          <p:cNvPr id="27" name="Text 20"/>
          <p:cNvSpPr txBox="1"/>
          <p:nvPr/>
        </p:nvSpPr>
        <p:spPr>
          <a:xfrm>
            <a:off x="4526280" y="4709160"/>
            <a:ext cx="3154680" cy="11887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Multi-GPU (NVLink), GPU clusters and cloud for population-scale studies</a:t>
            </a:r>
            <a:endParaRPr lang="en-US" sz="1300" dirty="0"/>
          </a:p>
        </p:txBody>
      </p:sp>
      <p:sp>
        <p:nvSpPr>
          <p:cNvPr id="28" name="chal-5"/>
          <p:cNvSpPr/>
          <p:nvPr/>
        </p:nvSpPr>
        <p:spPr>
          <a:xfrm>
            <a:off x="8046720" y="3749040"/>
            <a:ext cx="3566160" cy="2240280"/>
          </a:xfrm>
          <a:prstGeom prst="roundRect">
            <a:avLst>
              <a:gd name="adj" fmla="val 3265"/>
            </a:avLst>
          </a:prstGeom>
          <a:solidFill>
            <a:schemeClr val="bg2"/>
          </a:solidFill>
          <a:ln w="9525">
            <a:solidFill>
              <a:srgbClr val="D9D9D9"/>
            </a:solidFill>
            <a:prstDash val="solid"/>
          </a:ln>
          <a:effectLst>
            <a:outerShdw sx="100000" sy="100000" kx="0" ky="0" algn="bl" rotWithShape="0" blurRad="76200" dist="19050" dir="5400000">
              <a:srgbClr val="000000">
                <a:alpha val="12000"/>
              </a:srgbClr>
            </a:outerShdw>
          </a:effectLst>
        </p:spPr>
      </p:sp>
      <p:sp>
        <p:nvSpPr>
          <p:cNvPr id="29" name="icon-bg-FaHospital"/>
          <p:cNvSpPr/>
          <p:nvPr/>
        </p:nvSpPr>
        <p:spPr>
          <a:xfrm>
            <a:off x="8275320" y="3977640"/>
            <a:ext cx="566928" cy="566928"/>
          </a:xfrm>
          <a:prstGeom prst="ellipse">
            <a:avLst/>
          </a:prstGeom>
          <a:solidFill>
            <a:schemeClr val="accent6"/>
          </a:solidFill>
          <a:ln/>
        </p:spPr>
      </p:sp>
      <p:pic>
        <p:nvPicPr>
          <p:cNvPr id="30" name="icon-FaHospital" descr="Hospital icon">    </p:cNvPr>
          <p:cNvPicPr>
            <a:picLocks noChangeAspect="1"/>
          </p:cNvPicPr>
          <p:nvPr/>
        </p:nvPicPr>
        <p:blipFill>
          <a:blip r:embed="rId6"/>
          <a:stretch>
            <a:fillRect/>
          </a:stretch>
        </p:blipFill>
        <p:spPr>
          <a:xfrm>
            <a:off x="8411383" y="4113703"/>
            <a:ext cx="294803" cy="294803"/>
          </a:xfrm>
          <a:prstGeom prst="rect">
            <a:avLst/>
          </a:prstGeom>
        </p:spPr>
      </p:pic>
      <p:sp>
        <p:nvSpPr>
          <p:cNvPr id="31" name="Text 23"/>
          <p:cNvSpPr txBox="1"/>
          <p:nvPr/>
        </p:nvSpPr>
        <p:spPr>
          <a:xfrm>
            <a:off x="8961120" y="4023360"/>
            <a:ext cx="2514600" cy="50292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Already in industry</a:t>
            </a:r>
            <a:endParaRPr lang="en-US" sz="1600" dirty="0"/>
          </a:p>
        </p:txBody>
      </p:sp>
      <p:sp>
        <p:nvSpPr>
          <p:cNvPr id="32" name="Text 24"/>
          <p:cNvSpPr txBox="1"/>
          <p:nvPr/>
        </p:nvSpPr>
        <p:spPr>
          <a:xfrm>
            <a:off x="8275320" y="4709160"/>
            <a:ext cx="3154680" cy="11887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GPU deep-learning recon in GE, Siemens and Canon scanners; NVIDIA Clara and MONAI in hospitals</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bg1"/>
                </a:solidFill>
                <a:latin typeface="Cambria" pitchFamily="34" charset="0"/>
                <a:ea typeface="Cambria" pitchFamily="34" charset="-122"/>
                <a:cs typeface="Cambria" pitchFamily="34" charset="-120"/>
              </a:rPr>
              <a:t>Conclusion</a:t>
            </a:r>
            <a:endParaRPr lang="en-US" sz="3400" dirty="0"/>
          </a:p>
        </p:txBody>
      </p:sp>
      <p:sp>
        <p:nvSpPr>
          <p:cNvPr id="3" name="icon-bg-FaRocket"/>
          <p:cNvSpPr/>
          <p:nvPr/>
        </p:nvSpPr>
        <p:spPr>
          <a:xfrm>
            <a:off x="548640" y="1371600"/>
            <a:ext cx="640080" cy="640080"/>
          </a:xfrm>
          <a:prstGeom prst="ellipse">
            <a:avLst/>
          </a:prstGeom>
          <a:solidFill>
            <a:srgbClr val="404040"/>
          </a:solidFill>
          <a:ln/>
        </p:spPr>
      </p:sp>
      <p:pic>
        <p:nvPicPr>
          <p:cNvPr id="4" name="icon-FaRocket" descr="Rocket icon">    </p:cNvPr>
          <p:cNvPicPr>
            <a:picLocks noChangeAspect="1"/>
          </p:cNvPicPr>
          <p:nvPr/>
        </p:nvPicPr>
        <p:blipFill>
          <a:blip r:embed="rId1"/>
          <a:stretch>
            <a:fillRect/>
          </a:stretch>
        </p:blipFill>
        <p:spPr>
          <a:xfrm>
            <a:off x="702259" y="1525219"/>
            <a:ext cx="332842" cy="332842"/>
          </a:xfrm>
          <a:prstGeom prst="rect">
            <a:avLst/>
          </a:prstGeom>
        </p:spPr>
      </p:pic>
      <p:sp>
        <p:nvSpPr>
          <p:cNvPr id="5" name="Text 2"/>
          <p:cNvSpPr txBox="1"/>
          <p:nvPr/>
        </p:nvSpPr>
        <p:spPr>
          <a:xfrm>
            <a:off x="1371600" y="1325880"/>
            <a:ext cx="4754880" cy="384048"/>
          </a:xfrm>
          <a:prstGeom prst="rect">
            <a:avLst/>
          </a:prstGeom>
          <a:noFill/>
          <a:ln/>
        </p:spPr>
        <p:txBody>
          <a:bodyPr wrap="square" lIns="0" tIns="0" rIns="0" bIns="0" rtlCol="0" anchor="t"/>
          <a:lstStyle/>
          <a:p>
            <a:pPr indent="0" marL="0">
              <a:buNone/>
            </a:pPr>
            <a:r>
              <a:rPr lang="en-US" sz="1800" b="1" dirty="0">
                <a:solidFill>
                  <a:schemeClr val="bg1"/>
                </a:solidFill>
                <a:latin typeface="Calibri" pitchFamily="34" charset="0"/>
                <a:ea typeface="Calibri" pitchFamily="34" charset="-122"/>
                <a:cs typeface="Calibri" pitchFamily="34" charset="-120"/>
              </a:rPr>
              <a:t>44× faster end to end</a:t>
            </a:r>
            <a:endParaRPr lang="en-US" sz="1800" dirty="0"/>
          </a:p>
        </p:txBody>
      </p:sp>
      <p:sp>
        <p:nvSpPr>
          <p:cNvPr id="6" name="Text 3"/>
          <p:cNvSpPr txBox="1"/>
          <p:nvPr/>
        </p:nvSpPr>
        <p:spPr>
          <a:xfrm>
            <a:off x="1371600" y="1737360"/>
            <a:ext cx="4754880" cy="594360"/>
          </a:xfrm>
          <a:prstGeom prst="rect">
            <a:avLst/>
          </a:prstGeom>
          <a:noFill/>
          <a:ln/>
        </p:spPr>
        <p:txBody>
          <a:bodyPr wrap="square" lIns="0" tIns="0" rIns="0" bIns="0" rtlCol="0" anchor="t"/>
          <a:lstStyle/>
          <a:p>
            <a:pPr indent="0" marL="0">
              <a:buNone/>
            </a:pPr>
            <a:r>
              <a:rPr lang="en-US" sz="1400" dirty="0">
                <a:solidFill>
                  <a:srgbClr val="D9D9D9"/>
                </a:solidFill>
                <a:latin typeface="Calibri" pitchFamily="34" charset="0"/>
                <a:ea typeface="Calibri" pitchFamily="34" charset="-122"/>
                <a:cs typeface="Calibri" pitchFamily="34" charset="-120"/>
              </a:rPr>
              <a:t>CT recon 265×, denoising 78×, U-Net 46×</a:t>
            </a:r>
            <a:endParaRPr lang="en-US" sz="1400" dirty="0"/>
          </a:p>
        </p:txBody>
      </p:sp>
      <p:sp>
        <p:nvSpPr>
          <p:cNvPr id="7" name="icon-bg-FaCheckCircle"/>
          <p:cNvSpPr/>
          <p:nvPr/>
        </p:nvSpPr>
        <p:spPr>
          <a:xfrm>
            <a:off x="548640" y="2560320"/>
            <a:ext cx="640080" cy="640080"/>
          </a:xfrm>
          <a:prstGeom prst="ellipse">
            <a:avLst/>
          </a:prstGeom>
          <a:solidFill>
            <a:srgbClr val="404040"/>
          </a:solidFill>
          <a:ln/>
        </p:spPr>
      </p:sp>
      <p:pic>
        <p:nvPicPr>
          <p:cNvPr id="8" name="icon-FaCheckCircle" descr="CheckCircle icon">    </p:cNvPr>
          <p:cNvPicPr>
            <a:picLocks noChangeAspect="1"/>
          </p:cNvPicPr>
          <p:nvPr/>
        </p:nvPicPr>
        <p:blipFill>
          <a:blip r:embed="rId2"/>
          <a:stretch>
            <a:fillRect/>
          </a:stretch>
        </p:blipFill>
        <p:spPr>
          <a:xfrm>
            <a:off x="702259" y="2713939"/>
            <a:ext cx="332842" cy="332842"/>
          </a:xfrm>
          <a:prstGeom prst="rect">
            <a:avLst/>
          </a:prstGeom>
        </p:spPr>
      </p:pic>
      <p:sp>
        <p:nvSpPr>
          <p:cNvPr id="9" name="Text 5"/>
          <p:cNvSpPr txBox="1"/>
          <p:nvPr/>
        </p:nvSpPr>
        <p:spPr>
          <a:xfrm>
            <a:off x="1371600" y="2514600"/>
            <a:ext cx="4754880" cy="384048"/>
          </a:xfrm>
          <a:prstGeom prst="rect">
            <a:avLst/>
          </a:prstGeom>
          <a:noFill/>
          <a:ln/>
        </p:spPr>
        <p:txBody>
          <a:bodyPr wrap="square" lIns="0" tIns="0" rIns="0" bIns="0" rtlCol="0" anchor="t"/>
          <a:lstStyle/>
          <a:p>
            <a:pPr indent="0" marL="0">
              <a:buNone/>
            </a:pPr>
            <a:r>
              <a:rPr lang="en-US" sz="1800" b="1" dirty="0">
                <a:solidFill>
                  <a:schemeClr val="bg1"/>
                </a:solidFill>
                <a:latin typeface="Calibri" pitchFamily="34" charset="0"/>
                <a:ea typeface="Calibri" pitchFamily="34" charset="-122"/>
                <a:cs typeface="Calibri" pitchFamily="34" charset="-120"/>
              </a:rPr>
              <a:t>Same answers</a:t>
            </a:r>
            <a:endParaRPr lang="en-US" sz="1800" dirty="0"/>
          </a:p>
        </p:txBody>
      </p:sp>
      <p:sp>
        <p:nvSpPr>
          <p:cNvPr id="10" name="Text 6"/>
          <p:cNvSpPr txBox="1"/>
          <p:nvPr/>
        </p:nvSpPr>
        <p:spPr>
          <a:xfrm>
            <a:off x="1371600" y="2926080"/>
            <a:ext cx="4754880" cy="594360"/>
          </a:xfrm>
          <a:prstGeom prst="rect">
            <a:avLst/>
          </a:prstGeom>
          <a:noFill/>
          <a:ln/>
        </p:spPr>
        <p:txBody>
          <a:bodyPr wrap="square" lIns="0" tIns="0" rIns="0" bIns="0" rtlCol="0" anchor="t"/>
          <a:lstStyle/>
          <a:p>
            <a:pPr indent="0" marL="0">
              <a:buNone/>
            </a:pPr>
            <a:r>
              <a:rPr lang="en-US" sz="1400" dirty="0">
                <a:solidFill>
                  <a:srgbClr val="D9D9D9"/>
                </a:solidFill>
                <a:latin typeface="Calibri" pitchFamily="34" charset="0"/>
                <a:ea typeface="Calibri" pitchFamily="34" charset="-122"/>
                <a:cs typeface="Calibri" pitchFamily="34" charset="-120"/>
              </a:rPr>
              <a:t>GPU and CPU agree to floating-point rounding</a:t>
            </a:r>
            <a:endParaRPr lang="en-US" sz="1400" dirty="0"/>
          </a:p>
        </p:txBody>
      </p:sp>
      <p:sp>
        <p:nvSpPr>
          <p:cNvPr id="11" name="icon-bg-FaMemory"/>
          <p:cNvSpPr/>
          <p:nvPr/>
        </p:nvSpPr>
        <p:spPr>
          <a:xfrm>
            <a:off x="548640" y="3749040"/>
            <a:ext cx="640080" cy="640080"/>
          </a:xfrm>
          <a:prstGeom prst="ellipse">
            <a:avLst/>
          </a:prstGeom>
          <a:solidFill>
            <a:srgbClr val="404040"/>
          </a:solidFill>
          <a:ln/>
        </p:spPr>
      </p:sp>
      <p:pic>
        <p:nvPicPr>
          <p:cNvPr id="12" name="icon-FaMemory" descr="Memory icon">    </p:cNvPr>
          <p:cNvPicPr>
            <a:picLocks noChangeAspect="1"/>
          </p:cNvPicPr>
          <p:nvPr/>
        </p:nvPicPr>
        <p:blipFill>
          <a:blip r:embed="rId3"/>
          <a:stretch>
            <a:fillRect/>
          </a:stretch>
        </p:blipFill>
        <p:spPr>
          <a:xfrm>
            <a:off x="702259" y="3902659"/>
            <a:ext cx="332842" cy="332842"/>
          </a:xfrm>
          <a:prstGeom prst="rect">
            <a:avLst/>
          </a:prstGeom>
        </p:spPr>
      </p:pic>
      <p:sp>
        <p:nvSpPr>
          <p:cNvPr id="13" name="Text 8"/>
          <p:cNvSpPr txBox="1"/>
          <p:nvPr/>
        </p:nvSpPr>
        <p:spPr>
          <a:xfrm>
            <a:off x="1371600" y="3703320"/>
            <a:ext cx="4754880" cy="384048"/>
          </a:xfrm>
          <a:prstGeom prst="rect">
            <a:avLst/>
          </a:prstGeom>
          <a:noFill/>
          <a:ln/>
        </p:spPr>
        <p:txBody>
          <a:bodyPr wrap="square" lIns="0" tIns="0" rIns="0" bIns="0" rtlCol="0" anchor="t"/>
          <a:lstStyle/>
          <a:p>
            <a:pPr indent="0" marL="0">
              <a:buNone/>
            </a:pPr>
            <a:r>
              <a:rPr lang="en-US" sz="1800" b="1" dirty="0">
                <a:solidFill>
                  <a:schemeClr val="bg1"/>
                </a:solidFill>
                <a:latin typeface="Calibri" pitchFamily="34" charset="0"/>
                <a:ea typeface="Calibri" pitchFamily="34" charset="-122"/>
                <a:cs typeface="Calibri" pitchFamily="34" charset="-120"/>
              </a:rPr>
              <a:t>Memory is the key</a:t>
            </a:r>
            <a:endParaRPr lang="en-US" sz="1800" dirty="0"/>
          </a:p>
        </p:txBody>
      </p:sp>
      <p:sp>
        <p:nvSpPr>
          <p:cNvPr id="14" name="Text 9"/>
          <p:cNvSpPr txBox="1"/>
          <p:nvPr/>
        </p:nvSpPr>
        <p:spPr>
          <a:xfrm>
            <a:off x="1371600" y="4114800"/>
            <a:ext cx="4754880" cy="594360"/>
          </a:xfrm>
          <a:prstGeom prst="rect">
            <a:avLst/>
          </a:prstGeom>
          <a:noFill/>
          <a:ln/>
        </p:spPr>
        <p:txBody>
          <a:bodyPr wrap="square" lIns="0" tIns="0" rIns="0" bIns="0" rtlCol="0" anchor="t"/>
          <a:lstStyle/>
          <a:p>
            <a:pPr indent="0" marL="0">
              <a:buNone/>
            </a:pPr>
            <a:r>
              <a:rPr lang="en-US" sz="1400" dirty="0">
                <a:solidFill>
                  <a:srgbClr val="D9D9D9"/>
                </a:solidFill>
                <a:latin typeface="Calibri" pitchFamily="34" charset="0"/>
                <a:ea typeface="Calibri" pitchFamily="34" charset="-122"/>
                <a:cs typeface="Calibri" pitchFamily="34" charset="-120"/>
              </a:rPr>
              <a:t>Shared-memory tiling 1.75×; PCIe transfers dominate simple stages</a:t>
            </a:r>
            <a:endParaRPr lang="en-US" sz="1400" dirty="0"/>
          </a:p>
        </p:txBody>
      </p:sp>
      <p:sp>
        <p:nvSpPr>
          <p:cNvPr id="15" name="icon-bg-FaHeartbeat"/>
          <p:cNvSpPr/>
          <p:nvPr/>
        </p:nvSpPr>
        <p:spPr>
          <a:xfrm>
            <a:off x="548640" y="4937760"/>
            <a:ext cx="640080" cy="640080"/>
          </a:xfrm>
          <a:prstGeom prst="ellipse">
            <a:avLst/>
          </a:prstGeom>
          <a:solidFill>
            <a:srgbClr val="404040"/>
          </a:solidFill>
          <a:ln/>
        </p:spPr>
      </p:sp>
      <p:pic>
        <p:nvPicPr>
          <p:cNvPr id="16" name="icon-FaHeartbeat" descr="Heartbeat icon">    </p:cNvPr>
          <p:cNvPicPr>
            <a:picLocks noChangeAspect="1"/>
          </p:cNvPicPr>
          <p:nvPr/>
        </p:nvPicPr>
        <p:blipFill>
          <a:blip r:embed="rId4"/>
          <a:stretch>
            <a:fillRect/>
          </a:stretch>
        </p:blipFill>
        <p:spPr>
          <a:xfrm>
            <a:off x="702259" y="5091379"/>
            <a:ext cx="332842" cy="332842"/>
          </a:xfrm>
          <a:prstGeom prst="rect">
            <a:avLst/>
          </a:prstGeom>
        </p:spPr>
      </p:pic>
      <p:sp>
        <p:nvSpPr>
          <p:cNvPr id="17" name="Text 11"/>
          <p:cNvSpPr txBox="1"/>
          <p:nvPr/>
        </p:nvSpPr>
        <p:spPr>
          <a:xfrm>
            <a:off x="1371600" y="4892040"/>
            <a:ext cx="4754880" cy="384048"/>
          </a:xfrm>
          <a:prstGeom prst="rect">
            <a:avLst/>
          </a:prstGeom>
          <a:noFill/>
          <a:ln/>
        </p:spPr>
        <p:txBody>
          <a:bodyPr wrap="square" lIns="0" tIns="0" rIns="0" bIns="0" rtlCol="0" anchor="t"/>
          <a:lstStyle/>
          <a:p>
            <a:pPr indent="0" marL="0">
              <a:buNone/>
            </a:pPr>
            <a:r>
              <a:rPr lang="en-US" sz="1800" b="1" dirty="0">
                <a:solidFill>
                  <a:schemeClr val="bg1"/>
                </a:solidFill>
                <a:latin typeface="Calibri" pitchFamily="34" charset="0"/>
                <a:ea typeface="Calibri" pitchFamily="34" charset="-122"/>
                <a:cs typeface="Calibri" pitchFamily="34" charset="-120"/>
              </a:rPr>
              <a:t>Clinical impact</a:t>
            </a:r>
            <a:endParaRPr lang="en-US" sz="1800" dirty="0"/>
          </a:p>
        </p:txBody>
      </p:sp>
      <p:sp>
        <p:nvSpPr>
          <p:cNvPr id="18" name="Text 12"/>
          <p:cNvSpPr txBox="1"/>
          <p:nvPr/>
        </p:nvSpPr>
        <p:spPr>
          <a:xfrm>
            <a:off x="1371600" y="5303520"/>
            <a:ext cx="4754880" cy="594360"/>
          </a:xfrm>
          <a:prstGeom prst="rect">
            <a:avLst/>
          </a:prstGeom>
          <a:noFill/>
          <a:ln/>
        </p:spPr>
        <p:txBody>
          <a:bodyPr wrap="square" lIns="0" tIns="0" rIns="0" bIns="0" rtlCol="0" anchor="t"/>
          <a:lstStyle/>
          <a:p>
            <a:pPr indent="0" marL="0">
              <a:buNone/>
            </a:pPr>
            <a:r>
              <a:rPr lang="en-US" sz="1400" dirty="0">
                <a:solidFill>
                  <a:srgbClr val="D9D9D9"/>
                </a:solidFill>
                <a:latin typeface="Calibri" pitchFamily="34" charset="0"/>
                <a:ea typeface="Calibri" pitchFamily="34" charset="-122"/>
                <a:cs typeface="Calibri" pitchFamily="34" charset="-120"/>
              </a:rPr>
              <a:t>Faster scans, real-time 3D views, AI results while the patient is still in the scanner</a:t>
            </a:r>
            <a:endParaRPr lang="en-US" sz="1400" dirty="0"/>
          </a:p>
        </p:txBody>
      </p:sp>
      <p:sp>
        <p:nvSpPr>
          <p:cNvPr id="19" name="Text 13"/>
          <p:cNvSpPr txBox="1"/>
          <p:nvPr/>
        </p:nvSpPr>
        <p:spPr>
          <a:xfrm>
            <a:off x="6675120" y="1325880"/>
            <a:ext cx="4937760" cy="365760"/>
          </a:xfrm>
          <a:prstGeom prst="rect">
            <a:avLst/>
          </a:prstGeom>
          <a:noFill/>
          <a:ln/>
        </p:spPr>
        <p:txBody>
          <a:bodyPr wrap="square" lIns="0" tIns="0" rIns="0" bIns="0" rtlCol="0" anchor="t"/>
          <a:lstStyle/>
          <a:p>
            <a:pPr indent="0" marL="0">
              <a:buNone/>
            </a:pPr>
            <a:r>
              <a:rPr lang="en-US" sz="1600" b="1" dirty="0">
                <a:solidFill>
                  <a:srgbClr val="BFBFBF"/>
                </a:solidFill>
                <a:latin typeface="Calibri" pitchFamily="34" charset="0"/>
                <a:ea typeface="Calibri" pitchFamily="34" charset="-122"/>
                <a:cs typeface="Calibri" pitchFamily="34" charset="-120"/>
              </a:rPr>
              <a:t>References</a:t>
            </a:r>
            <a:endParaRPr lang="en-US" sz="1600" dirty="0"/>
          </a:p>
        </p:txBody>
      </p:sp>
      <p:sp>
        <p:nvSpPr>
          <p:cNvPr id="20" name="Text 14"/>
          <p:cNvSpPr txBox="1"/>
          <p:nvPr/>
        </p:nvSpPr>
        <p:spPr>
          <a:xfrm>
            <a:off x="6675120" y="1737360"/>
            <a:ext cx="4937760" cy="4434840"/>
          </a:xfrm>
          <a:prstGeom prst="rect">
            <a:avLst/>
          </a:prstGeom>
          <a:noFill/>
          <a:ln/>
        </p:spPr>
        <p:txBody>
          <a:bodyPr wrap="square" lIns="0" tIns="0" rIns="0" bIns="0" rtlCol="0" anchor="t"/>
          <a:lstStyle/>
          <a:p>
            <a:pPr marL="342900" indent="-342900">
              <a:spcAft>
                <a:spcPts val="400"/>
              </a:spcAft>
              <a:buSzPct val="100000"/>
              <a:buFont typeface="+mj-lt"/>
              <a:buAutoNum type="arabicPeriod" startAt="1"/>
            </a:pPr>
            <a:r>
              <a:rPr lang="en-US" sz="1100" dirty="0">
                <a:solidFill>
                  <a:srgbClr val="D9D9D9"/>
                </a:solidFill>
                <a:latin typeface="Calibri" pitchFamily="34" charset="0"/>
                <a:ea typeface="Calibri" pitchFamily="34" charset="-122"/>
                <a:cs typeface="Calibri" pitchFamily="34" charset="-120"/>
              </a:rPr>
              <a:t>Kak &amp; Slaney, Principles of Computerized Tomographic Imaging, IEEE Press, 1988.</a:t>
            </a:r>
            <a:endParaRPr lang="en-US" sz="1100" dirty="0"/>
          </a:p>
          <a:p>
            <a:pPr marL="342900" indent="-342900">
              <a:spcAft>
                <a:spcPts val="400"/>
              </a:spcAft>
              <a:buSzPct val="100000"/>
              <a:buFont typeface="+mj-lt"/>
              <a:buAutoNum type="arabicPeriod" startAt="1"/>
            </a:pPr>
            <a:r>
              <a:rPr lang="en-US" sz="1100" dirty="0">
                <a:solidFill>
                  <a:srgbClr val="D9D9D9"/>
                </a:solidFill>
                <a:latin typeface="Calibri" pitchFamily="34" charset="0"/>
                <a:ea typeface="Calibri" pitchFamily="34" charset="-122"/>
                <a:cs typeface="Calibri" pitchFamily="34" charset="-120"/>
              </a:rPr>
              <a:t>Shepp &amp; Logan, “The Fourier reconstruction of a head section,” IEEE Trans. Nucl. Sci., 1974.</a:t>
            </a:r>
            <a:endParaRPr lang="en-US" sz="1100" dirty="0"/>
          </a:p>
          <a:p>
            <a:pPr marL="342900" indent="-342900">
              <a:spcAft>
                <a:spcPts val="400"/>
              </a:spcAft>
              <a:buSzPct val="100000"/>
              <a:buFont typeface="+mj-lt"/>
              <a:buAutoNum type="arabicPeriod" startAt="1"/>
            </a:pPr>
            <a:r>
              <a:rPr lang="en-US" sz="1100" dirty="0">
                <a:solidFill>
                  <a:srgbClr val="D9D9D9"/>
                </a:solidFill>
                <a:latin typeface="Calibri" pitchFamily="34" charset="0"/>
                <a:ea typeface="Calibri" pitchFamily="34" charset="-122"/>
                <a:cs typeface="Calibri" pitchFamily="34" charset="-120"/>
              </a:rPr>
              <a:t>Lustig, Donoho &amp; Pauly, “Sparse MRI,” Magn. Reson. Med., 2007.</a:t>
            </a:r>
            <a:endParaRPr lang="en-US" sz="1100" dirty="0"/>
          </a:p>
          <a:p>
            <a:pPr marL="342900" indent="-342900">
              <a:spcAft>
                <a:spcPts val="400"/>
              </a:spcAft>
              <a:buSzPct val="100000"/>
              <a:buFont typeface="+mj-lt"/>
              <a:buAutoNum type="arabicPeriod" startAt="1"/>
            </a:pPr>
            <a:r>
              <a:rPr lang="en-US" sz="1100" dirty="0">
                <a:solidFill>
                  <a:srgbClr val="D9D9D9"/>
                </a:solidFill>
                <a:latin typeface="Calibri" pitchFamily="34" charset="0"/>
                <a:ea typeface="Calibri" pitchFamily="34" charset="-122"/>
                <a:cs typeface="Calibri" pitchFamily="34" charset="-120"/>
              </a:rPr>
              <a:t>Ronneberger, Fischer &amp; Brox, “U-Net,” MICCAI, 2015.</a:t>
            </a:r>
            <a:endParaRPr lang="en-US" sz="1100" dirty="0"/>
          </a:p>
          <a:p>
            <a:pPr marL="342900" indent="-342900">
              <a:spcAft>
                <a:spcPts val="400"/>
              </a:spcAft>
              <a:buSzPct val="100000"/>
              <a:buFont typeface="+mj-lt"/>
              <a:buAutoNum type="arabicPeriod" startAt="1"/>
            </a:pPr>
            <a:r>
              <a:rPr lang="en-US" sz="1100" dirty="0">
                <a:solidFill>
                  <a:srgbClr val="D9D9D9"/>
                </a:solidFill>
                <a:latin typeface="Calibri" pitchFamily="34" charset="0"/>
                <a:ea typeface="Calibri" pitchFamily="34" charset="-122"/>
                <a:cs typeface="Calibri" pitchFamily="34" charset="-120"/>
              </a:rPr>
              <a:t>Eklund et al., “Medical image processing on the GPU: past, present and future,” Med. Image Anal., 2013.</a:t>
            </a:r>
            <a:endParaRPr lang="en-US" sz="1100" dirty="0"/>
          </a:p>
          <a:p>
            <a:pPr marL="342900" indent="-342900">
              <a:spcAft>
                <a:spcPts val="400"/>
              </a:spcAft>
              <a:buSzPct val="100000"/>
              <a:buFont typeface="+mj-lt"/>
              <a:buAutoNum type="arabicPeriod" startAt="1"/>
            </a:pPr>
            <a:r>
              <a:rPr lang="en-US" sz="1100" dirty="0">
                <a:solidFill>
                  <a:srgbClr val="D9D9D9"/>
                </a:solidFill>
                <a:latin typeface="Calibri" pitchFamily="34" charset="0"/>
                <a:ea typeface="Calibri" pitchFamily="34" charset="-122"/>
                <a:cs typeface="Calibri" pitchFamily="34" charset="-120"/>
              </a:rPr>
              <a:t>Cardoso et al., “MONAI: an open-source framework for deep learning in healthcare,” arXiv, 2022.</a:t>
            </a:r>
            <a:endParaRPr lang="en-US" sz="1100" dirty="0"/>
          </a:p>
          <a:p>
            <a:pPr marL="342900" indent="-342900">
              <a:spcAft>
                <a:spcPts val="400"/>
              </a:spcAft>
              <a:buSzPct val="100000"/>
              <a:buFont typeface="+mj-lt"/>
              <a:buAutoNum type="arabicPeriod" startAt="1"/>
            </a:pPr>
            <a:r>
              <a:rPr lang="en-US" sz="1100" dirty="0">
                <a:solidFill>
                  <a:srgbClr val="D9D9D9"/>
                </a:solidFill>
                <a:latin typeface="Calibri" pitchFamily="34" charset="0"/>
                <a:ea typeface="Calibri" pitchFamily="34" charset="-122"/>
                <a:cs typeface="Calibri" pitchFamily="34" charset="-120"/>
              </a:rPr>
              <a:t>Saver, “Time is brain, quantified,” Stroke, 2006.</a:t>
            </a:r>
            <a:endParaRPr lang="en-US" sz="1100" dirty="0"/>
          </a:p>
          <a:p>
            <a:pPr marL="342900" indent="-342900">
              <a:spcAft>
                <a:spcPts val="400"/>
              </a:spcAft>
              <a:buSzPct val="100000"/>
              <a:buFont typeface="+mj-lt"/>
              <a:buAutoNum type="arabicPeriod" startAt="1"/>
            </a:pPr>
            <a:r>
              <a:rPr lang="en-US" sz="1100" dirty="0">
                <a:solidFill>
                  <a:srgbClr val="D9D9D9"/>
                </a:solidFill>
                <a:latin typeface="Calibri" pitchFamily="34" charset="0"/>
                <a:ea typeface="Calibri" pitchFamily="34" charset="-122"/>
                <a:cs typeface="Calibri" pitchFamily="34" charset="-120"/>
              </a:rPr>
              <a:t>McDonald et al., radiologist workload study, Academic Radiology, 2015.</a:t>
            </a:r>
            <a:endParaRPr lang="en-US" sz="1100" dirty="0"/>
          </a:p>
          <a:p>
            <a:pPr marL="342900" indent="-342900">
              <a:spcAft>
                <a:spcPts val="400"/>
              </a:spcAft>
              <a:buSzPct val="100000"/>
              <a:buFont typeface="+mj-lt"/>
              <a:buAutoNum type="arabicPeriod" startAt="1"/>
            </a:pPr>
            <a:r>
              <a:rPr lang="en-US" sz="1100" dirty="0">
                <a:solidFill>
                  <a:srgbClr val="D9D9D9"/>
                </a:solidFill>
                <a:latin typeface="Calibri" pitchFamily="34" charset="0"/>
                <a:ea typeface="Calibri" pitchFamily="34" charset="-122"/>
                <a:cs typeface="Calibri" pitchFamily="34" charset="-120"/>
              </a:rPr>
              <a:t>NVIDIA, CUDA C++ Programming Guide and cuFFT documentation, 2026.</a:t>
            </a:r>
            <a:endParaRPr lang="en-US" sz="1100" dirty="0"/>
          </a:p>
          <a:p>
            <a:pPr marL="342900" indent="-342900">
              <a:spcAft>
                <a:spcPts val="400"/>
              </a:spcAft>
              <a:buSzPct val="100000"/>
              <a:buFont typeface="+mj-lt"/>
              <a:buAutoNum type="arabicPeriod" startAt="1"/>
            </a:pPr>
            <a:r>
              <a:rPr lang="en-US" sz="1100" dirty="0">
                <a:solidFill>
                  <a:srgbClr val="D9D9D9"/>
                </a:solidFill>
                <a:latin typeface="Calibri" pitchFamily="34" charset="0"/>
                <a:ea typeface="Calibri" pitchFamily="34" charset="-122"/>
                <a:cs typeface="Calibri" pitchFamily="34" charset="-120"/>
              </a:rPr>
              <a:t>Stanford Volume Data Archive (CThead, MRbrain), graphics.stanford.edu/data/voldata.</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6A6A6"/>
                </a:solidFill>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Monochrome">
  <a:themeElements>
    <a:clrScheme name="Monochrome">
      <a:dk1>
        <a:srgbClr val="000000"/>
      </a:dk1>
      <a:lt1>
        <a:srgbClr val="FFFFFF"/>
      </a:lt1>
      <a:dk2>
        <a:srgbClr val="000000"/>
      </a:dk2>
      <a:lt2>
        <a:srgbClr val="F2F2F2"/>
      </a:lt2>
      <a:accent1>
        <a:srgbClr val="000000"/>
      </a:accent1>
      <a:accent2>
        <a:srgbClr val="404040"/>
      </a:accent2>
      <a:accent3>
        <a:srgbClr val="595959"/>
      </a:accent3>
      <a:accent4>
        <a:srgbClr val="808080"/>
      </a:accent4>
      <a:accent5>
        <a:srgbClr val="262626"/>
      </a:accent5>
      <a:accent6>
        <a:srgbClr val="666666"/>
      </a:accent6>
      <a:hlink>
        <a:srgbClr val="000000"/>
      </a:hlink>
      <a:folHlink>
        <a:srgbClr val="404040"/>
      </a:folHlink>
    </a:clrScheme>
    <a:fontScheme name="Monochrom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GPU-Accelerated Medical Image Analysis</dc:title>
  <dc:subject>Case study: CT/MRI processing with GPU computing</dc:subject>
  <dc:creator>PptxGenJS</dc:creator>
  <cp:lastModifiedBy>PptxGenJS</cp:lastModifiedBy>
  <cp:revision>1</cp:revision>
  <dcterms:created xsi:type="dcterms:W3CDTF">2026-10-12T14:19:18Z</dcterms:created>
  <dcterms:modified xsi:type="dcterms:W3CDTF">2026-10-12T14:19:18Z</dcterms:modified>
</cp:coreProperties>
</file>