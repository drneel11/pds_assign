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5.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Speedup incl. transfers (×, log scale)</a:t>
            </a:r>
          </a:p>
        </c:rich>
      </c:tx>
      <c:layout/>
      <c:overlay val="0"/>
    </c:title>
    <c:autoTitleDeleted val="0"/>
    <c:plotArea>
      <c:layout/>
      <c:barChart>
        <c:barDir val="bar"/>
        <c:grouping val="clustered"/>
        <c:varyColors val="0"/>
        <c:ser>
          <c:idx val="0"/>
          <c:order val="0"/>
          <c:tx>
            <c:strRef>
              <c:f>Sheet1!$B$1</c:f>
              <c:strCache>
                <c:ptCount val="1"/>
                <c:pt idx="0">
                  <c:v>Speedup</c:v>
                </c:pt>
              </c:strCache>
            </c:strRef>
          </c:tx>
          <c:spPr>
            <a:solidFill>
              <a:srgbClr val="000000"/>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CT recon</c:v>
                  </c:pt>
                  <c:pt idx="1">
                    <c:v>MRI recon</c:v>
                  </c:pt>
                  <c:pt idx="2">
                    <c:v>Denoise</c:v>
                  </c:pt>
                  <c:pt idx="3">
                    <c:v>Threshold</c:v>
                  </c:pt>
                  <c:pt idx="4">
                    <c:v>U-Net infer</c:v>
                  </c:pt>
                  <c:pt idx="5">
                    <c:v>Render</c:v>
                  </c:pt>
                </c:lvl>
              </c:multiLvlStrCache>
            </c:multiLvlStrRef>
          </c:cat>
          <c:val>
            <c:numRef>
              <c:f>Sheet1!$B$2:$B$7</c:f>
              <c:numCache>
                <c:formatCode>General</c:formatCode>
                <c:ptCount val="6"/>
                <c:pt idx="0">
                  <c:v>265</c:v>
                </c:pt>
                <c:pt idx="1">
                  <c:v>7</c:v>
                </c:pt>
                <c:pt idx="2">
                  <c:v>77.9</c:v>
                </c:pt>
                <c:pt idx="3">
                  <c:v>22.5</c:v>
                </c:pt>
                <c:pt idx="4">
                  <c:v>45.6</c:v>
                </c:pt>
                <c:pt idx="5">
                  <c:v>31.1</c:v>
                </c:pt>
              </c:numCache>
            </c:numRef>
          </c:val>
        </c:ser>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At val="1"/>
        <c:auto val="1"/>
        <c:lblAlgn val="ctr"/>
        <c:noMultiLvlLbl val="1"/>
      </c:catAx>
      <c:valAx>
        <c:axId val="2094734552"/>
        <c:scaling>
          <c:logBase val="10"/>
          <c:orientation val="minMax"/>
          <c:min val="1"/>
        </c:scaling>
        <c:delete val="0"/>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CT slice reconstruction, ms (log)</a:t>
            </a:r>
          </a:p>
        </c:rich>
      </c:tx>
      <c:layout/>
      <c:overlay val="0"/>
    </c:title>
    <c:autoTitleDeleted val="0"/>
    <c:plotArea>
      <c:layout/>
      <c:barChart>
        <c:barDir val="col"/>
        <c:grouping val="clustered"/>
        <c:varyColors val="0"/>
        <c:ser>
          <c:idx val="0"/>
          <c:order val="0"/>
          <c:tx>
            <c:strRef>
              <c:f>Sheet1!$B$1</c:f>
              <c:strCache>
                <c:ptCount val="1"/>
                <c:pt idx="0">
                  <c:v>CPU (NumPy)</c:v>
                </c:pt>
              </c:strCache>
            </c:strRef>
          </c:tx>
          <c:spPr>
            <a:solidFill>
              <a:srgbClr val="A6A6A6"/>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128²</c:v>
                  </c:pt>
                  <c:pt idx="1">
                    <c:v>256²</c:v>
                  </c:pt>
                  <c:pt idx="2">
                    <c:v>512²</c:v>
                  </c:pt>
                </c:lvl>
              </c:multiLvlStrCache>
            </c:multiLvlStrRef>
          </c:cat>
          <c:val>
            <c:numRef>
              <c:f>Sheet1!$B$2:$B$4</c:f>
              <c:numCache>
                <c:formatCode>General</c:formatCode>
                <c:ptCount val="3"/>
                <c:pt idx="0">
                  <c:v>13</c:v>
                </c:pt>
                <c:pt idx="1">
                  <c:v>93.14</c:v>
                </c:pt>
                <c:pt idx="2">
                  <c:v>1271.38</c:v>
                </c:pt>
              </c:numCache>
            </c:numRef>
          </c:val>
        </c:ser>
        <c:ser>
          <c:idx val="1"/>
          <c:order val="1"/>
          <c:tx>
            <c:strRef>
              <c:f>Sheet1!$C$1</c:f>
              <c:strCache>
                <c:ptCount val="1"/>
                <c:pt idx="0">
                  <c:v>GPU</c:v>
                </c:pt>
              </c:strCache>
            </c:strRef>
          </c:tx>
          <c:spPr>
            <a:solidFill>
              <a:srgbClr val="000000"/>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128²</c:v>
                  </c:pt>
                  <c:pt idx="1">
                    <c:v>256²</c:v>
                  </c:pt>
                  <c:pt idx="2">
                    <c:v>512²</c:v>
                  </c:pt>
                </c:lvl>
              </c:multiLvlStrCache>
            </c:multiLvlStrRef>
          </c:cat>
          <c:val>
            <c:numRef>
              <c:f>Sheet1!$C$2:$C$4</c:f>
              <c:numCache>
                <c:formatCode>General</c:formatCode>
                <c:ptCount val="3"/>
                <c:pt idx="0">
                  <c:v>0.5</c:v>
                </c:pt>
                <c:pt idx="1">
                  <c:v>0.69</c:v>
                </c:pt>
                <c:pt idx="2">
                  <c:v>1.4</c:v>
                </c:pt>
              </c:numCache>
            </c:numRef>
          </c:val>
        </c:ser>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At val="0.1"/>
        <c:auto val="1"/>
        <c:lblAlgn val="ctr"/>
        <c:noMultiLvlLbl val="1"/>
      </c:catAx>
      <c:valAx>
        <c:axId val="2094734552"/>
        <c:scaling>
          <c:logBase val="10"/>
          <c:orientation val="minMax"/>
          <c:min val="0.1"/>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3D FFT, ms (log)</a:t>
            </a:r>
          </a:p>
        </c:rich>
      </c:tx>
      <c:layout/>
      <c:overlay val="0"/>
    </c:title>
    <c:autoTitleDeleted val="0"/>
    <c:plotArea>
      <c:layout/>
      <c:barChart>
        <c:barDir val="col"/>
        <c:grouping val="clustered"/>
        <c:varyColors val="0"/>
        <c:ser>
          <c:idx val="0"/>
          <c:order val="0"/>
          <c:tx>
            <c:strRef>
              <c:f>Sheet1!$B$1</c:f>
              <c:strCache>
                <c:ptCount val="1"/>
                <c:pt idx="0">
                  <c:v>NumPy</c:v>
                </c:pt>
              </c:strCache>
            </c:strRef>
          </c:tx>
          <c:spPr>
            <a:solidFill>
              <a:srgbClr val="BFBFBF"/>
            </a:solidFill>
            <a:effectLst/>
          </c:spPr>
          <c:invertIfNegative val="0"/>
          <c:dLbls>
            <c:numFmt formatCode="General"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64³</c:v>
                  </c:pt>
                  <c:pt idx="1">
                    <c:v>128³</c:v>
                  </c:pt>
                  <c:pt idx="2">
                    <c:v>256³</c:v>
                  </c:pt>
                  <c:pt idx="3">
                    <c:v>512³</c:v>
                  </c:pt>
                </c:lvl>
              </c:multiLvlStrCache>
            </c:multiLvlStrRef>
          </c:cat>
          <c:val>
            <c:numRef>
              <c:f>Sheet1!$B$2:$B$5</c:f>
              <c:numCache>
                <c:formatCode>General</c:formatCode>
                <c:ptCount val="4"/>
                <c:pt idx="0">
                  <c:v>9.21</c:v>
                </c:pt>
                <c:pt idx="1">
                  <c:v>77.4</c:v>
                </c:pt>
                <c:pt idx="2">
                  <c:v>702</c:v>
                </c:pt>
                <c:pt idx="3">
                  <c:v>6410</c:v>
                </c:pt>
              </c:numCache>
            </c:numRef>
          </c:val>
        </c:ser>
        <c:ser>
          <c:idx val="1"/>
          <c:order val="1"/>
          <c:tx>
            <c:strRef>
              <c:f>Sheet1!$C$1</c:f>
              <c:strCache>
                <c:ptCount val="1"/>
                <c:pt idx="0">
                  <c:v>PyTorch CPU 6 thr.</c:v>
                </c:pt>
              </c:strCache>
            </c:strRef>
          </c:tx>
          <c:spPr>
            <a:solidFill>
              <a:srgbClr val="7F7F7F"/>
            </a:solidFill>
            <a:effectLst/>
          </c:spPr>
          <c:invertIfNegative val="0"/>
          <c:dLbls>
            <c:numFmt formatCode="General"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64³</c:v>
                  </c:pt>
                  <c:pt idx="1">
                    <c:v>128³</c:v>
                  </c:pt>
                  <c:pt idx="2">
                    <c:v>256³</c:v>
                  </c:pt>
                  <c:pt idx="3">
                    <c:v>512³</c:v>
                  </c:pt>
                </c:lvl>
              </c:multiLvlStrCache>
            </c:multiLvlStrRef>
          </c:cat>
          <c:val>
            <c:numRef>
              <c:f>Sheet1!$C$2:$C$5</c:f>
              <c:numCache>
                <c:formatCode>General</c:formatCode>
                <c:ptCount val="4"/>
                <c:pt idx="0">
                  <c:v>0.316</c:v>
                </c:pt>
                <c:pt idx="1">
                  <c:v>1.63</c:v>
                </c:pt>
                <c:pt idx="2">
                  <c:v>22.1</c:v>
                </c:pt>
                <c:pt idx="3">
                  <c:v>238</c:v>
                </c:pt>
              </c:numCache>
            </c:numRef>
          </c:val>
        </c:ser>
        <c:ser>
          <c:idx val="2"/>
          <c:order val="2"/>
          <c:tx>
            <c:strRef>
              <c:f>Sheet1!$D$1</c:f>
              <c:strCache>
                <c:ptCount val="1"/>
                <c:pt idx="0">
                  <c:v>cuFFT</c:v>
                </c:pt>
              </c:strCache>
            </c:strRef>
          </c:tx>
          <c:spPr>
            <a:solidFill>
              <a:srgbClr val="000000"/>
            </a:solidFill>
            <a:effectLst/>
          </c:spPr>
          <c:invertIfNegative val="0"/>
          <c:dLbls>
            <c:numFmt formatCode="General"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64³</c:v>
                  </c:pt>
                  <c:pt idx="1">
                    <c:v>128³</c:v>
                  </c:pt>
                  <c:pt idx="2">
                    <c:v>256³</c:v>
                  </c:pt>
                  <c:pt idx="3">
                    <c:v>512³</c:v>
                  </c:pt>
                </c:lvl>
              </c:multiLvlStrCache>
            </c:multiLvlStrRef>
          </c:cat>
          <c:val>
            <c:numRef>
              <c:f>Sheet1!$D$2:$D$5</c:f>
              <c:numCache>
                <c:formatCode>General</c:formatCode>
                <c:ptCount val="4"/>
                <c:pt idx="0">
                  <c:v>0.045</c:v>
                </c:pt>
                <c:pt idx="1">
                  <c:v>0.25</c:v>
                </c:pt>
                <c:pt idx="2">
                  <c:v>2.5</c:v>
                </c:pt>
                <c:pt idx="3">
                  <c:v>19</c:v>
                </c:pt>
              </c:numCache>
            </c:numRef>
          </c:val>
        </c:ser>
        <c:dLbls>
          <c:numFmt formatCode="General"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At val="0.01"/>
        <c:auto val="1"/>
        <c:lblAlgn val="ctr"/>
        <c:noMultiLvlLbl val="1"/>
      </c:catAx>
      <c:valAx>
        <c:axId val="2094734552"/>
        <c:scaling>
          <c:logBase val="10"/>
          <c:orientation val="minMax"/>
          <c:min val="0.01"/>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Gaussian filter speedup by size (×)</a:t>
            </a:r>
          </a:p>
        </c:rich>
      </c:tx>
      <c:layout/>
      <c:overlay val="0"/>
    </c:title>
    <c:autoTitleDeleted val="0"/>
    <c:plotArea>
      <c:layout/>
      <c:lineChart>
        <c:varyColors val="0"/>
        <c:ser>
          <c:idx val="0"/>
          <c:order val="0"/>
          <c:tx>
            <c:strRef>
              <c:f>Sheet1!$B$1</c:f>
              <c:strCache>
                <c:ptCount val="1"/>
                <c:pt idx="0">
                  <c:v>Tiled kernel</c:v>
                </c:pt>
              </c:strCache>
            </c:strRef>
          </c:tx>
          <c:spPr>
            <a:solidFill>
              <a:srgbClr val="000000"/>
            </a:solidFill>
            <a:ln w="31750" cap="flat">
              <a:solidFill>
                <a:srgbClr val="000000"/>
              </a:solidFill>
              <a:prstDash val="solid"/>
              <a:round/>
            </a:ln>
            <a:effectLst/>
          </c:spPr>
          <c:invertIfNegative val="0"/>
          <c:dLbls>
            <c:numFmt formatCode="0" sourceLinked="0"/>
            <c:txPr>
              <a:bodyPr/>
              <a:lstStyle/>
              <a:p>
                <a:pPr>
                  <a:defRPr b="0" i="0" strike="noStrike" sz="1000" u="none">
                    <a:solidFill>
                      <a:srgbClr val="000000"/>
                    </a:solidFill>
                    <a:latin typeface="+mn-lt"/>
                  </a:defRPr>
                </a:pPr>
              </a:p>
            </c:txPr>
            <c:dLblPos val="t"/>
            <c:showLegendKey val="0"/>
            <c:showVal val="1"/>
            <c:showCatName val="0"/>
            <c:showSerName val="0"/>
            <c:showPercent val="0"/>
            <c:showBubbleSize val="0"/>
            <c:showLeaderLines val="0"/>
          </c:dLbls>
          <c:marker>
            <c:symbol val="circle"/>
            <c:size val="6"/>
            <c:spPr>
              <a:solidFill>
                <a:srgbClr val="000000"/>
              </a:solidFill>
              <a:ln w="9525" cap="flat">
                <a:solidFill>
                  <a:srgbClr val="000000"/>
                </a:solidFill>
                <a:prstDash val="solid"/>
                <a:round/>
              </a:ln>
              <a:effectLst/>
            </c:spPr>
          </c:marker>
          <c:cat>
            <c:multiLvlStrRef>
              <c:f>Sheet1!$A$2:$A$4</c:f>
              <c:multiLvlStrCache>
                <c:ptCount val="3"/>
                <c:lvl>
                  <c:pt idx="0">
                    <c:v>64³</c:v>
                  </c:pt>
                  <c:pt idx="1">
                    <c:v>128³</c:v>
                  </c:pt>
                  <c:pt idx="2">
                    <c:v>256³</c:v>
                  </c:pt>
                </c:lvl>
              </c:multiLvlStrCache>
            </c:multiLvlStrRef>
          </c:cat>
          <c:val>
            <c:numRef>
              <c:f>Sheet1!$B$2:$B$4</c:f>
              <c:numCache>
                <c:formatCode>General</c:formatCode>
                <c:ptCount val="3"/>
                <c:pt idx="0">
                  <c:v>458</c:v>
                </c:pt>
                <c:pt idx="1">
                  <c:v>443</c:v>
                </c:pt>
                <c:pt idx="2">
                  <c:v>503</c:v>
                </c:pt>
              </c:numCache>
            </c:numRef>
          </c:val>
          <c:smooth val="0"/>
        </c:ser>
        <c:ser>
          <c:idx val="1"/>
          <c:order val="1"/>
          <c:tx>
            <c:strRef>
              <c:f>Sheet1!$C$1</c:f>
              <c:strCache>
                <c:ptCount val="1"/>
                <c:pt idx="0">
                  <c:v>Tiled + transfers</c:v>
                </c:pt>
              </c:strCache>
            </c:strRef>
          </c:tx>
          <c:spPr>
            <a:solidFill>
              <a:srgbClr val="7F7F7F"/>
            </a:solidFill>
            <a:ln w="31750" cap="flat">
              <a:solidFill>
                <a:srgbClr val="7F7F7F"/>
              </a:solidFill>
              <a:prstDash val="solid"/>
              <a:round/>
            </a:ln>
            <a:effectLst/>
          </c:spPr>
          <c:invertIfNegative val="0"/>
          <c:dLbls>
            <c:numFmt formatCode="0" sourceLinked="0"/>
            <c:txPr>
              <a:bodyPr/>
              <a:lstStyle/>
              <a:p>
                <a:pPr>
                  <a:defRPr b="0" i="0" strike="noStrike" sz="1000" u="none">
                    <a:solidFill>
                      <a:srgbClr val="000000"/>
                    </a:solidFill>
                    <a:latin typeface="+mn-lt"/>
                  </a:defRPr>
                </a:pPr>
              </a:p>
            </c:txPr>
            <c:dLblPos val="t"/>
            <c:showLegendKey val="0"/>
            <c:showVal val="1"/>
            <c:showCatName val="0"/>
            <c:showSerName val="0"/>
            <c:showPercent val="0"/>
            <c:showBubbleSize val="0"/>
            <c:showLeaderLines val="0"/>
          </c:dLbls>
          <c:marker>
            <c:symbol val="circle"/>
            <c:size val="6"/>
            <c:spPr>
              <a:solidFill>
                <a:srgbClr val="7F7F7F"/>
              </a:solidFill>
              <a:ln w="9525" cap="flat">
                <a:solidFill>
                  <a:srgbClr val="7F7F7F"/>
                </a:solidFill>
                <a:prstDash val="solid"/>
                <a:round/>
              </a:ln>
              <a:effectLst/>
            </c:spPr>
          </c:marker>
          <c:cat>
            <c:multiLvlStrRef>
              <c:f>Sheet1!$A$2:$A$4</c:f>
              <c:multiLvlStrCache>
                <c:ptCount val="3"/>
                <c:lvl>
                  <c:pt idx="0">
                    <c:v>64³</c:v>
                  </c:pt>
                  <c:pt idx="1">
                    <c:v>128³</c:v>
                  </c:pt>
                  <c:pt idx="2">
                    <c:v>256³</c:v>
                  </c:pt>
                </c:lvl>
              </c:multiLvlStrCache>
            </c:multiLvlStrRef>
          </c:cat>
          <c:val>
            <c:numRef>
              <c:f>Sheet1!$C$2:$C$4</c:f>
              <c:numCache>
                <c:formatCode>General</c:formatCode>
                <c:ptCount val="3"/>
                <c:pt idx="0">
                  <c:v>42</c:v>
                </c:pt>
                <c:pt idx="1">
                  <c:v>83</c:v>
                </c:pt>
                <c:pt idx="2">
                  <c:v>78</c:v>
                </c:pt>
              </c:numCache>
            </c:numRef>
          </c:val>
          <c:smooth val="0"/>
        </c:ser>
        <c:dLbls>
          <c:numFmt formatCode="0" sourceLinked="0"/>
          <c:txPr>
            <a:bodyPr/>
            <a:lstStyle/>
            <a:p>
              <a:pPr>
                <a:defRPr b="0" i="0" strike="noStrike" sz="1000" u="none">
                  <a:solidFill>
                    <a:srgbClr val="00000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GPU time split, ms</a:t>
            </a:r>
          </a:p>
        </c:rich>
      </c:tx>
      <c:layout/>
      <c:overlay val="0"/>
    </c:title>
    <c:autoTitleDeleted val="0"/>
    <c:plotArea>
      <c:layout/>
      <c:barChart>
        <c:barDir val="bar"/>
        <c:grouping val="stacked"/>
        <c:varyColors val="0"/>
        <c:ser>
          <c:idx val="0"/>
          <c:order val="0"/>
          <c:tx>
            <c:strRef>
              <c:f>Sheet1!$B$1</c:f>
              <c:strCache>
                <c:ptCount val="1"/>
                <c:pt idx="0">
                  <c:v>Upload (H→D)</c:v>
                </c:pt>
              </c:strCache>
            </c:strRef>
          </c:tx>
          <c:spPr>
            <a:solidFill>
              <a:srgbClr val="7F7F7F"/>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CT volume</c:v>
                  </c:pt>
                  <c:pt idx="1">
                    <c:v>Denoise 256³</c:v>
                  </c:pt>
                  <c:pt idx="2">
                    <c:v>Threshold 59 M</c:v>
                  </c:pt>
                </c:lvl>
              </c:multiLvlStrCache>
            </c:multiLvlStrRef>
          </c:cat>
          <c:val>
            <c:numRef>
              <c:f>Sheet1!$B$2:$B$4</c:f>
              <c:numCache>
                <c:formatCode>General</c:formatCode>
                <c:ptCount val="3"/>
                <c:pt idx="0">
                  <c:v>28.5</c:v>
                </c:pt>
                <c:pt idx="1">
                  <c:v>5.7</c:v>
                </c:pt>
                <c:pt idx="2">
                  <c:v>16.8</c:v>
                </c:pt>
              </c:numCache>
            </c:numRef>
          </c:val>
        </c:ser>
        <c:ser>
          <c:idx val="1"/>
          <c:order val="1"/>
          <c:tx>
            <c:strRef>
              <c:f>Sheet1!$C$1</c:f>
              <c:strCache>
                <c:ptCount val="1"/>
                <c:pt idx="0">
                  <c:v>Compute</c:v>
                </c:pt>
              </c:strCache>
            </c:strRef>
          </c:tx>
          <c:spPr>
            <a:solidFill>
              <a:srgbClr val="000000"/>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CT volume</c:v>
                  </c:pt>
                  <c:pt idx="1">
                    <c:v>Denoise 256³</c:v>
                  </c:pt>
                  <c:pt idx="2">
                    <c:v>Threshold 59 M</c:v>
                  </c:pt>
                </c:lvl>
              </c:multiLvlStrCache>
            </c:multiLvlStrRef>
          </c:cat>
          <c:val>
            <c:numRef>
              <c:f>Sheet1!$C$2:$C$4</c:f>
              <c:numCache>
                <c:formatCode>General</c:formatCode>
                <c:ptCount val="3"/>
                <c:pt idx="0">
                  <c:v>13.7</c:v>
                </c:pt>
                <c:pt idx="1">
                  <c:v>2.4</c:v>
                </c:pt>
                <c:pt idx="2">
                  <c:v>1.8</c:v>
                </c:pt>
              </c:numCache>
            </c:numRef>
          </c:val>
        </c:ser>
        <c:ser>
          <c:idx val="2"/>
          <c:order val="2"/>
          <c:tx>
            <c:strRef>
              <c:f>Sheet1!$D$1</c:f>
              <c:strCache>
                <c:ptCount val="1"/>
                <c:pt idx="0">
                  <c:v>Download (D→H)</c:v>
                </c:pt>
              </c:strCache>
            </c:strRef>
          </c:tx>
          <c:spPr>
            <a:solidFill>
              <a:srgbClr val="BFBFBF"/>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CT volume</c:v>
                  </c:pt>
                  <c:pt idx="1">
                    <c:v>Denoise 256³</c:v>
                  </c:pt>
                  <c:pt idx="2">
                    <c:v>Threshold 59 M</c:v>
                  </c:pt>
                </c:lvl>
              </c:multiLvlStrCache>
            </c:multiLvlStrRef>
          </c:cat>
          <c:val>
            <c:numRef>
              <c:f>Sheet1!$D$2:$D$4</c:f>
              <c:numCache>
                <c:formatCode>General</c:formatCode>
                <c:ptCount val="3"/>
                <c:pt idx="0">
                  <c:v>2.5</c:v>
                </c:pt>
                <c:pt idx="1">
                  <c:v>7.4</c:v>
                </c:pt>
                <c:pt idx="2">
                  <c:v>4.4</c:v>
                </c:pt>
              </c:numCache>
            </c:numRef>
          </c:val>
        </c:ser>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shows how GPU computing speeds up CT and MRI processing. Everything in the deck was built and measured by our team: a pipeline of CT reconstruction, MRI reconstruction, 3D denoising, threshold and deep-learning segmentation, and 3D rendering, each written for CPU and GPU, including four hand-written CUDA kernels, benchmarked on an RTX 5060. The four images are real outputs of 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members, six parts. The flow goes from the medical problem, to the GPU hardware, to the algorithms, to our actual code, to the measured performance, and finally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CT scanner rotates an X-ray tube and detector around the patient. Each detector reading is the total absorption along one line, so the scanner measures line integrals, mathematically the Radon transform. Stacking all angles gives the sinogram on the right; each point in the body traces a sine curve, hence the name. The image must be computed from it, which is our stage 1. CT intensities are in Hounsfield units: air -1000, water 0, bone several hundred to thousands. That is why bone is bright and air is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MRI uses a strong magnet and radio pulses instead of X-rays. Gradient coils make the signal frequency depend on position, so what the scanner records is the Fourier transform of the image, called k-space. The image is recovered with an inverse FFT, which is why FFT speed matters so much. MRI is slow because it fills k-space one line at a time; skipping lines speeds up the scan but creates aliasing, which our iterative reconstruction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our datasets are real scans from the Stanford Volume Data Archive, a public research archive. They are raw 16-bit big-endian files without headers, so we read them with numpy fromfile using the big-endian format code. In hospitals data comes as DICOM: a header with voxel spacing and a rescale formula to Hounsfield units, plus pixel data. We also used simulated data on purpose, because to measure accuracy you need the exact correct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statement: medical pipelines touch tens of millions to billions of voxels and are slow on a CPU. We ask whether GPU parallelism makes them interactive with identical results. The motivation is data size, cubic growth with resolution, and time-critical care. Applications range from stroke triage to radiotherapy planning. Our four objectives are listed at the bottom; the rest of the talk answers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GPU work, raw data is converted. Integers become float32. Intensities are normalised to the range 0 to 1 using percentiles so a few extreme voxels do not dominate. The CT has 2 mm slices but 1 mm pixels, so we resample with trilinear interpolation; panel 2 shows the squashed head before and panel 3 the corrected one. Panel 4 shows why normalisation matters: the raw MRI uses only a tiny part of the 16-bit range. Finally the arrays are stored contiguously so GPU memory access is coalesced.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operation in our project falls into a classic parallel pattern. Point operations are a map, the easiest case. Filtering is a stencil, where neighbouring outputs share inputs, so shared memory helps. A histogram is a reduction where many threads write the same bin, so it needs atomic operations. The FFT is a butterfly network, best handled by cuFFT. Back-projection is a gather with irregular reads. Rendering marches along rays, and neural network layers are matrix multiplications on Tensor 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CPU spends its transistors on making one thread fast: caches, branch prediction, out-of-order execution. A GPU spends them on many simple cores and hides memory latency by switching between thousands of threads. Our GPU has about 19 times the peak floating-point throughput and 6 times the memory bandwidth of our CPU. Medical images suit the GPU because millions of voxels need the same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CUDA organises threads in a hierarchy. A grid of blocks covers the whole volume; each block holds up to 1024 threads that can share memory and synchronise. The hardware runs threads in warps of 32 in lockstep, so branches that split a warp cost time. The code shows how each thread computes which voxel it owns. The table lists the exact launch configuration of each of our kernels. The histogram uses a grid-stride loop: a fixed 240 blocks, each thread looping over many voxels.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SM has registers, shared memory and caches; all SMs share the L2 and the 8 GB global memory. Global memory is hundreds of cycles away, and PCIe to the CPU is far slower again: we measured 11.8 GB/s. The table maps every level to how our code uses it: shared memory for the convolution tile and histogram, constant memory for lookup tables and filter weights, the read-only cache for the sinogram.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Gaussian filter replaces each voxel by a weighted average of its neighbours, with weights falling off with distance according to the Gaussian formula. With sigma 1 and radius 2 we have 125 weights; the table shows the middle slice, with the biggest weight in the centre. The weights sum to 1 so brightness is kept. That is 125 multiply-adds per voxel, 2.1 billion for a 256-cubed volume. The filter could be split into three 1D passes, but we kept the direct 3D form because it is the textbook case for studying memory reuse on the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kernel is correct but wasteful: neighbouring threads read almost the same 125 voxels from slow global memory. The tiled kernel first has all 512 threads of a block copy a 12-cubed tile, the 8-cubed output region plus a 2-voxel halo, into shared memory. After a barrier, every thread computes its sum from the tile. Global reads drop from 125 to 3.4 per voxel, and the kernel becomes 1.75 times faster. Weights sit in constant memory, which broadcasts one value to all threads of a warp.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 segmentation is the classic baseline. First we build a 256-bin histogram of intensities. Otsu's method picks the threshold that best separates the histogram into two classes, by maximising the between-class variance. We apply it twice to the same histogram: once to split air from the head, then again above that threshold to split soft tissue from bone. The interesting GPU part is the histogram: millions of threads update only 256 counters, so global atomic adds collide. Giving each block a private histogram in shared memory and merging at the end is 17.3 times faster. The labelling itself is a simple map, one thread per voxel.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U-Net is an encoder-decoder network. The encoder halves the image size four times while increasing channels from 32 to 512, capturing context; the decoder upsamples back and skip connections bring back fine detail. We train with cross-entropy plus Dice loss, Adam, and FP16 mixed precision so the Tensor Cores are used. Why do we need it? Our lesions can be brighter or darker than their surroundings, so a threshold fails: the best possible one scores Dice 0.11, the U-Net 0.909.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GPU stage follows the same eight steps. The CPU loads and preprocesses the data, allocates GPU memory and copies the input across PCIe. It then launches kernels; the kernel call returns immediately and the GPU runs it on all SMs. Several kernels can run back-to-back on data that stays on the GPU, for example FFT then filter then back-projection. Finally the result is copied back. The copies in gray are the expensive part we come back to in the performance section. The table shows what lives where for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software stack. At the top our Python scripts; PyTorch gives GPU tensors and calls NVIDIA's libraries; our own kernels are compiled with nvcc for the Blackwell architecture, sm_120. The right side shows the actual data crossing the PCIe bus. At about 11.8 GB/s, copying a 67 MB volume takes longer than filtering it on the GPU, so 85% of the denoising time is transfer. That is why data movement is a central design concern, and why we return labels as 1-byte integers.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three CUDA files and one Python script per stage. common.py holds shared tools: timing with GPU synchronisation, compiling the CUDA files with nvcc, running them and computing PSNR. Each stage script has a CPU version and a GPU version of the same algorithm and saves its timings and accuracy to results.json. benchmark.py runs everything and prints the summary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in code. First the ramp filter: FFT each projection, multiply by the absolute frequency, inverse FFT, all batched on the GPU with cuFFT through PyTorch. Then our CUDA kernel: every thread reconstructs one pixel of one slice. It loops over the 256 angles, computes where its pixel lands on the detector, interpolates the filtered value and adds it up. cos and sin values come from constant memory. One launch of 8.4 million threads reconstructs the whole 128-slice volume in 6.8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compressed sensing in a few lines. We start from the zero-filled image, then repeat 200 times: take a small step that reduces total variation, which removes noise and aliasing streaks while keeping edges; go to k-space; overwrite the lines we actually measured, so the image always agrees with the scanner data; and come back. That is 400 FFTs per slice. The same code runs on the CPU or the GPU just by where the tensors live; on the GPU every FFT goes to cuFFT, giving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U-Net is implemented in PyTorch. The key GPU details: we copy the whole training set to GPU memory once so batches never cross PCIe; autocast runs the convolutions in half precision on Tensor Cores; the gradient scaler prevents tiny half-precision gradients from rounding to zero; and channels_last is the layout cuDNN prefers. One epoch takes 107.3 s on the CPU and 12.4 s on the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3D views, each screen pixel shoots a ray through the volume. Maximum intensity projection keeps the brightest sample. Volume rendering blends samples front to back: each sample adds its brightness times its opacity times how much light still gets through. The transfer function makes bone opaque and soft tissue almost transparent, which reveals the skull. The cumulative product computes the transmittance for all rays at once, so every ray is processed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outputs of our pipeline, in pairs: original then processed. Noisy CT and its filtered version; the real head CT and its threshold labels; a lesion slice and the U-Net outline compared with the truth; and the MRI and 3D rendering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means nothing if the answer changes, so every stage is checked. Differences between CPU and GPU are at floating-point rounding level, because the GPU adds numbers in a different order. The threshold stage matches exactly: identical histograms and zero different labels out of 59 million voxels. Quality against ground truth uses PSNR for images and Dice for masks; the formulas are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benchmark protocol: warm up first, because the first GPU call pays for setup; time with CUDA events, because kernel launches return immediately; repeat and average; and always verify the output. For fairness we report both kernel-only and total time including transfers, and where the CPU library is multi-threaded we let it use all cores. We also compare GPU variants against each other to isolate the effect of each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 stage. All GPU times include copying data in and out. The whole five-stage pipeline goes from 32.2 s to 728 ms, 44×. The speedups differ a lot, and the reason is arithmetic intensity: stages that do a lot of maths per byte, like back-projection, gain hundreds of times; stages dominated by memory or small operations gain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is the key performance lesson. With small inputs the GPU cannot fill its thousands of cores and fixed costs dominate; as the data grows the advantage grows. CT reconstruction goes from about 26 times at 128 pixels to over 900 times at 512. The FFT chart also shows why the baseline matters: compared with single-threaded NumPy cuFFT looks 300 times faster, but against a multi-threaded CPU FFT it is about 12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kernels are fast, the copies dominate. For denoising and thresholding, most of the GPU time is moving data over PCIe. Amdahl's law explains it: the overall speedup is limited by the part you did not accelerate. The fixes are standard: keep data on the GPU for the whole pipeline, use pinned memory, overlap copies with compute using streams, and send back compact results, which we already do with 1-byte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limitations. Transfers and GPU memory size are the main technical limits. Half precision needs validation. Most of our accuracy tests use simulated data, chosen deliberately for exact ground truth. We also hit practical issues: on Windows the CUDA compiler needs Visual Studio, and the CuPy library was blocked by the operating system's security policy, so we wrote our own kernels instead. Real clinical use adds privacy and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built is a small version of what industry already does: major scanner vendors ship GPU-based deep-learning reconstruction, and NVIDIA Clara and MONAI are used in hospitals. Our next steps follow directly from our measurements: keep the data on the GPU, overlap copies with compute, use cheaper separable filters, and train a 3D U-Net on real labelled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GPU pipeline is 44× faster end to end with the same results. The biggest lesson is that memory, not arithmetic, decides GPU performance: shared memory, coalesced access and avoiding PCIe copies. And each image operation maps to a parallel pattern that tells you which GPU technique to use.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sources: the classic papers for each algorithm, the GPU programming references, and the public data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126480" cy="2103120"/>
          </a:xfrm>
          <a:prstGeom prst="rect">
            <a:avLst/>
          </a:prstGeom>
          <a:noFill/>
          <a:ln/>
        </p:spPr>
        <p:txBody>
          <a:bodyPr wrap="square" rtlCol="0"/>
          <a:lstStyle>
            <a:lvl1pPr algn="l" indent="0" marL="0">
              <a:buNone/>
              <a:defRPr lang="en-US" sz="4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640080" y="3703320"/>
            <a:ext cx="6035040" cy="1005840"/>
          </a:xfrm>
          <a:prstGeom prst="rect">
            <a:avLst/>
          </a:prstGeom>
          <a:noFill/>
          <a:ln/>
        </p:spPr>
        <p:txBody>
          <a:bodyPr wrap="square" rtlCol="0"/>
          <a:lstStyle>
            <a:lvl1pPr indent="0" marL="0">
              <a:buNone/>
              <a:defRPr lang="en-US" sz="1800" dirty="0">
                <a:solidFill>
                  <a:srgbClr val="BFBFB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GPU-Accelerated Medical Image Analysis  |  PDS Case Study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bg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A6A6A6"/>
                </a:solidFill>
                <a:latin typeface="Calibri" pitchFamily="34" charset="0"/>
                <a:ea typeface="Calibri" pitchFamily="34" charset="-122"/>
                <a:cs typeface="Calibri" pitchFamily="34" charset="-120"/>
              </a:rPr>
              <a:t>GPU-Accelerated Medical Image Analysis  |  PDS Case Study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3.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3.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3.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3.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4.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126480" cy="2103120"/>
          </a:xfrm>
          <a:prstGeom prst="rect">
            <a:avLst/>
          </a:prstGeom>
          <a:noFill/>
          <a:ln/>
        </p:spPr>
        <p:txBody>
          <a:bodyPr wrap="square" lIns="0" tIns="0" rIns="0" bIns="0" rtlCol="0" anchor="b"/>
          <a:lstStyle/>
          <a:p>
            <a:pPr algn="l" indent="0" marL="0">
              <a:buNone/>
            </a:pPr>
            <a:r>
              <a:rPr lang="en-US" sz="4200" b="1" dirty="0">
                <a:solidFill>
                  <a:schemeClr val="bg1"/>
                </a:solidFill>
                <a:latin typeface="Cambria" pitchFamily="34" charset="0"/>
                <a:ea typeface="Cambria" pitchFamily="34" charset="-122"/>
                <a:cs typeface="Cambria" pitchFamily="34" charset="-120"/>
              </a:rPr>
              <a:t>GPU-Accelerated Medical Image Analysis</a:t>
            </a:r>
            <a:endParaRPr lang="en-US" sz="4200" dirty="0"/>
          </a:p>
        </p:txBody>
      </p:sp>
      <p:sp>
        <p:nvSpPr>
          <p:cNvPr id="3" name="Text 0"/>
          <p:cNvSpPr/>
          <p:nvPr>
            <p:ph idx="101" type="body" hasCustomPrompt="1"/>
          </p:nvPr>
        </p:nvSpPr>
        <p:spPr>
          <a:xfrm>
            <a:off x="640080" y="3703320"/>
            <a:ext cx="6035040" cy="1005840"/>
          </a:xfrm>
          <a:prstGeom prst="rect">
            <a:avLst/>
          </a:prstGeom>
          <a:noFill/>
          <a:ln/>
        </p:spPr>
        <p:txBody>
          <a:bodyPr wrap="square" lIns="0" tIns="0" rIns="0" bIns="0" rtlCol="0" anchor="t"/>
          <a:lstStyle/>
          <a:p>
            <a:pPr indent="0" marL="0">
              <a:buNone/>
            </a:pPr>
            <a:r>
              <a:rPr lang="en-US" sz="1800" dirty="0">
                <a:solidFill>
                  <a:srgbClr val="BFBFBF"/>
                </a:solidFill>
                <a:latin typeface="Calibri" pitchFamily="34" charset="0"/>
                <a:ea typeface="Calibri" pitchFamily="34" charset="-122"/>
                <a:cs typeface="Calibri" pitchFamily="34" charset="-120"/>
              </a:rPr>
              <a:t>Case study: processing CT and MRI scans with CUDA on an NVIDIA GeForce RTX 5060</a:t>
            </a:r>
            <a:endParaRPr lang="en-US" sz="1800" dirty="0"/>
          </a:p>
        </p:txBody>
      </p:sp>
      <p:sp>
        <p:nvSpPr>
          <p:cNvPr id="4" name="Text 2"/>
          <p:cNvSpPr txBox="1"/>
          <p:nvPr/>
        </p:nvSpPr>
        <p:spPr>
          <a:xfrm>
            <a:off x="640080" y="4983480"/>
            <a:ext cx="6035040" cy="32004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Parallel &amp; Distributed Systems  |  Case Study  |  Team of 6</a:t>
            </a:r>
            <a:endParaRPr lang="en-US" sz="1400" dirty="0"/>
          </a:p>
        </p:txBody>
      </p:sp>
      <p:sp>
        <p:nvSpPr>
          <p:cNvPr id="5" name="Text 3"/>
          <p:cNvSpPr txBox="1"/>
          <p:nvPr/>
        </p:nvSpPr>
        <p:spPr>
          <a:xfrm>
            <a:off x="640080" y="5349240"/>
            <a:ext cx="6035040" cy="32004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October 2026</a:t>
            </a:r>
            <a:endParaRPr lang="en-US" sz="1400" dirty="0"/>
          </a:p>
        </p:txBody>
      </p:sp>
      <p:pic>
        <p:nvPicPr>
          <p:cNvPr id="6" name="hero-ct_recon" descr="CT reconstruction">    </p:cNvPr>
          <p:cNvPicPr>
            <a:picLocks noChangeAspect="1"/>
          </p:cNvPicPr>
          <p:nvPr/>
        </p:nvPicPr>
        <p:blipFill>
          <a:blip r:embed="rId1"/>
          <a:stretch>
            <a:fillRect/>
          </a:stretch>
        </p:blipFill>
        <p:spPr>
          <a:xfrm>
            <a:off x="7315200" y="1097280"/>
            <a:ext cx="2057400" cy="2057400"/>
          </a:xfrm>
          <a:prstGeom prst="rect">
            <a:avLst/>
          </a:prstGeom>
        </p:spPr>
      </p:pic>
      <p:sp>
        <p:nvSpPr>
          <p:cNvPr id="7" name="Text 4"/>
          <p:cNvSpPr txBox="1"/>
          <p:nvPr/>
        </p:nvSpPr>
        <p:spPr>
          <a:xfrm>
            <a:off x="7315200" y="3200400"/>
            <a:ext cx="2057400" cy="256032"/>
          </a:xfrm>
          <a:prstGeom prst="rect">
            <a:avLst/>
          </a:prstGeom>
          <a:noFill/>
          <a:ln/>
        </p:spPr>
        <p:txBody>
          <a:bodyPr wrap="square" lIns="0" tIns="0" rIns="0" bIns="0" rtlCol="0" anchor="t"/>
          <a:lstStyle/>
          <a:p>
            <a:pPr algn="ctr" indent="0" marL="0">
              <a:buNone/>
            </a:pPr>
            <a:r>
              <a:rPr lang="en-US" sz="1100" dirty="0">
                <a:solidFill>
                  <a:srgbClr val="A6A6A6"/>
                </a:solidFill>
                <a:latin typeface="Calibri" pitchFamily="34" charset="0"/>
                <a:ea typeface="Calibri" pitchFamily="34" charset="-122"/>
                <a:cs typeface="Calibri" pitchFamily="34" charset="-120"/>
              </a:rPr>
              <a:t>CT reconstruction</a:t>
            </a:r>
            <a:endParaRPr lang="en-US" sz="1100" dirty="0"/>
          </a:p>
        </p:txBody>
      </p:sp>
      <p:pic>
        <p:nvPicPr>
          <p:cNvPr id="8" name="hero-mri" descr="MRI">    </p:cNvPr>
          <p:cNvPicPr>
            <a:picLocks noChangeAspect="1"/>
          </p:cNvPicPr>
          <p:nvPr/>
        </p:nvPicPr>
        <p:blipFill>
          <a:blip r:embed="rId2"/>
          <a:stretch>
            <a:fillRect/>
          </a:stretch>
        </p:blipFill>
        <p:spPr>
          <a:xfrm>
            <a:off x="9555480" y="1097280"/>
            <a:ext cx="2057400" cy="2057400"/>
          </a:xfrm>
          <a:prstGeom prst="rect">
            <a:avLst/>
          </a:prstGeom>
        </p:spPr>
      </p:pic>
      <p:sp>
        <p:nvSpPr>
          <p:cNvPr id="9" name="Text 5"/>
          <p:cNvSpPr txBox="1"/>
          <p:nvPr/>
        </p:nvSpPr>
        <p:spPr>
          <a:xfrm>
            <a:off x="9555480" y="3200400"/>
            <a:ext cx="2057400" cy="256032"/>
          </a:xfrm>
          <a:prstGeom prst="rect">
            <a:avLst/>
          </a:prstGeom>
          <a:noFill/>
          <a:ln/>
        </p:spPr>
        <p:txBody>
          <a:bodyPr wrap="square" lIns="0" tIns="0" rIns="0" bIns="0" rtlCol="0" anchor="t"/>
          <a:lstStyle/>
          <a:p>
            <a:pPr algn="ctr" indent="0" marL="0">
              <a:buNone/>
            </a:pPr>
            <a:r>
              <a:rPr lang="en-US" sz="1100" dirty="0">
                <a:solidFill>
                  <a:srgbClr val="A6A6A6"/>
                </a:solidFill>
                <a:latin typeface="Calibri" pitchFamily="34" charset="0"/>
                <a:ea typeface="Calibri" pitchFamily="34" charset="-122"/>
                <a:cs typeface="Calibri" pitchFamily="34" charset="-120"/>
              </a:rPr>
              <a:t>MRI</a:t>
            </a:r>
            <a:endParaRPr lang="en-US" sz="1100" dirty="0"/>
          </a:p>
        </p:txBody>
      </p:sp>
      <p:pic>
        <p:nvPicPr>
          <p:cNvPr id="10" name="hero-seg_overlay" descr="U-Net segmentation">    </p:cNvPr>
          <p:cNvPicPr>
            <a:picLocks noChangeAspect="1"/>
          </p:cNvPicPr>
          <p:nvPr/>
        </p:nvPicPr>
        <p:blipFill>
          <a:blip r:embed="rId3"/>
          <a:stretch>
            <a:fillRect/>
          </a:stretch>
        </p:blipFill>
        <p:spPr>
          <a:xfrm>
            <a:off x="7315200" y="3520440"/>
            <a:ext cx="2057400" cy="2057400"/>
          </a:xfrm>
          <a:prstGeom prst="rect">
            <a:avLst/>
          </a:prstGeom>
        </p:spPr>
      </p:pic>
      <p:sp>
        <p:nvSpPr>
          <p:cNvPr id="11" name="Text 6"/>
          <p:cNvSpPr txBox="1"/>
          <p:nvPr/>
        </p:nvSpPr>
        <p:spPr>
          <a:xfrm>
            <a:off x="7315200" y="5623560"/>
            <a:ext cx="2057400" cy="256032"/>
          </a:xfrm>
          <a:prstGeom prst="rect">
            <a:avLst/>
          </a:prstGeom>
          <a:noFill/>
          <a:ln/>
        </p:spPr>
        <p:txBody>
          <a:bodyPr wrap="square" lIns="0" tIns="0" rIns="0" bIns="0" rtlCol="0" anchor="t"/>
          <a:lstStyle/>
          <a:p>
            <a:pPr algn="ctr" indent="0" marL="0">
              <a:buNone/>
            </a:pPr>
            <a:r>
              <a:rPr lang="en-US" sz="1100" dirty="0">
                <a:solidFill>
                  <a:srgbClr val="A6A6A6"/>
                </a:solidFill>
                <a:latin typeface="Calibri" pitchFamily="34" charset="0"/>
                <a:ea typeface="Calibri" pitchFamily="34" charset="-122"/>
                <a:cs typeface="Calibri" pitchFamily="34" charset="-120"/>
              </a:rPr>
              <a:t>U-Net segmentation</a:t>
            </a:r>
            <a:endParaRPr lang="en-US" sz="1100" dirty="0"/>
          </a:p>
        </p:txBody>
      </p:sp>
      <p:pic>
        <p:nvPicPr>
          <p:cNvPr id="12" name="hero-render" descr="3D volume rendering">    </p:cNvPr>
          <p:cNvPicPr>
            <a:picLocks noChangeAspect="1"/>
          </p:cNvPicPr>
          <p:nvPr/>
        </p:nvPicPr>
        <p:blipFill>
          <a:blip r:embed="rId4"/>
          <a:stretch>
            <a:fillRect/>
          </a:stretch>
        </p:blipFill>
        <p:spPr>
          <a:xfrm>
            <a:off x="9555480" y="3520440"/>
            <a:ext cx="2057400" cy="2057400"/>
          </a:xfrm>
          <a:prstGeom prst="rect">
            <a:avLst/>
          </a:prstGeom>
        </p:spPr>
      </p:pic>
      <p:sp>
        <p:nvSpPr>
          <p:cNvPr id="13" name="Text 7"/>
          <p:cNvSpPr txBox="1"/>
          <p:nvPr/>
        </p:nvSpPr>
        <p:spPr>
          <a:xfrm>
            <a:off x="9555480" y="5623560"/>
            <a:ext cx="2057400" cy="256032"/>
          </a:xfrm>
          <a:prstGeom prst="rect">
            <a:avLst/>
          </a:prstGeom>
          <a:noFill/>
          <a:ln/>
        </p:spPr>
        <p:txBody>
          <a:bodyPr wrap="square" lIns="0" tIns="0" rIns="0" bIns="0" rtlCol="0" anchor="t"/>
          <a:lstStyle/>
          <a:p>
            <a:pPr algn="ctr" indent="0" marL="0">
              <a:buNone/>
            </a:pPr>
            <a:r>
              <a:rPr lang="en-US" sz="1100" dirty="0">
                <a:solidFill>
                  <a:srgbClr val="A6A6A6"/>
                </a:solidFill>
                <a:latin typeface="Calibri" pitchFamily="34" charset="0"/>
                <a:ea typeface="Calibri" pitchFamily="34" charset="-122"/>
                <a:cs typeface="Calibri" pitchFamily="34" charset="-120"/>
              </a:rPr>
              <a:t>3D volume rendering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1  ·  MEDICAL IMAGING &amp; PROBLEM DEFINITION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Team, roles and flow of the presentation</a:t>
            </a:r>
            <a:endParaRPr lang="en-US" sz="3400" dirty="0"/>
          </a:p>
        </p:txBody>
      </p:sp>
      <p:sp>
        <p:nvSpPr>
          <p:cNvPr id="4" name="role-1"/>
          <p:cNvSpPr/>
          <p:nvPr/>
        </p:nvSpPr>
        <p:spPr>
          <a:xfrm>
            <a:off x="548640" y="1325880"/>
            <a:ext cx="3566160" cy="2286000"/>
          </a:xfrm>
          <a:prstGeom prst="roundRect">
            <a:avLst>
              <a:gd name="adj" fmla="val 3200"/>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role-num-1"/>
          <p:cNvSpPr/>
          <p:nvPr/>
        </p:nvSpPr>
        <p:spPr>
          <a:xfrm>
            <a:off x="777240" y="1554480"/>
            <a:ext cx="594360" cy="594360"/>
          </a:xfrm>
          <a:prstGeom prst="ellipse">
            <a:avLst/>
          </a:prstGeom>
          <a:solidFill>
            <a:srgbClr val="000000"/>
          </a:solidFill>
          <a:ln/>
        </p:spPr>
      </p:sp>
      <p:sp>
        <p:nvSpPr>
          <p:cNvPr id="6" name="Text 4"/>
          <p:cNvSpPr txBox="1"/>
          <p:nvPr/>
        </p:nvSpPr>
        <p:spPr>
          <a:xfrm>
            <a:off x="777240" y="15544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554480" y="1554480"/>
            <a:ext cx="23774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Member 1</a:t>
            </a:r>
            <a:endParaRPr lang="en-US" sz="1200" dirty="0"/>
          </a:p>
        </p:txBody>
      </p:sp>
      <p:sp>
        <p:nvSpPr>
          <p:cNvPr id="8" name="Text 6"/>
          <p:cNvSpPr txBox="1"/>
          <p:nvPr/>
        </p:nvSpPr>
        <p:spPr>
          <a:xfrm>
            <a:off x="1554480" y="1828800"/>
            <a:ext cx="24231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Medical imaging &amp; problem</a:t>
            </a:r>
            <a:endParaRPr lang="en-US" sz="1600" dirty="0"/>
          </a:p>
        </p:txBody>
      </p:sp>
      <p:sp>
        <p:nvSpPr>
          <p:cNvPr id="9" name="Text 7"/>
          <p:cNvSpPr txBox="1"/>
          <p:nvPr/>
        </p:nvSpPr>
        <p:spPr>
          <a:xfrm>
            <a:off x="777240" y="2331720"/>
            <a:ext cx="315468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CT vs MRI, data formats, data sources, problem statement</a:t>
            </a:r>
            <a:endParaRPr lang="en-US" sz="1300" dirty="0"/>
          </a:p>
        </p:txBody>
      </p:sp>
      <p:sp>
        <p:nvSpPr>
          <p:cNvPr id="10" name="Text 8"/>
          <p:cNvSpPr txBox="1"/>
          <p:nvPr/>
        </p:nvSpPr>
        <p:spPr>
          <a:xfrm>
            <a:off x="777240" y="3154680"/>
            <a:ext cx="3108960" cy="27432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Slides 1–6</a:t>
            </a:r>
            <a:endParaRPr lang="en-US" sz="1200" dirty="0"/>
          </a:p>
        </p:txBody>
      </p:sp>
      <p:sp>
        <p:nvSpPr>
          <p:cNvPr id="11" name="role-2"/>
          <p:cNvSpPr/>
          <p:nvPr/>
        </p:nvSpPr>
        <p:spPr>
          <a:xfrm>
            <a:off x="4297680" y="1325880"/>
            <a:ext cx="3566160" cy="2286000"/>
          </a:xfrm>
          <a:prstGeom prst="roundRect">
            <a:avLst>
              <a:gd name="adj" fmla="val 3200"/>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2" name="role-num-2"/>
          <p:cNvSpPr/>
          <p:nvPr/>
        </p:nvSpPr>
        <p:spPr>
          <a:xfrm>
            <a:off x="4526280" y="1554480"/>
            <a:ext cx="594360" cy="594360"/>
          </a:xfrm>
          <a:prstGeom prst="ellipse">
            <a:avLst/>
          </a:prstGeom>
          <a:solidFill>
            <a:srgbClr val="000000"/>
          </a:solidFill>
          <a:ln/>
        </p:spPr>
      </p:sp>
      <p:sp>
        <p:nvSpPr>
          <p:cNvPr id="13" name="Text 11"/>
          <p:cNvSpPr txBox="1"/>
          <p:nvPr/>
        </p:nvSpPr>
        <p:spPr>
          <a:xfrm>
            <a:off x="4526280" y="15544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2"/>
          <p:cNvSpPr txBox="1"/>
          <p:nvPr/>
        </p:nvSpPr>
        <p:spPr>
          <a:xfrm>
            <a:off x="5303520" y="1554480"/>
            <a:ext cx="23774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Member 2</a:t>
            </a:r>
            <a:endParaRPr lang="en-US" sz="1200" dirty="0"/>
          </a:p>
        </p:txBody>
      </p:sp>
      <p:sp>
        <p:nvSpPr>
          <p:cNvPr id="15" name="Text 13"/>
          <p:cNvSpPr txBox="1"/>
          <p:nvPr/>
        </p:nvSpPr>
        <p:spPr>
          <a:xfrm>
            <a:off x="5303520" y="1828800"/>
            <a:ext cx="24231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GPU architecture</a:t>
            </a:r>
            <a:endParaRPr lang="en-US" sz="1600" dirty="0"/>
          </a:p>
        </p:txBody>
      </p:sp>
      <p:sp>
        <p:nvSpPr>
          <p:cNvPr id="16" name="Text 14"/>
          <p:cNvSpPr txBox="1"/>
          <p:nvPr/>
        </p:nvSpPr>
        <p:spPr>
          <a:xfrm>
            <a:off x="4526280" y="2331720"/>
            <a:ext cx="315468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Preprocessing, image operations, CPU vs GPU, thread &amp; memory hierarchy</a:t>
            </a:r>
            <a:endParaRPr lang="en-US" sz="1300" dirty="0"/>
          </a:p>
        </p:txBody>
      </p:sp>
      <p:sp>
        <p:nvSpPr>
          <p:cNvPr id="17" name="Text 15"/>
          <p:cNvSpPr txBox="1"/>
          <p:nvPr/>
        </p:nvSpPr>
        <p:spPr>
          <a:xfrm>
            <a:off x="4526280" y="3154680"/>
            <a:ext cx="3108960" cy="27432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Slides 7–11</a:t>
            </a:r>
            <a:endParaRPr lang="en-US" sz="1200" dirty="0"/>
          </a:p>
        </p:txBody>
      </p:sp>
      <p:sp>
        <p:nvSpPr>
          <p:cNvPr id="18" name="role-3"/>
          <p:cNvSpPr/>
          <p:nvPr/>
        </p:nvSpPr>
        <p:spPr>
          <a:xfrm>
            <a:off x="8046720" y="1325880"/>
            <a:ext cx="3566160" cy="2286000"/>
          </a:xfrm>
          <a:prstGeom prst="roundRect">
            <a:avLst>
              <a:gd name="adj" fmla="val 3200"/>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9" name="role-num-3"/>
          <p:cNvSpPr/>
          <p:nvPr/>
        </p:nvSpPr>
        <p:spPr>
          <a:xfrm>
            <a:off x="8275320" y="1554480"/>
            <a:ext cx="594360" cy="594360"/>
          </a:xfrm>
          <a:prstGeom prst="ellipse">
            <a:avLst/>
          </a:prstGeom>
          <a:solidFill>
            <a:srgbClr val="000000"/>
          </a:solidFill>
          <a:ln/>
        </p:spPr>
      </p:sp>
      <p:sp>
        <p:nvSpPr>
          <p:cNvPr id="20" name="Text 18"/>
          <p:cNvSpPr txBox="1"/>
          <p:nvPr/>
        </p:nvSpPr>
        <p:spPr>
          <a:xfrm>
            <a:off x="8275320" y="15544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txBox="1"/>
          <p:nvPr/>
        </p:nvSpPr>
        <p:spPr>
          <a:xfrm>
            <a:off x="9052560" y="1554480"/>
            <a:ext cx="23774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Member 3</a:t>
            </a:r>
            <a:endParaRPr lang="en-US" sz="1200" dirty="0"/>
          </a:p>
        </p:txBody>
      </p:sp>
      <p:sp>
        <p:nvSpPr>
          <p:cNvPr id="22" name="Text 20"/>
          <p:cNvSpPr txBox="1"/>
          <p:nvPr/>
        </p:nvSpPr>
        <p:spPr>
          <a:xfrm>
            <a:off x="9052560" y="1828800"/>
            <a:ext cx="24231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Algorithms &amp; system</a:t>
            </a:r>
            <a:endParaRPr lang="en-US" sz="1600" dirty="0"/>
          </a:p>
        </p:txBody>
      </p:sp>
      <p:sp>
        <p:nvSpPr>
          <p:cNvPr id="23" name="Text 21"/>
          <p:cNvSpPr txBox="1"/>
          <p:nvPr/>
        </p:nvSpPr>
        <p:spPr>
          <a:xfrm>
            <a:off x="8275320" y="2331720"/>
            <a:ext cx="315468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Gaussian filter, Otsu threshold, U-Net, CPU/GPU workflow, data movement</a:t>
            </a:r>
            <a:endParaRPr lang="en-US" sz="1300" dirty="0"/>
          </a:p>
        </p:txBody>
      </p:sp>
      <p:sp>
        <p:nvSpPr>
          <p:cNvPr id="24" name="Text 22"/>
          <p:cNvSpPr txBox="1"/>
          <p:nvPr/>
        </p:nvSpPr>
        <p:spPr>
          <a:xfrm>
            <a:off x="8275320" y="3154680"/>
            <a:ext cx="3108960" cy="27432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Slides 12–17</a:t>
            </a:r>
            <a:endParaRPr lang="en-US" sz="1200" dirty="0"/>
          </a:p>
        </p:txBody>
      </p:sp>
      <p:sp>
        <p:nvSpPr>
          <p:cNvPr id="25" name="role-4"/>
          <p:cNvSpPr/>
          <p:nvPr/>
        </p:nvSpPr>
        <p:spPr>
          <a:xfrm>
            <a:off x="548640" y="3794760"/>
            <a:ext cx="3566160" cy="2286000"/>
          </a:xfrm>
          <a:prstGeom prst="roundRect">
            <a:avLst>
              <a:gd name="adj" fmla="val 3200"/>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26" name="role-num-4"/>
          <p:cNvSpPr/>
          <p:nvPr/>
        </p:nvSpPr>
        <p:spPr>
          <a:xfrm>
            <a:off x="777240" y="4023360"/>
            <a:ext cx="594360" cy="594360"/>
          </a:xfrm>
          <a:prstGeom prst="ellipse">
            <a:avLst/>
          </a:prstGeom>
          <a:solidFill>
            <a:srgbClr val="000000"/>
          </a:solidFill>
          <a:ln/>
        </p:spPr>
      </p:sp>
      <p:sp>
        <p:nvSpPr>
          <p:cNvPr id="27" name="Text 25"/>
          <p:cNvSpPr txBox="1"/>
          <p:nvPr/>
        </p:nvSpPr>
        <p:spPr>
          <a:xfrm>
            <a:off x="777240" y="40233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8" name="Text 26"/>
          <p:cNvSpPr txBox="1"/>
          <p:nvPr/>
        </p:nvSpPr>
        <p:spPr>
          <a:xfrm>
            <a:off x="1554480" y="4023360"/>
            <a:ext cx="23774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Member 4</a:t>
            </a:r>
            <a:endParaRPr lang="en-US" sz="1200" dirty="0"/>
          </a:p>
        </p:txBody>
      </p:sp>
      <p:sp>
        <p:nvSpPr>
          <p:cNvPr id="29" name="Text 27"/>
          <p:cNvSpPr txBox="1"/>
          <p:nvPr/>
        </p:nvSpPr>
        <p:spPr>
          <a:xfrm>
            <a:off x="1554480" y="4297680"/>
            <a:ext cx="24231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Implementation</a:t>
            </a:r>
            <a:endParaRPr lang="en-US" sz="1600" dirty="0"/>
          </a:p>
        </p:txBody>
      </p:sp>
      <p:sp>
        <p:nvSpPr>
          <p:cNvPr id="30" name="Text 28"/>
          <p:cNvSpPr txBox="1"/>
          <p:nvPr/>
        </p:nvSpPr>
        <p:spPr>
          <a:xfrm>
            <a:off x="777240" y="4800600"/>
            <a:ext cx="315468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Code walkthrough of every stage, output images, CPU vs GPU validation</a:t>
            </a:r>
            <a:endParaRPr lang="en-US" sz="1300" dirty="0"/>
          </a:p>
        </p:txBody>
      </p:sp>
      <p:sp>
        <p:nvSpPr>
          <p:cNvPr id="31" name="Text 29"/>
          <p:cNvSpPr txBox="1"/>
          <p:nvPr/>
        </p:nvSpPr>
        <p:spPr>
          <a:xfrm>
            <a:off x="777240" y="5623560"/>
            <a:ext cx="3108960" cy="27432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Slides 18–24</a:t>
            </a:r>
            <a:endParaRPr lang="en-US" sz="1200" dirty="0"/>
          </a:p>
        </p:txBody>
      </p:sp>
      <p:sp>
        <p:nvSpPr>
          <p:cNvPr id="32" name="role-5"/>
          <p:cNvSpPr/>
          <p:nvPr/>
        </p:nvSpPr>
        <p:spPr>
          <a:xfrm>
            <a:off x="4297680" y="3794760"/>
            <a:ext cx="3566160" cy="2286000"/>
          </a:xfrm>
          <a:prstGeom prst="roundRect">
            <a:avLst>
              <a:gd name="adj" fmla="val 3200"/>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33" name="role-num-5"/>
          <p:cNvSpPr/>
          <p:nvPr/>
        </p:nvSpPr>
        <p:spPr>
          <a:xfrm>
            <a:off x="4526280" y="4023360"/>
            <a:ext cx="594360" cy="594360"/>
          </a:xfrm>
          <a:prstGeom prst="ellipse">
            <a:avLst/>
          </a:prstGeom>
          <a:solidFill>
            <a:srgbClr val="000000"/>
          </a:solidFill>
          <a:ln/>
        </p:spPr>
      </p:sp>
      <p:sp>
        <p:nvSpPr>
          <p:cNvPr id="34" name="Text 32"/>
          <p:cNvSpPr txBox="1"/>
          <p:nvPr/>
        </p:nvSpPr>
        <p:spPr>
          <a:xfrm>
            <a:off x="4526280" y="40233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5" name="Text 33"/>
          <p:cNvSpPr txBox="1"/>
          <p:nvPr/>
        </p:nvSpPr>
        <p:spPr>
          <a:xfrm>
            <a:off x="5303520" y="4023360"/>
            <a:ext cx="23774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Member 5</a:t>
            </a:r>
            <a:endParaRPr lang="en-US" sz="1200" dirty="0"/>
          </a:p>
        </p:txBody>
      </p:sp>
      <p:sp>
        <p:nvSpPr>
          <p:cNvPr id="36" name="Text 34"/>
          <p:cNvSpPr txBox="1"/>
          <p:nvPr/>
        </p:nvSpPr>
        <p:spPr>
          <a:xfrm>
            <a:off x="5303520" y="4297680"/>
            <a:ext cx="24231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Performance</a:t>
            </a:r>
            <a:endParaRPr lang="en-US" sz="1600" dirty="0"/>
          </a:p>
        </p:txBody>
      </p:sp>
      <p:sp>
        <p:nvSpPr>
          <p:cNvPr id="37" name="Text 35"/>
          <p:cNvSpPr txBox="1"/>
          <p:nvPr/>
        </p:nvSpPr>
        <p:spPr>
          <a:xfrm>
            <a:off x="4526280" y="4800600"/>
            <a:ext cx="315468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Benchmark design, timings, speedup, scaling, transfer cost</a:t>
            </a:r>
            <a:endParaRPr lang="en-US" sz="1300" dirty="0"/>
          </a:p>
        </p:txBody>
      </p:sp>
      <p:sp>
        <p:nvSpPr>
          <p:cNvPr id="38" name="Text 36"/>
          <p:cNvSpPr txBox="1"/>
          <p:nvPr/>
        </p:nvSpPr>
        <p:spPr>
          <a:xfrm>
            <a:off x="4526280" y="5623560"/>
            <a:ext cx="3108960" cy="27432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Slides 25–28</a:t>
            </a:r>
            <a:endParaRPr lang="en-US" sz="1200" dirty="0"/>
          </a:p>
        </p:txBody>
      </p:sp>
      <p:sp>
        <p:nvSpPr>
          <p:cNvPr id="39" name="role-6"/>
          <p:cNvSpPr/>
          <p:nvPr/>
        </p:nvSpPr>
        <p:spPr>
          <a:xfrm>
            <a:off x="8046720" y="3794760"/>
            <a:ext cx="3566160" cy="2286000"/>
          </a:xfrm>
          <a:prstGeom prst="roundRect">
            <a:avLst>
              <a:gd name="adj" fmla="val 3200"/>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0" name="role-num-6"/>
          <p:cNvSpPr/>
          <p:nvPr/>
        </p:nvSpPr>
        <p:spPr>
          <a:xfrm>
            <a:off x="8275320" y="4023360"/>
            <a:ext cx="594360" cy="594360"/>
          </a:xfrm>
          <a:prstGeom prst="ellipse">
            <a:avLst/>
          </a:prstGeom>
          <a:solidFill>
            <a:srgbClr val="000000"/>
          </a:solidFill>
          <a:ln/>
        </p:spPr>
      </p:sp>
      <p:sp>
        <p:nvSpPr>
          <p:cNvPr id="41" name="Text 39"/>
          <p:cNvSpPr txBox="1"/>
          <p:nvPr/>
        </p:nvSpPr>
        <p:spPr>
          <a:xfrm>
            <a:off x="8275320" y="40233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42" name="Text 40"/>
          <p:cNvSpPr txBox="1"/>
          <p:nvPr/>
        </p:nvSpPr>
        <p:spPr>
          <a:xfrm>
            <a:off x="9052560" y="4023360"/>
            <a:ext cx="237744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Member 6</a:t>
            </a:r>
            <a:endParaRPr lang="en-US" sz="1200" dirty="0"/>
          </a:p>
        </p:txBody>
      </p:sp>
      <p:sp>
        <p:nvSpPr>
          <p:cNvPr id="43" name="Text 41"/>
          <p:cNvSpPr txBox="1"/>
          <p:nvPr/>
        </p:nvSpPr>
        <p:spPr>
          <a:xfrm>
            <a:off x="9052560" y="4297680"/>
            <a:ext cx="24231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Discussion</a:t>
            </a:r>
            <a:endParaRPr lang="en-US" sz="1600" dirty="0"/>
          </a:p>
        </p:txBody>
      </p:sp>
      <p:sp>
        <p:nvSpPr>
          <p:cNvPr id="44" name="Text 42"/>
          <p:cNvSpPr txBox="1"/>
          <p:nvPr/>
        </p:nvSpPr>
        <p:spPr>
          <a:xfrm>
            <a:off x="8275320" y="4800600"/>
            <a:ext cx="315468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Challenges, real-world use, future scope, conclusion, references</a:t>
            </a:r>
            <a:endParaRPr lang="en-US" sz="1300" dirty="0"/>
          </a:p>
        </p:txBody>
      </p:sp>
      <p:sp>
        <p:nvSpPr>
          <p:cNvPr id="45" name="Text 43"/>
          <p:cNvSpPr txBox="1"/>
          <p:nvPr/>
        </p:nvSpPr>
        <p:spPr>
          <a:xfrm>
            <a:off x="8275320" y="5623560"/>
            <a:ext cx="3108960" cy="27432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Slides 29–32</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1  ·  MEDICAL IMAGING &amp; PROBLEM DEFINITION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CT works: X-ray projections → sinogram → image</a:t>
            </a:r>
            <a:endParaRPr lang="en-US" sz="3400" dirty="0"/>
          </a:p>
        </p:txBody>
      </p:sp>
      <p:sp>
        <p:nvSpPr>
          <p:cNvPr id="4" name="ct-sketch"/>
          <p:cNvSpPr/>
          <p:nvPr/>
        </p:nvSpPr>
        <p:spPr>
          <a:xfrm>
            <a:off x="548640" y="1325880"/>
            <a:ext cx="3840480" cy="3291840"/>
          </a:xfrm>
          <a:prstGeom prst="roundRect">
            <a:avLst>
              <a:gd name="adj" fmla="val 2222"/>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gantry"/>
          <p:cNvSpPr/>
          <p:nvPr/>
        </p:nvSpPr>
        <p:spPr>
          <a:xfrm>
            <a:off x="1417320" y="1691640"/>
            <a:ext cx="2103120" cy="2103120"/>
          </a:xfrm>
          <a:prstGeom prst="ellipse">
            <a:avLst/>
          </a:prstGeom>
          <a:solidFill>
            <a:srgbClr val="FFFFFF"/>
          </a:solidFill>
          <a:ln w="19050">
            <a:solidFill>
              <a:srgbClr val="000000"/>
            </a:solidFill>
            <a:prstDash val="dash"/>
          </a:ln>
        </p:spPr>
      </p:sp>
      <p:sp>
        <p:nvSpPr>
          <p:cNvPr id="6" name="patient"/>
          <p:cNvSpPr/>
          <p:nvPr/>
        </p:nvSpPr>
        <p:spPr>
          <a:xfrm>
            <a:off x="2057400" y="2331720"/>
            <a:ext cx="822960" cy="822960"/>
          </a:xfrm>
          <a:prstGeom prst="ellipse">
            <a:avLst/>
          </a:prstGeom>
          <a:solidFill>
            <a:srgbClr val="BFBFBF"/>
          </a:solidFill>
          <a:ln/>
        </p:spPr>
      </p:sp>
      <p:sp>
        <p:nvSpPr>
          <p:cNvPr id="7" name="Text 5"/>
          <p:cNvSpPr txBox="1"/>
          <p:nvPr/>
        </p:nvSpPr>
        <p:spPr>
          <a:xfrm>
            <a:off x="2057400" y="2331720"/>
            <a:ext cx="822960" cy="822960"/>
          </a:xfrm>
          <a:prstGeom prst="rect">
            <a:avLst/>
          </a:prstGeom>
          <a:noFill/>
          <a:ln/>
        </p:spPr>
        <p:txBody>
          <a:bodyPr wrap="square" lIns="0" tIns="0" rIns="0" bIns="0"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patient</a:t>
            </a:r>
            <a:endParaRPr lang="en-US" sz="1000" dirty="0"/>
          </a:p>
        </p:txBody>
      </p:sp>
      <p:sp>
        <p:nvSpPr>
          <p:cNvPr id="8" name="source"/>
          <p:cNvSpPr/>
          <p:nvPr/>
        </p:nvSpPr>
        <p:spPr>
          <a:xfrm>
            <a:off x="2148840" y="1463040"/>
            <a:ext cx="640080" cy="365760"/>
          </a:xfrm>
          <a:prstGeom prst="roundRect">
            <a:avLst>
              <a:gd name="adj" fmla="val 12500"/>
            </a:avLst>
          </a:prstGeom>
          <a:solidFill>
            <a:srgbClr val="000000"/>
          </a:solidFill>
          <a:ln w="12700">
            <a:solidFill>
              <a:srgbClr val="000000"/>
            </a:solidFill>
            <a:prstDash val="solid"/>
          </a:ln>
        </p:spPr>
      </p:sp>
      <p:sp>
        <p:nvSpPr>
          <p:cNvPr id="9" name="Text 7"/>
          <p:cNvSpPr txBox="1"/>
          <p:nvPr/>
        </p:nvSpPr>
        <p:spPr>
          <a:xfrm>
            <a:off x="2194560" y="1463040"/>
            <a:ext cx="54864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X-ray</a:t>
            </a:r>
            <a:endParaRPr lang="en-US" sz="1000" dirty="0"/>
          </a:p>
        </p:txBody>
      </p:sp>
      <p:sp>
        <p:nvSpPr>
          <p:cNvPr id="10" name="detector"/>
          <p:cNvSpPr/>
          <p:nvPr/>
        </p:nvSpPr>
        <p:spPr>
          <a:xfrm>
            <a:off x="1737360" y="3703320"/>
            <a:ext cx="1463040" cy="164592"/>
          </a:xfrm>
          <a:prstGeom prst="rect">
            <a:avLst/>
          </a:prstGeom>
          <a:solidFill>
            <a:srgbClr val="000000"/>
          </a:solidFill>
          <a:ln/>
        </p:spPr>
      </p:sp>
      <p:sp>
        <p:nvSpPr>
          <p:cNvPr id="11" name="beam"/>
          <p:cNvSpPr/>
          <p:nvPr/>
        </p:nvSpPr>
        <p:spPr>
          <a:xfrm>
            <a:off x="2468880" y="1828800"/>
            <a:ext cx="0" cy="1828800"/>
          </a:xfrm>
          <a:prstGeom prst="line">
            <a:avLst/>
          </a:prstGeom>
          <a:noFill/>
          <a:ln w="22225">
            <a:solidFill>
              <a:srgbClr val="000000"/>
            </a:solidFill>
            <a:prstDash val="solid"/>
            <a:tailEnd type="triangle"/>
          </a:ln>
        </p:spPr>
      </p:sp>
      <p:sp>
        <p:nvSpPr>
          <p:cNvPr id="12" name="Text 10"/>
          <p:cNvSpPr txBox="1"/>
          <p:nvPr/>
        </p:nvSpPr>
        <p:spPr>
          <a:xfrm>
            <a:off x="1188720" y="3931920"/>
            <a:ext cx="2560320" cy="27432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detector row (D bins)</a:t>
            </a:r>
            <a:endParaRPr lang="en-US" sz="1100" dirty="0"/>
          </a:p>
        </p:txBody>
      </p:sp>
      <p:sp>
        <p:nvSpPr>
          <p:cNvPr id="13" name="Text 11"/>
          <p:cNvSpPr txBox="1"/>
          <p:nvPr/>
        </p:nvSpPr>
        <p:spPr>
          <a:xfrm>
            <a:off x="731520" y="4206240"/>
            <a:ext cx="3474720" cy="36576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Tube and detector rotate 180°+; one projection per angle</a:t>
            </a:r>
            <a:endParaRPr lang="en-US" sz="1100" dirty="0"/>
          </a:p>
        </p:txBody>
      </p:sp>
      <p:sp>
        <p:nvSpPr>
          <p:cNvPr id="14" name="Text 12"/>
          <p:cNvSpPr txBox="1"/>
          <p:nvPr/>
        </p:nvSpPr>
        <p:spPr>
          <a:xfrm>
            <a:off x="4663440" y="1325880"/>
            <a:ext cx="36576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What is measured</a:t>
            </a:r>
            <a:endParaRPr lang="en-US" sz="1500" dirty="0"/>
          </a:p>
        </p:txBody>
      </p:sp>
      <p:sp>
        <p:nvSpPr>
          <p:cNvPr id="15" name="Text 13"/>
          <p:cNvSpPr txBox="1"/>
          <p:nvPr/>
        </p:nvSpPr>
        <p:spPr>
          <a:xfrm>
            <a:off x="4663440" y="1691640"/>
            <a:ext cx="4206240" cy="2377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Each detector bin records how much X-ray is absorbed along one line</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Radon transform: p(θ, t) = ∫∫ f(x, y) δ(x cos θ + y sin θ − t) dx dy</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All projections stacked = sinogram, A angles × D detectors</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Reconstruction inverts this (stage 1: filtered back projection)</a:t>
            </a:r>
            <a:endParaRPr lang="en-US" sz="1300" dirty="0"/>
          </a:p>
        </p:txBody>
      </p:sp>
      <p:pic>
        <p:nvPicPr>
          <p:cNvPr id="16" name="sinogram" descr="sinogram">    </p:cNvPr>
          <p:cNvPicPr>
            <a:picLocks noChangeAspect="1"/>
          </p:cNvPicPr>
          <p:nvPr/>
        </p:nvPicPr>
        <p:blipFill>
          <a:blip r:embed="rId1"/>
          <a:stretch>
            <a:fillRect/>
          </a:stretch>
        </p:blipFill>
        <p:spPr>
          <a:xfrm>
            <a:off x="9189720" y="1325880"/>
            <a:ext cx="2423160" cy="2423160"/>
          </a:xfrm>
          <a:prstGeom prst="rect">
            <a:avLst/>
          </a:prstGeom>
        </p:spPr>
      </p:pic>
      <p:sp>
        <p:nvSpPr>
          <p:cNvPr id="17" name="Text 14"/>
          <p:cNvSpPr txBox="1"/>
          <p:nvPr/>
        </p:nvSpPr>
        <p:spPr>
          <a:xfrm>
            <a:off x="9098280" y="3767328"/>
            <a:ext cx="2606040" cy="27432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Our sinogram: 256 angles × 256 detectors</a:t>
            </a:r>
            <a:endParaRPr lang="en-US" sz="1100" dirty="0"/>
          </a:p>
        </p:txBody>
      </p:sp>
      <p:sp>
        <p:nvSpPr>
          <p:cNvPr id="18" name="Text 15"/>
          <p:cNvSpPr txBox="1"/>
          <p:nvPr/>
        </p:nvSpPr>
        <p:spPr>
          <a:xfrm>
            <a:off x="548640" y="4800600"/>
            <a:ext cx="64008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Hounsfield units (HU): how CT stores intensity</a:t>
            </a:r>
            <a:endParaRPr lang="en-US" sz="1500" dirty="0"/>
          </a:p>
        </p:txBody>
      </p:sp>
      <p:graphicFrame>
        <p:nvGraphicFramePr>
          <p:cNvPr id="4" name="hu-table"/>
          <p:cNvGraphicFramePr>
            <a:graphicFrameLocks noGrp="1"/>
          </p:cNvGraphicFramePr>
          <p:nvPr>
            <p:extLst>
              <p:ext uri="{D42A27DB-BD31-4B8C-83A1-F6EECF244321}">
                <p14:modId xmlns:p14="http://schemas.microsoft.com/office/powerpoint/2010/main" val="1579011935"/>
              </p:ext>
            </p:extLst>
          </p:nvPr>
        </p:nvGraphicFramePr>
        <p:xfrm>
          <a:off x="548640" y="5166360"/>
          <a:ext cx="6949440" cy="914400"/>
        </p:xfrm>
        <a:graphic>
          <a:graphicData uri="http://schemas.openxmlformats.org/drawingml/2006/table">
            <a:tbl>
              <a:tblPr/>
              <a:tblGrid>
                <a:gridCol w="1280160"/>
                <a:gridCol w="914400"/>
                <a:gridCol w="1280160"/>
                <a:gridCol w="914400"/>
                <a:gridCol w="1280160"/>
                <a:gridCol w="12801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Tissue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Air</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Water</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Soft tissue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Bone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HU value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-100 to -50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+20 to +80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+400 to +3000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0" name="ct-our"/>
          <p:cNvSpPr/>
          <p:nvPr/>
        </p:nvSpPr>
        <p:spPr>
          <a:xfrm>
            <a:off x="7818120" y="4800600"/>
            <a:ext cx="3794760" cy="1325880"/>
          </a:xfrm>
          <a:prstGeom prst="roundRect">
            <a:avLst>
              <a:gd name="adj" fmla="val 5517"/>
            </a:avLst>
          </a:prstGeom>
          <a:solidFill>
            <a:schemeClr val="bg2"/>
          </a:solidFill>
          <a:ln w="9525">
            <a:solidFill>
              <a:srgbClr val="D9D9D9"/>
            </a:solidFill>
            <a:prstDash val="solid"/>
          </a:ln>
        </p:spPr>
      </p:sp>
      <p:sp>
        <p:nvSpPr>
          <p:cNvPr id="21" name="Text 17"/>
          <p:cNvSpPr txBox="1"/>
          <p:nvPr/>
        </p:nvSpPr>
        <p:spPr>
          <a:xfrm>
            <a:off x="8001000" y="4919472"/>
            <a:ext cx="3474720" cy="114300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In our data: </a:t>
            </a:r>
            <a:pPr indent="0" marL="0">
              <a:buNone/>
            </a:pPr>
            <a:r>
              <a:rPr lang="en-US" sz="1300" dirty="0">
                <a:solidFill>
                  <a:schemeClr val="tx1"/>
                </a:solidFill>
                <a:latin typeface="Calibri" pitchFamily="34" charset="0"/>
                <a:ea typeface="Calibri" pitchFamily="34" charset="-122"/>
                <a:cs typeface="Calibri" pitchFamily="34" charset="-120"/>
              </a:rPr>
              <a:t>the real head CT is stored as 16-bit integers (0–3272), 113 axial slices of 256 × 256, 2 mm apart.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1  ·  MEDICAL IMAGING &amp; PROBLEM DEFINITION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MRI works: magnetic signals sampled in k-space</a:t>
            </a:r>
            <a:endParaRPr lang="en-US" sz="3400" dirty="0"/>
          </a:p>
        </p:txBody>
      </p:sp>
      <p:sp>
        <p:nvSpPr>
          <p:cNvPr id="4" name="mri-step-1"/>
          <p:cNvSpPr/>
          <p:nvPr/>
        </p:nvSpPr>
        <p:spPr>
          <a:xfrm>
            <a:off x="548640" y="1325880"/>
            <a:ext cx="2011680" cy="502920"/>
          </a:xfrm>
          <a:prstGeom prst="roundRect">
            <a:avLst>
              <a:gd name="adj" fmla="val 9091"/>
            </a:avLst>
          </a:prstGeom>
          <a:solidFill>
            <a:srgbClr val="000000"/>
          </a:solidFill>
          <a:ln w="12700">
            <a:solidFill>
              <a:srgbClr val="000000"/>
            </a:solidFill>
            <a:prstDash val="solid"/>
          </a:ln>
        </p:spPr>
      </p:sp>
      <p:sp>
        <p:nvSpPr>
          <p:cNvPr id="5" name="Text 3"/>
          <p:cNvSpPr txBox="1"/>
          <p:nvPr/>
        </p:nvSpPr>
        <p:spPr>
          <a:xfrm>
            <a:off x="594360" y="1325880"/>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Magnet</a:t>
            </a:r>
            <a:endParaRPr lang="en-US" sz="1400" dirty="0"/>
          </a:p>
        </p:txBody>
      </p:sp>
      <p:sp>
        <p:nvSpPr>
          <p:cNvPr id="6" name="Text 4"/>
          <p:cNvSpPr txBox="1"/>
          <p:nvPr/>
        </p:nvSpPr>
        <p:spPr>
          <a:xfrm>
            <a:off x="548640" y="1920240"/>
            <a:ext cx="2011680" cy="68580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B₀ field (1.5–3 T) aligns hydrogen protons</a:t>
            </a:r>
            <a:endParaRPr lang="en-US" sz="1200" dirty="0"/>
          </a:p>
        </p:txBody>
      </p:sp>
      <p:sp>
        <p:nvSpPr>
          <p:cNvPr id="7" name="mri-arr-0"/>
          <p:cNvSpPr/>
          <p:nvPr/>
        </p:nvSpPr>
        <p:spPr>
          <a:xfrm>
            <a:off x="2560320" y="1572768"/>
            <a:ext cx="246888" cy="0"/>
          </a:xfrm>
          <a:prstGeom prst="line">
            <a:avLst/>
          </a:prstGeom>
          <a:noFill/>
          <a:ln w="22225">
            <a:solidFill>
              <a:srgbClr val="000000"/>
            </a:solidFill>
            <a:prstDash val="solid"/>
            <a:tailEnd type="triangle"/>
          </a:ln>
        </p:spPr>
      </p:sp>
      <p:sp>
        <p:nvSpPr>
          <p:cNvPr id="8" name="mri-step-2"/>
          <p:cNvSpPr/>
          <p:nvPr/>
        </p:nvSpPr>
        <p:spPr>
          <a:xfrm>
            <a:off x="2807208" y="1325880"/>
            <a:ext cx="2011680" cy="502920"/>
          </a:xfrm>
          <a:prstGeom prst="roundRect">
            <a:avLst>
              <a:gd name="adj" fmla="val 9091"/>
            </a:avLst>
          </a:prstGeom>
          <a:solidFill>
            <a:srgbClr val="000000"/>
          </a:solidFill>
          <a:ln w="12700">
            <a:solidFill>
              <a:srgbClr val="000000"/>
            </a:solidFill>
            <a:prstDash val="solid"/>
          </a:ln>
        </p:spPr>
      </p:sp>
      <p:sp>
        <p:nvSpPr>
          <p:cNvPr id="9" name="Text 7"/>
          <p:cNvSpPr txBox="1"/>
          <p:nvPr/>
        </p:nvSpPr>
        <p:spPr>
          <a:xfrm>
            <a:off x="2852928" y="1325880"/>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RF pulse</a:t>
            </a:r>
            <a:endParaRPr lang="en-US" sz="1400" dirty="0"/>
          </a:p>
        </p:txBody>
      </p:sp>
      <p:sp>
        <p:nvSpPr>
          <p:cNvPr id="10" name="Text 8"/>
          <p:cNvSpPr txBox="1"/>
          <p:nvPr/>
        </p:nvSpPr>
        <p:spPr>
          <a:xfrm>
            <a:off x="2807208" y="1920240"/>
            <a:ext cx="2011680" cy="68580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tips the protons; they emit a radio signal as they relax</a:t>
            </a:r>
            <a:endParaRPr lang="en-US" sz="1200" dirty="0"/>
          </a:p>
        </p:txBody>
      </p:sp>
      <p:sp>
        <p:nvSpPr>
          <p:cNvPr id="11" name="mri-arr-1"/>
          <p:cNvSpPr/>
          <p:nvPr/>
        </p:nvSpPr>
        <p:spPr>
          <a:xfrm>
            <a:off x="4818888" y="1572768"/>
            <a:ext cx="246888" cy="0"/>
          </a:xfrm>
          <a:prstGeom prst="line">
            <a:avLst/>
          </a:prstGeom>
          <a:noFill/>
          <a:ln w="22225">
            <a:solidFill>
              <a:srgbClr val="000000"/>
            </a:solidFill>
            <a:prstDash val="solid"/>
            <a:tailEnd type="triangle"/>
          </a:ln>
        </p:spPr>
      </p:sp>
      <p:sp>
        <p:nvSpPr>
          <p:cNvPr id="12" name="mri-step-3"/>
          <p:cNvSpPr/>
          <p:nvPr/>
        </p:nvSpPr>
        <p:spPr>
          <a:xfrm>
            <a:off x="5065776" y="1325880"/>
            <a:ext cx="2011680" cy="502920"/>
          </a:xfrm>
          <a:prstGeom prst="roundRect">
            <a:avLst>
              <a:gd name="adj" fmla="val 9091"/>
            </a:avLst>
          </a:prstGeom>
          <a:solidFill>
            <a:srgbClr val="000000"/>
          </a:solidFill>
          <a:ln w="12700">
            <a:solidFill>
              <a:srgbClr val="000000"/>
            </a:solidFill>
            <a:prstDash val="solid"/>
          </a:ln>
        </p:spPr>
      </p:sp>
      <p:sp>
        <p:nvSpPr>
          <p:cNvPr id="13" name="Text 11"/>
          <p:cNvSpPr txBox="1"/>
          <p:nvPr/>
        </p:nvSpPr>
        <p:spPr>
          <a:xfrm>
            <a:off x="5111496" y="1325880"/>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  Gradients</a:t>
            </a:r>
            <a:endParaRPr lang="en-US" sz="1400" dirty="0"/>
          </a:p>
        </p:txBody>
      </p:sp>
      <p:sp>
        <p:nvSpPr>
          <p:cNvPr id="14" name="Text 12"/>
          <p:cNvSpPr txBox="1"/>
          <p:nvPr/>
        </p:nvSpPr>
        <p:spPr>
          <a:xfrm>
            <a:off x="5065776" y="1920240"/>
            <a:ext cx="2011680" cy="68580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make frequency and phase depend on position</a:t>
            </a:r>
            <a:endParaRPr lang="en-US" sz="1200" dirty="0"/>
          </a:p>
        </p:txBody>
      </p:sp>
      <p:sp>
        <p:nvSpPr>
          <p:cNvPr id="15" name="mri-arr-2"/>
          <p:cNvSpPr/>
          <p:nvPr/>
        </p:nvSpPr>
        <p:spPr>
          <a:xfrm>
            <a:off x="7077456" y="1572768"/>
            <a:ext cx="246888" cy="0"/>
          </a:xfrm>
          <a:prstGeom prst="line">
            <a:avLst/>
          </a:prstGeom>
          <a:noFill/>
          <a:ln w="22225">
            <a:solidFill>
              <a:srgbClr val="000000"/>
            </a:solidFill>
            <a:prstDash val="solid"/>
            <a:tailEnd type="triangle"/>
          </a:ln>
        </p:spPr>
      </p:sp>
      <p:sp>
        <p:nvSpPr>
          <p:cNvPr id="16" name="mri-step-4"/>
          <p:cNvSpPr/>
          <p:nvPr/>
        </p:nvSpPr>
        <p:spPr>
          <a:xfrm>
            <a:off x="7324344" y="1325880"/>
            <a:ext cx="2011680" cy="502920"/>
          </a:xfrm>
          <a:prstGeom prst="roundRect">
            <a:avLst>
              <a:gd name="adj" fmla="val 9091"/>
            </a:avLst>
          </a:prstGeom>
          <a:solidFill>
            <a:srgbClr val="000000"/>
          </a:solidFill>
          <a:ln w="12700">
            <a:solidFill>
              <a:srgbClr val="000000"/>
            </a:solidFill>
            <a:prstDash val="solid"/>
          </a:ln>
        </p:spPr>
      </p:sp>
      <p:sp>
        <p:nvSpPr>
          <p:cNvPr id="17" name="Text 15"/>
          <p:cNvSpPr txBox="1"/>
          <p:nvPr/>
        </p:nvSpPr>
        <p:spPr>
          <a:xfrm>
            <a:off x="7370064" y="1325880"/>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  Sample</a:t>
            </a:r>
            <a:endParaRPr lang="en-US" sz="1400" dirty="0"/>
          </a:p>
        </p:txBody>
      </p:sp>
      <p:sp>
        <p:nvSpPr>
          <p:cNvPr id="18" name="Text 16"/>
          <p:cNvSpPr txBox="1"/>
          <p:nvPr/>
        </p:nvSpPr>
        <p:spPr>
          <a:xfrm>
            <a:off x="7324344" y="1920240"/>
            <a:ext cx="2011680" cy="68580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one line of k-space per repetition (TR)</a:t>
            </a:r>
            <a:endParaRPr lang="en-US" sz="1200" dirty="0"/>
          </a:p>
        </p:txBody>
      </p:sp>
      <p:sp>
        <p:nvSpPr>
          <p:cNvPr id="19" name="mri-arr-3"/>
          <p:cNvSpPr/>
          <p:nvPr/>
        </p:nvSpPr>
        <p:spPr>
          <a:xfrm>
            <a:off x="9336024" y="1572768"/>
            <a:ext cx="246888" cy="0"/>
          </a:xfrm>
          <a:prstGeom prst="line">
            <a:avLst/>
          </a:prstGeom>
          <a:noFill/>
          <a:ln w="22225">
            <a:solidFill>
              <a:srgbClr val="000000"/>
            </a:solidFill>
            <a:prstDash val="solid"/>
            <a:tailEnd type="triangle"/>
          </a:ln>
        </p:spPr>
      </p:sp>
      <p:sp>
        <p:nvSpPr>
          <p:cNvPr id="20" name="mri-step-5"/>
          <p:cNvSpPr/>
          <p:nvPr/>
        </p:nvSpPr>
        <p:spPr>
          <a:xfrm>
            <a:off x="9582912" y="1325880"/>
            <a:ext cx="2011680" cy="502920"/>
          </a:xfrm>
          <a:prstGeom prst="roundRect">
            <a:avLst>
              <a:gd name="adj" fmla="val 9091"/>
            </a:avLst>
          </a:prstGeom>
          <a:solidFill>
            <a:srgbClr val="000000"/>
          </a:solidFill>
          <a:ln w="12700">
            <a:solidFill>
              <a:srgbClr val="000000"/>
            </a:solidFill>
            <a:prstDash val="solid"/>
          </a:ln>
        </p:spPr>
      </p:sp>
      <p:sp>
        <p:nvSpPr>
          <p:cNvPr id="21" name="Text 19"/>
          <p:cNvSpPr txBox="1"/>
          <p:nvPr/>
        </p:nvSpPr>
        <p:spPr>
          <a:xfrm>
            <a:off x="9628632" y="1325880"/>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Inverse FFT</a:t>
            </a:r>
            <a:endParaRPr lang="en-US" sz="1400" dirty="0"/>
          </a:p>
        </p:txBody>
      </p:sp>
      <p:sp>
        <p:nvSpPr>
          <p:cNvPr id="22" name="Text 20"/>
          <p:cNvSpPr txBox="1"/>
          <p:nvPr/>
        </p:nvSpPr>
        <p:spPr>
          <a:xfrm>
            <a:off x="9582912" y="1920240"/>
            <a:ext cx="2011680" cy="68580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turns k-space into the image</a:t>
            </a:r>
            <a:endParaRPr lang="en-US" sz="1200" dirty="0"/>
          </a:p>
        </p:txBody>
      </p:sp>
      <p:sp>
        <p:nvSpPr>
          <p:cNvPr id="23" name="Text 21"/>
          <p:cNvSpPr txBox="1"/>
          <p:nvPr/>
        </p:nvSpPr>
        <p:spPr>
          <a:xfrm>
            <a:off x="548640" y="278892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The maths</a:t>
            </a:r>
            <a:endParaRPr lang="en-US" sz="1500" dirty="0"/>
          </a:p>
        </p:txBody>
      </p:sp>
      <p:sp>
        <p:nvSpPr>
          <p:cNvPr id="24" name="Text 22"/>
          <p:cNvSpPr txBox="1"/>
          <p:nvPr/>
        </p:nvSpPr>
        <p:spPr>
          <a:xfrm>
            <a:off x="548640" y="3154680"/>
            <a:ext cx="630936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Signal: s(kx, ky) = ∫∫ m(x, y) · e^(−i2π(kx·x + ky·y)) dx dy, a 2D Fourier transform</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So the image is m(x, y) = IFFT2{ s(kx, ky) }</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Centre of k-space = contrast; edges = fine detail</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256 phase-encode lines × TR (e.g. 2 s) ≈ 8.5 min for one 2D series, so MRI is slow</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Measuring only 1 in 4 lines makes it 4× faster but causes aliasing; our stage 2 removes it</a:t>
            </a:r>
            <a:endParaRPr lang="en-US" sz="1300" dirty="0"/>
          </a:p>
        </p:txBody>
      </p:sp>
      <p:pic>
        <p:nvPicPr>
          <p:cNvPr id="25" name="kspace" descr="k-space">    </p:cNvPr>
          <p:cNvPicPr>
            <a:picLocks noChangeAspect="1"/>
          </p:cNvPicPr>
          <p:nvPr/>
        </p:nvPicPr>
        <p:blipFill>
          <a:blip r:embed="rId1"/>
          <a:stretch>
            <a:fillRect/>
          </a:stretch>
        </p:blipFill>
        <p:spPr>
          <a:xfrm>
            <a:off x="7178040" y="2788920"/>
            <a:ext cx="2103120" cy="2103120"/>
          </a:xfrm>
          <a:prstGeom prst="rect">
            <a:avLst/>
          </a:prstGeom>
        </p:spPr>
      </p:pic>
      <p:pic>
        <p:nvPicPr>
          <p:cNvPr id="26" name="mri-img" descr="MRI image">    </p:cNvPr>
          <p:cNvPicPr>
            <a:picLocks noChangeAspect="1"/>
          </p:cNvPicPr>
          <p:nvPr/>
        </p:nvPicPr>
        <p:blipFill>
          <a:blip r:embed="rId2"/>
          <a:stretch>
            <a:fillRect/>
          </a:stretch>
        </p:blipFill>
        <p:spPr>
          <a:xfrm>
            <a:off x="9509760" y="2788920"/>
            <a:ext cx="2103120" cy="2103120"/>
          </a:xfrm>
          <a:prstGeom prst="rect">
            <a:avLst/>
          </a:prstGeom>
        </p:spPr>
      </p:pic>
      <p:sp>
        <p:nvSpPr>
          <p:cNvPr id="27" name="ifft-arrow"/>
          <p:cNvSpPr/>
          <p:nvPr/>
        </p:nvSpPr>
        <p:spPr>
          <a:xfrm>
            <a:off x="9299448" y="3840480"/>
            <a:ext cx="182880" cy="0"/>
          </a:xfrm>
          <a:prstGeom prst="line">
            <a:avLst/>
          </a:prstGeom>
          <a:noFill/>
          <a:ln w="22225">
            <a:solidFill>
              <a:srgbClr val="000000"/>
            </a:solidFill>
            <a:prstDash val="solid"/>
            <a:tailEnd type="triangle"/>
          </a:ln>
        </p:spPr>
      </p:sp>
      <p:sp>
        <p:nvSpPr>
          <p:cNvPr id="28" name="Text 24"/>
          <p:cNvSpPr txBox="1"/>
          <p:nvPr/>
        </p:nvSpPr>
        <p:spPr>
          <a:xfrm>
            <a:off x="7178040" y="4937760"/>
            <a:ext cx="2103120" cy="27432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k-space (log magnitude)</a:t>
            </a:r>
            <a:endParaRPr lang="en-US" sz="1100" dirty="0"/>
          </a:p>
        </p:txBody>
      </p:sp>
      <p:sp>
        <p:nvSpPr>
          <p:cNvPr id="29" name="Text 25"/>
          <p:cNvSpPr txBox="1"/>
          <p:nvPr/>
        </p:nvSpPr>
        <p:spPr>
          <a:xfrm>
            <a:off x="9509760" y="4937760"/>
            <a:ext cx="2103120" cy="27432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image after inverse FFT</a:t>
            </a:r>
            <a:endParaRPr lang="en-US" sz="1100" dirty="0"/>
          </a:p>
        </p:txBody>
      </p:sp>
      <p:sp>
        <p:nvSpPr>
          <p:cNvPr id="30" name="Text 26"/>
          <p:cNvSpPr txBox="1"/>
          <p:nvPr/>
        </p:nvSpPr>
        <p:spPr>
          <a:xfrm>
            <a:off x="7178040" y="5349240"/>
            <a:ext cx="4434840" cy="59436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Our data: real T1 brain MRI, 109 sagittal slices, 256 × 256, 16-bit (values 1026–5119)</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1  ·  MEDICAL IMAGING &amp; PROBLEM DEFINITION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Data formats and where our data comes from</a:t>
            </a:r>
            <a:endParaRPr lang="en-US" sz="3400" dirty="0"/>
          </a:p>
        </p:txBody>
      </p:sp>
      <p:graphicFrame>
        <p:nvGraphicFramePr>
          <p:cNvPr id="6" name="data-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737360"/>
                <a:gridCol w="822960"/>
                <a:gridCol w="2103120"/>
                <a:gridCol w="3383280"/>
                <a:gridCol w="1463040"/>
                <a:gridCol w="155448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Real?</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Origin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Format → how we read it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Used in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Head CT (CThead)</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Real</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Stanford Volume Data Archive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raw 16-bit big-endian, no header → np.fromfile('&gt;u2')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113 × 256², 14.8 MB</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Threshold, 3D render</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Brain MRI (MRbrain)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Real</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Stanford Volume Data Archive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raw 16-bit big-endian → np.fromfile('&gt;u2')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109 × 256², 14.3 MB</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MRI recon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Shepp-Logan phantom</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Simulated</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Shepp &amp; Logan 1974, generated in code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float32 arrays (2D 128–512 px, 3D 64³–256³)</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up to 67 MB</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CT recon, denoising</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Lesion slices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Simulated</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our generator (seeded, reproducible)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float32 images + exact binary masks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2,200 × 128²</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U-Net, threshold test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548640" y="388620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Clinical standard: DICOM</a:t>
            </a:r>
            <a:endParaRPr lang="en-US" sz="1500" dirty="0"/>
          </a:p>
        </p:txBody>
      </p:sp>
      <p:sp>
        <p:nvSpPr>
          <p:cNvPr id="6" name="Text 3"/>
          <p:cNvSpPr txBox="1"/>
          <p:nvPr/>
        </p:nvSpPr>
        <p:spPr>
          <a:xfrm>
            <a:off x="548640" y="4251960"/>
            <a:ext cx="548640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One file per slice: header tags + pixel data</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PixelSpacing / SliceThickness give voxel size in mm (needed for resampling)</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HU = raw × RescaleSlope + RescaleIntercept</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Patient tags must be removed before research use (anonymisation)</a:t>
            </a:r>
            <a:endParaRPr lang="en-US" sz="1300" dirty="0"/>
          </a:p>
        </p:txBody>
      </p:sp>
      <p:sp>
        <p:nvSpPr>
          <p:cNvPr id="7" name="why-sim"/>
          <p:cNvSpPr/>
          <p:nvPr/>
        </p:nvSpPr>
        <p:spPr>
          <a:xfrm>
            <a:off x="6400800" y="3886200"/>
            <a:ext cx="5212080" cy="2194560"/>
          </a:xfrm>
          <a:prstGeom prst="roundRect">
            <a:avLst>
              <a:gd name="adj" fmla="val 3333"/>
            </a:avLst>
          </a:prstGeom>
          <a:solidFill>
            <a:schemeClr val="bg2"/>
          </a:solidFill>
          <a:ln w="9525">
            <a:solidFill>
              <a:srgbClr val="D9D9D9"/>
            </a:solidFill>
            <a:prstDash val="solid"/>
          </a:ln>
        </p:spPr>
      </p:sp>
      <p:sp>
        <p:nvSpPr>
          <p:cNvPr id="8" name="Text 5"/>
          <p:cNvSpPr txBox="1"/>
          <p:nvPr/>
        </p:nvSpPr>
        <p:spPr>
          <a:xfrm>
            <a:off x="6629400" y="4023360"/>
            <a:ext cx="47548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Why use simulated data at all?</a:t>
            </a:r>
            <a:endParaRPr lang="en-US" sz="1500" dirty="0"/>
          </a:p>
        </p:txBody>
      </p:sp>
      <p:sp>
        <p:nvSpPr>
          <p:cNvPr id="9" name="Text 6"/>
          <p:cNvSpPr txBox="1"/>
          <p:nvPr/>
        </p:nvSpPr>
        <p:spPr>
          <a:xfrm>
            <a:off x="6629400" y="4389120"/>
            <a:ext cx="4800600"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Accuracy needs a known correct answer: the phantom is the exact truth for CT reconstruction</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Lesion masks are exact, so Dice is measured precisely</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Large labelled clinical sets (e.g. Medical Segmentation Decathlon) need registration and GBs of download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1  ·  MEDICAL IMAGING &amp; PROBLEM DEFINITION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Problem statement, motivation and applications</a:t>
            </a:r>
            <a:endParaRPr lang="en-US" sz="3400" dirty="0"/>
          </a:p>
        </p:txBody>
      </p:sp>
      <p:sp>
        <p:nvSpPr>
          <p:cNvPr id="4" name="problem-box"/>
          <p:cNvSpPr/>
          <p:nvPr/>
        </p:nvSpPr>
        <p:spPr>
          <a:xfrm>
            <a:off x="548640" y="1325880"/>
            <a:ext cx="5120640" cy="2286000"/>
          </a:xfrm>
          <a:prstGeom prst="roundRect">
            <a:avLst>
              <a:gd name="adj" fmla="val 3200"/>
            </a:avLst>
          </a:prstGeom>
          <a:solidFill>
            <a:srgbClr val="000000"/>
          </a:solidFill>
          <a:ln/>
        </p:spPr>
      </p:sp>
      <p:sp>
        <p:nvSpPr>
          <p:cNvPr id="5" name="Text 3"/>
          <p:cNvSpPr txBox="1"/>
          <p:nvPr/>
        </p:nvSpPr>
        <p:spPr>
          <a:xfrm>
            <a:off x="822960" y="1481328"/>
            <a:ext cx="4572000" cy="274320"/>
          </a:xfrm>
          <a:prstGeom prst="rect">
            <a:avLst/>
          </a:prstGeom>
          <a:noFill/>
          <a:ln/>
        </p:spPr>
        <p:txBody>
          <a:bodyPr wrap="square" lIns="0" tIns="0" rIns="0" bIns="0" rtlCol="0" anchor="t"/>
          <a:lstStyle/>
          <a:p>
            <a:pPr indent="0" marL="0">
              <a:buNone/>
            </a:pPr>
            <a:r>
              <a:rPr lang="en-US" sz="1200" b="1" dirty="0">
                <a:solidFill>
                  <a:srgbClr val="BFBFBF"/>
                </a:solidFill>
                <a:latin typeface="Calibri" pitchFamily="34" charset="0"/>
                <a:ea typeface="Calibri" pitchFamily="34" charset="-122"/>
                <a:cs typeface="Calibri" pitchFamily="34" charset="-120"/>
              </a:rPr>
              <a:t>PROBLEM STATEMENT</a:t>
            </a:r>
            <a:endParaRPr lang="en-US" sz="1200" dirty="0"/>
          </a:p>
        </p:txBody>
      </p:sp>
      <p:sp>
        <p:nvSpPr>
          <p:cNvPr id="6" name="Text 4"/>
          <p:cNvSpPr txBox="1"/>
          <p:nvPr/>
        </p:nvSpPr>
        <p:spPr>
          <a:xfrm>
            <a:off x="822960" y="1828800"/>
            <a:ext cx="4617720" cy="1691640"/>
          </a:xfrm>
          <a:prstGeom prst="rect">
            <a:avLst/>
          </a:prstGeom>
          <a:noFill/>
          <a:ln/>
        </p:spPr>
        <p:txBody>
          <a:bodyPr wrap="square" lIns="0" tIns="0" rIns="0" bIns="0" rtlCol="0" anchor="t"/>
          <a:lstStyle/>
          <a:p>
            <a:pPr indent="0" marL="0">
              <a:buNone/>
            </a:pPr>
            <a:r>
              <a:rPr lang="en-US" sz="1700" dirty="0">
                <a:solidFill>
                  <a:srgbClr val="FFFFFF"/>
                </a:solidFill>
                <a:latin typeface="Cambria" pitchFamily="34" charset="0"/>
                <a:ea typeface="Cambria" pitchFamily="34" charset="-122"/>
                <a:cs typeface="Cambria" pitchFamily="34" charset="-120"/>
              </a:rPr>
              <a:t>CT/MRI pipelines process 10⁷–10⁹ voxels per study and take seconds to minutes on a CPU. Can GPU parallelism make them interactive without changing the result?</a:t>
            </a:r>
            <a:endParaRPr lang="en-US" sz="1700" dirty="0"/>
          </a:p>
        </p:txBody>
      </p:sp>
      <p:sp>
        <p:nvSpPr>
          <p:cNvPr id="7" name="Text 5"/>
          <p:cNvSpPr txBox="1"/>
          <p:nvPr/>
        </p:nvSpPr>
        <p:spPr>
          <a:xfrm>
            <a:off x="6035040" y="132588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Motivation</a:t>
            </a:r>
            <a:endParaRPr lang="en-US" sz="1500" dirty="0"/>
          </a:p>
        </p:txBody>
      </p:sp>
      <p:sp>
        <p:nvSpPr>
          <p:cNvPr id="8" name="Text 6"/>
          <p:cNvSpPr txBox="1"/>
          <p:nvPr/>
        </p:nvSpPr>
        <p:spPr>
          <a:xfrm>
            <a:off x="6035040" y="1691640"/>
            <a:ext cx="557784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Size: one 512 × 512 × 1,000 CT = 524 MB; a 4D cardiac CT ≈ 10 GB</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Work grows with N³: doubling resolution = 8× more voxels</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Time: 1.9 M neurons lost per minute of untreated stroke (Saver, 2006)</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Workload: radiologists have 3–4 s per image (McDonald et al., 2015)</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Our CPU baseline: 32.2 s for one study through our pipeline</a:t>
            </a:r>
            <a:endParaRPr lang="en-US" sz="1300" dirty="0"/>
          </a:p>
        </p:txBody>
      </p:sp>
      <p:sp>
        <p:nvSpPr>
          <p:cNvPr id="9" name="Text 7"/>
          <p:cNvSpPr txBox="1"/>
          <p:nvPr/>
        </p:nvSpPr>
        <p:spPr>
          <a:xfrm>
            <a:off x="548640" y="3840480"/>
            <a:ext cx="73152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Applications that need fast processing</a:t>
            </a:r>
            <a:endParaRPr lang="en-US" sz="1500" dirty="0"/>
          </a:p>
        </p:txBody>
      </p:sp>
      <p:sp>
        <p:nvSpPr>
          <p:cNvPr id="10" name="icon-bg-FaHeartbeat"/>
          <p:cNvSpPr/>
          <p:nvPr/>
        </p:nvSpPr>
        <p:spPr>
          <a:xfrm>
            <a:off x="1097280" y="4297680"/>
            <a:ext cx="640080" cy="640080"/>
          </a:xfrm>
          <a:prstGeom prst="ellipse">
            <a:avLst/>
          </a:prstGeom>
          <a:solidFill>
            <a:srgbClr val="000000"/>
          </a:solidFill>
          <a:ln/>
        </p:spPr>
      </p:sp>
      <p:pic>
        <p:nvPicPr>
          <p:cNvPr id="11" name="icon-FaHeartbeat" descr="Heartbeat icon">    </p:cNvPr>
          <p:cNvPicPr>
            <a:picLocks noChangeAspect="1"/>
          </p:cNvPicPr>
          <p:nvPr/>
        </p:nvPicPr>
        <p:blipFill>
          <a:blip r:embed="rId1"/>
          <a:stretch>
            <a:fillRect/>
          </a:stretch>
        </p:blipFill>
        <p:spPr>
          <a:xfrm>
            <a:off x="1250899" y="4451299"/>
            <a:ext cx="332842" cy="332842"/>
          </a:xfrm>
          <a:prstGeom prst="rect">
            <a:avLst/>
          </a:prstGeom>
        </p:spPr>
      </p:pic>
      <p:sp>
        <p:nvSpPr>
          <p:cNvPr id="12" name="Text 9"/>
          <p:cNvSpPr txBox="1"/>
          <p:nvPr/>
        </p:nvSpPr>
        <p:spPr>
          <a:xfrm>
            <a:off x="548640" y="5029200"/>
            <a:ext cx="1737360" cy="54864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Stroke &amp; trauma triage</a:t>
            </a:r>
            <a:endParaRPr lang="en-US" sz="1300" dirty="0"/>
          </a:p>
        </p:txBody>
      </p:sp>
      <p:sp>
        <p:nvSpPr>
          <p:cNvPr id="13" name="icon-bg-FaUserMd"/>
          <p:cNvSpPr/>
          <p:nvPr/>
        </p:nvSpPr>
        <p:spPr>
          <a:xfrm>
            <a:off x="2971800" y="4297680"/>
            <a:ext cx="640080" cy="640080"/>
          </a:xfrm>
          <a:prstGeom prst="ellipse">
            <a:avLst/>
          </a:prstGeom>
          <a:solidFill>
            <a:srgbClr val="000000"/>
          </a:solidFill>
          <a:ln/>
        </p:spPr>
      </p:sp>
      <p:pic>
        <p:nvPicPr>
          <p:cNvPr id="14" name="icon-FaUserMd" descr="UserMd icon">    </p:cNvPr>
          <p:cNvPicPr>
            <a:picLocks noChangeAspect="1"/>
          </p:cNvPicPr>
          <p:nvPr/>
        </p:nvPicPr>
        <p:blipFill>
          <a:blip r:embed="rId2"/>
          <a:stretch>
            <a:fillRect/>
          </a:stretch>
        </p:blipFill>
        <p:spPr>
          <a:xfrm>
            <a:off x="3125419" y="4451299"/>
            <a:ext cx="332842" cy="332842"/>
          </a:xfrm>
          <a:prstGeom prst="rect">
            <a:avLst/>
          </a:prstGeom>
        </p:spPr>
      </p:pic>
      <p:sp>
        <p:nvSpPr>
          <p:cNvPr id="15" name="Text 11"/>
          <p:cNvSpPr txBox="1"/>
          <p:nvPr/>
        </p:nvSpPr>
        <p:spPr>
          <a:xfrm>
            <a:off x="2423160" y="5029200"/>
            <a:ext cx="1737360" cy="54864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Surgical navigation</a:t>
            </a:r>
            <a:endParaRPr lang="en-US" sz="1300" dirty="0"/>
          </a:p>
        </p:txBody>
      </p:sp>
      <p:sp>
        <p:nvSpPr>
          <p:cNvPr id="16" name="icon-bg-FaBullseye"/>
          <p:cNvSpPr/>
          <p:nvPr/>
        </p:nvSpPr>
        <p:spPr>
          <a:xfrm>
            <a:off x="4846320" y="4297680"/>
            <a:ext cx="640080" cy="640080"/>
          </a:xfrm>
          <a:prstGeom prst="ellipse">
            <a:avLst/>
          </a:prstGeom>
          <a:solidFill>
            <a:srgbClr val="000000"/>
          </a:solidFill>
          <a:ln/>
        </p:spPr>
      </p:sp>
      <p:pic>
        <p:nvPicPr>
          <p:cNvPr id="17" name="icon-FaBullseye" descr="Bullseye icon">    </p:cNvPr>
          <p:cNvPicPr>
            <a:picLocks noChangeAspect="1"/>
          </p:cNvPicPr>
          <p:nvPr/>
        </p:nvPicPr>
        <p:blipFill>
          <a:blip r:embed="rId3"/>
          <a:stretch>
            <a:fillRect/>
          </a:stretch>
        </p:blipFill>
        <p:spPr>
          <a:xfrm>
            <a:off x="4999939" y="4451299"/>
            <a:ext cx="332842" cy="332842"/>
          </a:xfrm>
          <a:prstGeom prst="rect">
            <a:avLst/>
          </a:prstGeom>
        </p:spPr>
      </p:pic>
      <p:sp>
        <p:nvSpPr>
          <p:cNvPr id="18" name="Text 13"/>
          <p:cNvSpPr txBox="1"/>
          <p:nvPr/>
        </p:nvSpPr>
        <p:spPr>
          <a:xfrm>
            <a:off x="4297680" y="5029200"/>
            <a:ext cx="1737360" cy="54864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Radiotherapy planning</a:t>
            </a:r>
            <a:endParaRPr lang="en-US" sz="1300" dirty="0"/>
          </a:p>
        </p:txBody>
      </p:sp>
      <p:sp>
        <p:nvSpPr>
          <p:cNvPr id="19" name="icon-bg-FaSearch"/>
          <p:cNvSpPr/>
          <p:nvPr/>
        </p:nvSpPr>
        <p:spPr>
          <a:xfrm>
            <a:off x="6720840" y="4297680"/>
            <a:ext cx="640080" cy="640080"/>
          </a:xfrm>
          <a:prstGeom prst="ellipse">
            <a:avLst/>
          </a:prstGeom>
          <a:solidFill>
            <a:srgbClr val="000000"/>
          </a:solidFill>
          <a:ln/>
        </p:spPr>
      </p:sp>
      <p:pic>
        <p:nvPicPr>
          <p:cNvPr id="20" name="icon-FaSearch" descr="Search icon">    </p:cNvPr>
          <p:cNvPicPr>
            <a:picLocks noChangeAspect="1"/>
          </p:cNvPicPr>
          <p:nvPr/>
        </p:nvPicPr>
        <p:blipFill>
          <a:blip r:embed="rId4"/>
          <a:stretch>
            <a:fillRect/>
          </a:stretch>
        </p:blipFill>
        <p:spPr>
          <a:xfrm>
            <a:off x="6874459" y="4451299"/>
            <a:ext cx="332842" cy="332842"/>
          </a:xfrm>
          <a:prstGeom prst="rect">
            <a:avLst/>
          </a:prstGeom>
        </p:spPr>
      </p:pic>
      <p:sp>
        <p:nvSpPr>
          <p:cNvPr id="21" name="Text 15"/>
          <p:cNvSpPr txBox="1"/>
          <p:nvPr/>
        </p:nvSpPr>
        <p:spPr>
          <a:xfrm>
            <a:off x="6172200" y="5029200"/>
            <a:ext cx="1737360" cy="54864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Tumour detection &amp; volume</a:t>
            </a:r>
            <a:endParaRPr lang="en-US" sz="1300" dirty="0"/>
          </a:p>
        </p:txBody>
      </p:sp>
      <p:sp>
        <p:nvSpPr>
          <p:cNvPr id="22" name="icon-bg-FaBolt"/>
          <p:cNvSpPr/>
          <p:nvPr/>
        </p:nvSpPr>
        <p:spPr>
          <a:xfrm>
            <a:off x="8595360" y="4297680"/>
            <a:ext cx="640080" cy="640080"/>
          </a:xfrm>
          <a:prstGeom prst="ellipse">
            <a:avLst/>
          </a:prstGeom>
          <a:solidFill>
            <a:srgbClr val="000000"/>
          </a:solidFill>
          <a:ln/>
        </p:spPr>
      </p:sp>
      <p:pic>
        <p:nvPicPr>
          <p:cNvPr id="23" name="icon-FaBolt" descr="Bolt icon">    </p:cNvPr>
          <p:cNvPicPr>
            <a:picLocks noChangeAspect="1"/>
          </p:cNvPicPr>
          <p:nvPr/>
        </p:nvPicPr>
        <p:blipFill>
          <a:blip r:embed="rId5"/>
          <a:stretch>
            <a:fillRect/>
          </a:stretch>
        </p:blipFill>
        <p:spPr>
          <a:xfrm>
            <a:off x="8748979" y="4451299"/>
            <a:ext cx="332842" cy="332842"/>
          </a:xfrm>
          <a:prstGeom prst="rect">
            <a:avLst/>
          </a:prstGeom>
        </p:spPr>
      </p:pic>
      <p:sp>
        <p:nvSpPr>
          <p:cNvPr id="24" name="Text 17"/>
          <p:cNvSpPr txBox="1"/>
          <p:nvPr/>
        </p:nvSpPr>
        <p:spPr>
          <a:xfrm>
            <a:off x="8046720" y="5029200"/>
            <a:ext cx="1737360" cy="54864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Faster, low-dose scans</a:t>
            </a:r>
            <a:endParaRPr lang="en-US" sz="1300" dirty="0"/>
          </a:p>
        </p:txBody>
      </p:sp>
      <p:sp>
        <p:nvSpPr>
          <p:cNvPr id="25" name="icon-bg-FaCube"/>
          <p:cNvSpPr/>
          <p:nvPr/>
        </p:nvSpPr>
        <p:spPr>
          <a:xfrm>
            <a:off x="10469880" y="4297680"/>
            <a:ext cx="640080" cy="640080"/>
          </a:xfrm>
          <a:prstGeom prst="ellipse">
            <a:avLst/>
          </a:prstGeom>
          <a:solidFill>
            <a:srgbClr val="000000"/>
          </a:solidFill>
          <a:ln/>
        </p:spPr>
      </p:sp>
      <p:pic>
        <p:nvPicPr>
          <p:cNvPr id="26" name="icon-FaCube" descr="Cube icon">    </p:cNvPr>
          <p:cNvPicPr>
            <a:picLocks noChangeAspect="1"/>
          </p:cNvPicPr>
          <p:nvPr/>
        </p:nvPicPr>
        <p:blipFill>
          <a:blip r:embed="rId6"/>
          <a:stretch>
            <a:fillRect/>
          </a:stretch>
        </p:blipFill>
        <p:spPr>
          <a:xfrm>
            <a:off x="10623499" y="4451299"/>
            <a:ext cx="332842" cy="332842"/>
          </a:xfrm>
          <a:prstGeom prst="rect">
            <a:avLst/>
          </a:prstGeom>
        </p:spPr>
      </p:pic>
      <p:sp>
        <p:nvSpPr>
          <p:cNvPr id="27" name="Text 19"/>
          <p:cNvSpPr txBox="1"/>
          <p:nvPr/>
        </p:nvSpPr>
        <p:spPr>
          <a:xfrm>
            <a:off x="9921240" y="5029200"/>
            <a:ext cx="1737360" cy="54864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3D visualisation</a:t>
            </a:r>
            <a:endParaRPr lang="en-US" sz="1300" dirty="0"/>
          </a:p>
        </p:txBody>
      </p:sp>
      <p:sp>
        <p:nvSpPr>
          <p:cNvPr id="28" name="Text 20"/>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Objectives: build a CPU + GPU pipeline · write our own CUDA kernels · measure speedup and scaling · prove outputs are identical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2  ·  GPU ARCHITECTURE &amp; PARALLEL COMPUTING</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Preprocessing: raw scan → GPU-ready arrays</a:t>
            </a:r>
            <a:endParaRPr lang="en-US" sz="3400" dirty="0"/>
          </a:p>
        </p:txBody>
      </p:sp>
      <p:pic>
        <p:nvPicPr>
          <p:cNvPr id="4" name="preprocess-figure" descr="Preprocessing steps">    </p:cNvPr>
          <p:cNvPicPr>
            <a:picLocks noChangeAspect="1"/>
          </p:cNvPicPr>
          <p:nvPr/>
        </p:nvPicPr>
        <p:blipFill>
          <a:blip r:embed="rId1"/>
          <a:stretch>
            <a:fillRect/>
          </a:stretch>
        </p:blipFill>
        <p:spPr>
          <a:xfrm>
            <a:off x="548640" y="1585864"/>
            <a:ext cx="6675120" cy="4280631"/>
          </a:xfrm>
          <a:prstGeom prst="rect">
            <a:avLst/>
          </a:prstGeom>
        </p:spPr>
      </p:pic>
      <p:sp>
        <p:nvSpPr>
          <p:cNvPr id="5" name="Text 2"/>
          <p:cNvSpPr txBox="1"/>
          <p:nvPr/>
        </p:nvSpPr>
        <p:spPr>
          <a:xfrm>
            <a:off x="7498080" y="1325880"/>
            <a:ext cx="41148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Type conversion</a:t>
            </a:r>
            <a:endParaRPr lang="en-US" sz="1400" dirty="0"/>
          </a:p>
        </p:txBody>
      </p:sp>
      <p:sp>
        <p:nvSpPr>
          <p:cNvPr id="6" name="Text 3"/>
          <p:cNvSpPr txBox="1"/>
          <p:nvPr/>
        </p:nvSpPr>
        <p:spPr>
          <a:xfrm>
            <a:off x="7498080" y="1600200"/>
            <a:ext cx="411480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16-bit integers → float32 (4 bytes / voxel), the type our kernels use</a:t>
            </a:r>
            <a:endParaRPr lang="en-US" sz="1200" dirty="0"/>
          </a:p>
        </p:txBody>
      </p:sp>
      <p:sp>
        <p:nvSpPr>
          <p:cNvPr id="7" name="Text 4"/>
          <p:cNvSpPr txBox="1"/>
          <p:nvPr/>
        </p:nvSpPr>
        <p:spPr>
          <a:xfrm>
            <a:off x="7498080" y="2130552"/>
            <a:ext cx="41148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Normalisation</a:t>
            </a:r>
            <a:endParaRPr lang="en-US" sz="1400" dirty="0"/>
          </a:p>
        </p:txBody>
      </p:sp>
      <p:sp>
        <p:nvSpPr>
          <p:cNvPr id="8" name="Text 5"/>
          <p:cNvSpPr txBox="1"/>
          <p:nvPr/>
        </p:nvSpPr>
        <p:spPr>
          <a:xfrm>
            <a:off x="7498080" y="2404872"/>
            <a:ext cx="411480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CT: v' = clip(v / p99.9, 0, 1). MRI: v' = clip((v − p1)/(p99.5 − p1), 0, 1). Robust to outliers</a:t>
            </a:r>
            <a:endParaRPr lang="en-US" sz="1200" dirty="0"/>
          </a:p>
        </p:txBody>
      </p:sp>
      <p:sp>
        <p:nvSpPr>
          <p:cNvPr id="9" name="Text 6"/>
          <p:cNvSpPr txBox="1"/>
          <p:nvPr/>
        </p:nvSpPr>
        <p:spPr>
          <a:xfrm>
            <a:off x="7498080" y="2935224"/>
            <a:ext cx="41148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Resampling</a:t>
            </a:r>
            <a:endParaRPr lang="en-US" sz="1400" dirty="0"/>
          </a:p>
        </p:txBody>
      </p:sp>
      <p:sp>
        <p:nvSpPr>
          <p:cNvPr id="10" name="Text 7"/>
          <p:cNvSpPr txBox="1"/>
          <p:nvPr/>
        </p:nvSpPr>
        <p:spPr>
          <a:xfrm>
            <a:off x="7498080" y="3209544"/>
            <a:ext cx="411480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CT slices 2 mm vs 1 mm pixels → trilinear interpolation to isotropic voxels (113 → 226)</a:t>
            </a:r>
            <a:endParaRPr lang="en-US" sz="1200" dirty="0"/>
          </a:p>
        </p:txBody>
      </p:sp>
      <p:sp>
        <p:nvSpPr>
          <p:cNvPr id="11" name="Text 8"/>
          <p:cNvSpPr txBox="1"/>
          <p:nvPr/>
        </p:nvSpPr>
        <p:spPr>
          <a:xfrm>
            <a:off x="7498080" y="3739896"/>
            <a:ext cx="41148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Noise model</a:t>
            </a:r>
            <a:endParaRPr lang="en-US" sz="1400" dirty="0"/>
          </a:p>
        </p:txBody>
      </p:sp>
      <p:sp>
        <p:nvSpPr>
          <p:cNvPr id="12" name="Text 9"/>
          <p:cNvSpPr txBox="1"/>
          <p:nvPr/>
        </p:nvSpPr>
        <p:spPr>
          <a:xfrm>
            <a:off x="7498080" y="4014216"/>
            <a:ext cx="411480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Low-dose CT simulated: v + N(0, 0.08²) on the phantom</a:t>
            </a:r>
            <a:endParaRPr lang="en-US" sz="1200" dirty="0"/>
          </a:p>
        </p:txBody>
      </p:sp>
      <p:sp>
        <p:nvSpPr>
          <p:cNvPr id="13" name="Text 10"/>
          <p:cNvSpPr txBox="1"/>
          <p:nvPr/>
        </p:nvSpPr>
        <p:spPr>
          <a:xfrm>
            <a:off x="7498080" y="4544568"/>
            <a:ext cx="41148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k-space</a:t>
            </a:r>
            <a:endParaRPr lang="en-US" sz="1400" dirty="0"/>
          </a:p>
        </p:txBody>
      </p:sp>
      <p:sp>
        <p:nvSpPr>
          <p:cNvPr id="14" name="Text 11"/>
          <p:cNvSpPr txBox="1"/>
          <p:nvPr/>
        </p:nvSpPr>
        <p:spPr>
          <a:xfrm>
            <a:off x="7498080" y="4818888"/>
            <a:ext cx="411480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MRI slice → FFT → 4× undersampling mask (8% centre lines + random lines)</a:t>
            </a:r>
            <a:endParaRPr lang="en-US" sz="1200" dirty="0"/>
          </a:p>
        </p:txBody>
      </p:sp>
      <p:sp>
        <p:nvSpPr>
          <p:cNvPr id="15" name="Text 12"/>
          <p:cNvSpPr txBox="1"/>
          <p:nvPr/>
        </p:nvSpPr>
        <p:spPr>
          <a:xfrm>
            <a:off x="7498080" y="5349240"/>
            <a:ext cx="41148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Layout</a:t>
            </a:r>
            <a:endParaRPr lang="en-US" sz="1400" dirty="0"/>
          </a:p>
        </p:txBody>
      </p:sp>
      <p:sp>
        <p:nvSpPr>
          <p:cNvPr id="16" name="Text 13"/>
          <p:cNvSpPr txBox="1"/>
          <p:nvPr/>
        </p:nvSpPr>
        <p:spPr>
          <a:xfrm>
            <a:off x="7498080" y="5623560"/>
            <a:ext cx="411480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Contiguous C-order arrays [slice][row][col], so neighbouring threads read neighbouring addresses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2  ·  GPU ARCHITECTURE &amp; PARALLEL COMPUTING</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Image operations and the parallel pattern behind each</a:t>
            </a:r>
            <a:endParaRPr lang="en-US" sz="3400" dirty="0"/>
          </a:p>
        </p:txBody>
      </p:sp>
      <p:graphicFrame>
        <p:nvGraphicFramePr>
          <p:cNvPr id="9" name="patterns-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828800"/>
                <a:gridCol w="2377440"/>
                <a:gridCol w="2011680"/>
                <a:gridCol w="1737360"/>
                <a:gridCol w="3108960"/>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Operation type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in our pipeline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Parallel pattern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Reads per output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GPU mapping we used</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51206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Point operation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normalise, threshold labelling</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Map</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 thread per voxel, fully independent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Neighbourhood (stencil)</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5×5×5 Gaussian filter</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Stencil</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3D blocks + shared-memory tile with halo</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Histogram</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Otsu threshold</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Reduction with atomics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 (but many writers / bin)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per-block private histogram in shared memory</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Global transform</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FFT in MRI recon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Butterfly (log₂N stages)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all inputs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cuFFT library</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Gather</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FBP back-projection, resampling</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Gather (irregular reads)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 (angles) = 256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 thread per pixel, read-only cache (__ldg)</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Ray marching</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MIP / volume rendering</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Map + scan along ray</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depth = 256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 ray per pixel, cumulative product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1206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Convolution layers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U-Net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Dense matrix multiply</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kernel × channels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cuDNN on Tensor Cores (FP16)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Key idea: identify the pattern first. Map and gather need no communication; stencils reuse neighbours (shared memory); histograms need atomics; FFT and GEMM are best left to tuned libraries.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2  ·  GPU ARCHITECTURE &amp; PARALLEL COMPUTING</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CPU vs GPU: latency vs throughput</a:t>
            </a:r>
            <a:endParaRPr lang="en-US" sz="3400" dirty="0"/>
          </a:p>
        </p:txBody>
      </p:sp>
      <p:sp>
        <p:nvSpPr>
          <p:cNvPr id="4" name="cpu-panel"/>
          <p:cNvSpPr/>
          <p:nvPr/>
        </p:nvSpPr>
        <p:spPr>
          <a:xfrm>
            <a:off x="548640" y="1325880"/>
            <a:ext cx="4572000" cy="2331720"/>
          </a:xfrm>
          <a:prstGeom prst="roundRect">
            <a:avLst>
              <a:gd name="adj" fmla="val 3137"/>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Text 3"/>
          <p:cNvSpPr txBox="1"/>
          <p:nvPr/>
        </p:nvSpPr>
        <p:spPr>
          <a:xfrm>
            <a:off x="777240" y="1417320"/>
            <a:ext cx="41148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CPU: few complex cores</a:t>
            </a:r>
            <a:endParaRPr lang="en-US" sz="1500" dirty="0"/>
          </a:p>
        </p:txBody>
      </p:sp>
      <p:sp>
        <p:nvSpPr>
          <p:cNvPr id="6" name="cpu-ctl"/>
          <p:cNvSpPr/>
          <p:nvPr/>
        </p:nvSpPr>
        <p:spPr>
          <a:xfrm>
            <a:off x="777240" y="1828800"/>
            <a:ext cx="1188720" cy="1005840"/>
          </a:xfrm>
          <a:prstGeom prst="roundRect">
            <a:avLst>
              <a:gd name="adj" fmla="val 4545"/>
            </a:avLst>
          </a:prstGeom>
          <a:solidFill>
            <a:srgbClr val="E6E6E6"/>
          </a:solidFill>
          <a:ln w="12700">
            <a:solidFill>
              <a:srgbClr val="000000"/>
            </a:solidFill>
            <a:prstDash val="solid"/>
          </a:ln>
        </p:spPr>
      </p:sp>
      <p:sp>
        <p:nvSpPr>
          <p:cNvPr id="7" name="Text 5"/>
          <p:cNvSpPr txBox="1"/>
          <p:nvPr/>
        </p:nvSpPr>
        <p:spPr>
          <a:xfrm>
            <a:off x="822960" y="1828800"/>
            <a:ext cx="1097280" cy="1005840"/>
          </a:xfrm>
          <a:prstGeom prst="rect">
            <a:avLst/>
          </a:prstGeom>
          <a:noFill/>
          <a:ln/>
        </p:spPr>
        <p:txBody>
          <a:bodyPr wrap="square" lIns="0" tIns="0" rIns="0" bIns="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Control</a:t>
            </a:r>
            <a:endParaRPr lang="en-US" sz="1100" dirty="0"/>
          </a:p>
        </p:txBody>
      </p:sp>
      <p:sp>
        <p:nvSpPr>
          <p:cNvPr id="8" name="cpu-core-0"/>
          <p:cNvSpPr/>
          <p:nvPr/>
        </p:nvSpPr>
        <p:spPr>
          <a:xfrm>
            <a:off x="2103120" y="1828800"/>
            <a:ext cx="868680" cy="457200"/>
          </a:xfrm>
          <a:prstGeom prst="roundRect">
            <a:avLst>
              <a:gd name="adj" fmla="val 10000"/>
            </a:avLst>
          </a:prstGeom>
          <a:solidFill>
            <a:srgbClr val="000000"/>
          </a:solidFill>
          <a:ln w="12700">
            <a:solidFill>
              <a:srgbClr val="000000"/>
            </a:solidFill>
            <a:prstDash val="solid"/>
          </a:ln>
        </p:spPr>
      </p:sp>
      <p:sp>
        <p:nvSpPr>
          <p:cNvPr id="9" name="Text 7"/>
          <p:cNvSpPr txBox="1"/>
          <p:nvPr/>
        </p:nvSpPr>
        <p:spPr>
          <a:xfrm>
            <a:off x="2148840" y="182880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a:t>
            </a:r>
            <a:endParaRPr lang="en-US" sz="1000" dirty="0"/>
          </a:p>
        </p:txBody>
      </p:sp>
      <p:sp>
        <p:nvSpPr>
          <p:cNvPr id="10" name="cpu-core-1"/>
          <p:cNvSpPr/>
          <p:nvPr/>
        </p:nvSpPr>
        <p:spPr>
          <a:xfrm>
            <a:off x="3063240" y="1828800"/>
            <a:ext cx="868680" cy="457200"/>
          </a:xfrm>
          <a:prstGeom prst="roundRect">
            <a:avLst>
              <a:gd name="adj" fmla="val 10000"/>
            </a:avLst>
          </a:prstGeom>
          <a:solidFill>
            <a:srgbClr val="000000"/>
          </a:solidFill>
          <a:ln w="12700">
            <a:solidFill>
              <a:srgbClr val="000000"/>
            </a:solidFill>
            <a:prstDash val="solid"/>
          </a:ln>
        </p:spPr>
      </p:sp>
      <p:sp>
        <p:nvSpPr>
          <p:cNvPr id="11" name="Text 9"/>
          <p:cNvSpPr txBox="1"/>
          <p:nvPr/>
        </p:nvSpPr>
        <p:spPr>
          <a:xfrm>
            <a:off x="3108960" y="182880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a:t>
            </a:r>
            <a:endParaRPr lang="en-US" sz="1000" dirty="0"/>
          </a:p>
        </p:txBody>
      </p:sp>
      <p:sp>
        <p:nvSpPr>
          <p:cNvPr id="12" name="cpu-core-2"/>
          <p:cNvSpPr/>
          <p:nvPr/>
        </p:nvSpPr>
        <p:spPr>
          <a:xfrm>
            <a:off x="4023360" y="1828800"/>
            <a:ext cx="868680" cy="457200"/>
          </a:xfrm>
          <a:prstGeom prst="roundRect">
            <a:avLst>
              <a:gd name="adj" fmla="val 10000"/>
            </a:avLst>
          </a:prstGeom>
          <a:solidFill>
            <a:srgbClr val="000000"/>
          </a:solidFill>
          <a:ln w="12700">
            <a:solidFill>
              <a:srgbClr val="000000"/>
            </a:solidFill>
            <a:prstDash val="solid"/>
          </a:ln>
        </p:spPr>
      </p:sp>
      <p:sp>
        <p:nvSpPr>
          <p:cNvPr id="13" name="Text 11"/>
          <p:cNvSpPr txBox="1"/>
          <p:nvPr/>
        </p:nvSpPr>
        <p:spPr>
          <a:xfrm>
            <a:off x="4069080" y="182880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a:t>
            </a:r>
            <a:endParaRPr lang="en-US" sz="1000" dirty="0"/>
          </a:p>
        </p:txBody>
      </p:sp>
      <p:sp>
        <p:nvSpPr>
          <p:cNvPr id="14" name="cpu-core-3"/>
          <p:cNvSpPr/>
          <p:nvPr/>
        </p:nvSpPr>
        <p:spPr>
          <a:xfrm>
            <a:off x="2103120" y="2350008"/>
            <a:ext cx="868680" cy="457200"/>
          </a:xfrm>
          <a:prstGeom prst="roundRect">
            <a:avLst>
              <a:gd name="adj" fmla="val 10000"/>
            </a:avLst>
          </a:prstGeom>
          <a:solidFill>
            <a:srgbClr val="000000"/>
          </a:solidFill>
          <a:ln w="12700">
            <a:solidFill>
              <a:srgbClr val="000000"/>
            </a:solidFill>
            <a:prstDash val="solid"/>
          </a:ln>
        </p:spPr>
      </p:sp>
      <p:sp>
        <p:nvSpPr>
          <p:cNvPr id="15" name="Text 13"/>
          <p:cNvSpPr txBox="1"/>
          <p:nvPr/>
        </p:nvSpPr>
        <p:spPr>
          <a:xfrm>
            <a:off x="2148840" y="2350008"/>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a:t>
            </a:r>
            <a:endParaRPr lang="en-US" sz="1000" dirty="0"/>
          </a:p>
        </p:txBody>
      </p:sp>
      <p:sp>
        <p:nvSpPr>
          <p:cNvPr id="16" name="cpu-core-4"/>
          <p:cNvSpPr/>
          <p:nvPr/>
        </p:nvSpPr>
        <p:spPr>
          <a:xfrm>
            <a:off x="3063240" y="2350008"/>
            <a:ext cx="868680" cy="457200"/>
          </a:xfrm>
          <a:prstGeom prst="roundRect">
            <a:avLst>
              <a:gd name="adj" fmla="val 10000"/>
            </a:avLst>
          </a:prstGeom>
          <a:solidFill>
            <a:srgbClr val="000000"/>
          </a:solidFill>
          <a:ln w="12700">
            <a:solidFill>
              <a:srgbClr val="000000"/>
            </a:solidFill>
            <a:prstDash val="solid"/>
          </a:ln>
        </p:spPr>
      </p:sp>
      <p:sp>
        <p:nvSpPr>
          <p:cNvPr id="17" name="Text 15"/>
          <p:cNvSpPr txBox="1"/>
          <p:nvPr/>
        </p:nvSpPr>
        <p:spPr>
          <a:xfrm>
            <a:off x="3108960" y="2350008"/>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cpu-core-5"/>
          <p:cNvSpPr/>
          <p:nvPr/>
        </p:nvSpPr>
        <p:spPr>
          <a:xfrm>
            <a:off x="4023360" y="2350008"/>
            <a:ext cx="868680" cy="457200"/>
          </a:xfrm>
          <a:prstGeom prst="roundRect">
            <a:avLst>
              <a:gd name="adj" fmla="val 10000"/>
            </a:avLst>
          </a:prstGeom>
          <a:solidFill>
            <a:srgbClr val="000000"/>
          </a:solidFill>
          <a:ln w="12700">
            <a:solidFill>
              <a:srgbClr val="000000"/>
            </a:solidFill>
            <a:prstDash val="solid"/>
          </a:ln>
        </p:spPr>
      </p:sp>
      <p:sp>
        <p:nvSpPr>
          <p:cNvPr id="19" name="Text 17"/>
          <p:cNvSpPr txBox="1"/>
          <p:nvPr/>
        </p:nvSpPr>
        <p:spPr>
          <a:xfrm>
            <a:off x="4069080" y="2350008"/>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a:t>
            </a:r>
            <a:endParaRPr lang="en-US" sz="1000" dirty="0"/>
          </a:p>
        </p:txBody>
      </p:sp>
      <p:sp>
        <p:nvSpPr>
          <p:cNvPr id="20" name="cpu-cache"/>
          <p:cNvSpPr/>
          <p:nvPr/>
        </p:nvSpPr>
        <p:spPr>
          <a:xfrm>
            <a:off x="777240" y="2926080"/>
            <a:ext cx="4114800" cy="502920"/>
          </a:xfrm>
          <a:prstGeom prst="roundRect">
            <a:avLst>
              <a:gd name="adj" fmla="val 9091"/>
            </a:avLst>
          </a:prstGeom>
          <a:solidFill>
            <a:srgbClr val="CCCCCC"/>
          </a:solidFill>
          <a:ln w="12700">
            <a:solidFill>
              <a:srgbClr val="000000"/>
            </a:solidFill>
            <a:prstDash val="solid"/>
          </a:ln>
        </p:spPr>
      </p:sp>
      <p:sp>
        <p:nvSpPr>
          <p:cNvPr id="21" name="Text 19"/>
          <p:cNvSpPr txBox="1"/>
          <p:nvPr/>
        </p:nvSpPr>
        <p:spPr>
          <a:xfrm>
            <a:off x="822960" y="2926080"/>
            <a:ext cx="4023360" cy="502920"/>
          </a:xfrm>
          <a:prstGeom prst="rect">
            <a:avLst/>
          </a:prstGeom>
          <a:noFill/>
          <a:ln/>
        </p:spPr>
        <p:txBody>
          <a:bodyPr wrap="square" lIns="0" tIns="0" rIns="0" bIns="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Large caches (32 MB L3)</a:t>
            </a:r>
            <a:endParaRPr lang="en-US" sz="1100" dirty="0"/>
          </a:p>
        </p:txBody>
      </p:sp>
      <p:sp>
        <p:nvSpPr>
          <p:cNvPr id="22" name="gpu-panel"/>
          <p:cNvSpPr/>
          <p:nvPr/>
        </p:nvSpPr>
        <p:spPr>
          <a:xfrm>
            <a:off x="5349240" y="1325880"/>
            <a:ext cx="6263640" cy="2331720"/>
          </a:xfrm>
          <a:prstGeom prst="roundRect">
            <a:avLst>
              <a:gd name="adj" fmla="val 3137"/>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23" name="Text 21"/>
          <p:cNvSpPr txBox="1"/>
          <p:nvPr/>
        </p:nvSpPr>
        <p:spPr>
          <a:xfrm>
            <a:off x="5577840" y="1417320"/>
            <a:ext cx="57607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GPU: thousands of simple cores</a:t>
            </a:r>
            <a:endParaRPr lang="en-US" sz="1500" dirty="0"/>
          </a:p>
        </p:txBody>
      </p:sp>
      <p:sp>
        <p:nvSpPr>
          <p:cNvPr id="24" name="gc-0-0"/>
          <p:cNvSpPr/>
          <p:nvPr/>
        </p:nvSpPr>
        <p:spPr>
          <a:xfrm>
            <a:off x="5577840" y="1828800"/>
            <a:ext cx="210312" cy="201168"/>
          </a:xfrm>
          <a:prstGeom prst="rect">
            <a:avLst/>
          </a:prstGeom>
          <a:solidFill>
            <a:srgbClr val="000000"/>
          </a:solidFill>
          <a:ln/>
        </p:spPr>
      </p:sp>
      <p:sp>
        <p:nvSpPr>
          <p:cNvPr id="25" name="gc-0-1"/>
          <p:cNvSpPr/>
          <p:nvPr/>
        </p:nvSpPr>
        <p:spPr>
          <a:xfrm>
            <a:off x="5838444" y="1828800"/>
            <a:ext cx="210312" cy="201168"/>
          </a:xfrm>
          <a:prstGeom prst="rect">
            <a:avLst/>
          </a:prstGeom>
          <a:solidFill>
            <a:srgbClr val="000000"/>
          </a:solidFill>
          <a:ln/>
        </p:spPr>
      </p:sp>
      <p:sp>
        <p:nvSpPr>
          <p:cNvPr id="26" name="gc-0-2"/>
          <p:cNvSpPr/>
          <p:nvPr/>
        </p:nvSpPr>
        <p:spPr>
          <a:xfrm>
            <a:off x="6099048" y="1828800"/>
            <a:ext cx="210312" cy="201168"/>
          </a:xfrm>
          <a:prstGeom prst="rect">
            <a:avLst/>
          </a:prstGeom>
          <a:solidFill>
            <a:srgbClr val="000000"/>
          </a:solidFill>
          <a:ln/>
        </p:spPr>
      </p:sp>
      <p:sp>
        <p:nvSpPr>
          <p:cNvPr id="27" name="gc-0-3"/>
          <p:cNvSpPr/>
          <p:nvPr/>
        </p:nvSpPr>
        <p:spPr>
          <a:xfrm>
            <a:off x="6359652" y="1828800"/>
            <a:ext cx="210312" cy="201168"/>
          </a:xfrm>
          <a:prstGeom prst="rect">
            <a:avLst/>
          </a:prstGeom>
          <a:solidFill>
            <a:srgbClr val="000000"/>
          </a:solidFill>
          <a:ln/>
        </p:spPr>
      </p:sp>
      <p:sp>
        <p:nvSpPr>
          <p:cNvPr id="28" name="gc-0-4"/>
          <p:cNvSpPr/>
          <p:nvPr/>
        </p:nvSpPr>
        <p:spPr>
          <a:xfrm>
            <a:off x="6620256" y="1828800"/>
            <a:ext cx="210312" cy="201168"/>
          </a:xfrm>
          <a:prstGeom prst="rect">
            <a:avLst/>
          </a:prstGeom>
          <a:solidFill>
            <a:srgbClr val="000000"/>
          </a:solidFill>
          <a:ln/>
        </p:spPr>
      </p:sp>
      <p:sp>
        <p:nvSpPr>
          <p:cNvPr id="29" name="gc-0-5"/>
          <p:cNvSpPr/>
          <p:nvPr/>
        </p:nvSpPr>
        <p:spPr>
          <a:xfrm>
            <a:off x="6880860" y="1828800"/>
            <a:ext cx="210312" cy="201168"/>
          </a:xfrm>
          <a:prstGeom prst="rect">
            <a:avLst/>
          </a:prstGeom>
          <a:solidFill>
            <a:srgbClr val="000000"/>
          </a:solidFill>
          <a:ln/>
        </p:spPr>
      </p:sp>
      <p:sp>
        <p:nvSpPr>
          <p:cNvPr id="30" name="gc-0-6"/>
          <p:cNvSpPr/>
          <p:nvPr/>
        </p:nvSpPr>
        <p:spPr>
          <a:xfrm>
            <a:off x="7141464" y="1828800"/>
            <a:ext cx="210312" cy="201168"/>
          </a:xfrm>
          <a:prstGeom prst="rect">
            <a:avLst/>
          </a:prstGeom>
          <a:solidFill>
            <a:srgbClr val="000000"/>
          </a:solidFill>
          <a:ln/>
        </p:spPr>
      </p:sp>
      <p:sp>
        <p:nvSpPr>
          <p:cNvPr id="31" name="gc-0-7"/>
          <p:cNvSpPr/>
          <p:nvPr/>
        </p:nvSpPr>
        <p:spPr>
          <a:xfrm>
            <a:off x="7402068" y="1828800"/>
            <a:ext cx="210312" cy="201168"/>
          </a:xfrm>
          <a:prstGeom prst="rect">
            <a:avLst/>
          </a:prstGeom>
          <a:solidFill>
            <a:srgbClr val="000000"/>
          </a:solidFill>
          <a:ln/>
        </p:spPr>
      </p:sp>
      <p:sp>
        <p:nvSpPr>
          <p:cNvPr id="32" name="gc-0-8"/>
          <p:cNvSpPr/>
          <p:nvPr/>
        </p:nvSpPr>
        <p:spPr>
          <a:xfrm>
            <a:off x="7662672" y="1828800"/>
            <a:ext cx="210312" cy="201168"/>
          </a:xfrm>
          <a:prstGeom prst="rect">
            <a:avLst/>
          </a:prstGeom>
          <a:solidFill>
            <a:srgbClr val="000000"/>
          </a:solidFill>
          <a:ln/>
        </p:spPr>
      </p:sp>
      <p:sp>
        <p:nvSpPr>
          <p:cNvPr id="33" name="gc-0-9"/>
          <p:cNvSpPr/>
          <p:nvPr/>
        </p:nvSpPr>
        <p:spPr>
          <a:xfrm>
            <a:off x="7923276" y="1828800"/>
            <a:ext cx="210312" cy="201168"/>
          </a:xfrm>
          <a:prstGeom prst="rect">
            <a:avLst/>
          </a:prstGeom>
          <a:solidFill>
            <a:srgbClr val="000000"/>
          </a:solidFill>
          <a:ln/>
        </p:spPr>
      </p:sp>
      <p:sp>
        <p:nvSpPr>
          <p:cNvPr id="34" name="gc-0-10"/>
          <p:cNvSpPr/>
          <p:nvPr/>
        </p:nvSpPr>
        <p:spPr>
          <a:xfrm>
            <a:off x="8183880" y="1828800"/>
            <a:ext cx="210312" cy="201168"/>
          </a:xfrm>
          <a:prstGeom prst="rect">
            <a:avLst/>
          </a:prstGeom>
          <a:solidFill>
            <a:srgbClr val="000000"/>
          </a:solidFill>
          <a:ln/>
        </p:spPr>
      </p:sp>
      <p:sp>
        <p:nvSpPr>
          <p:cNvPr id="35" name="gc-0-11"/>
          <p:cNvSpPr/>
          <p:nvPr/>
        </p:nvSpPr>
        <p:spPr>
          <a:xfrm>
            <a:off x="8444484" y="1828800"/>
            <a:ext cx="210312" cy="201168"/>
          </a:xfrm>
          <a:prstGeom prst="rect">
            <a:avLst/>
          </a:prstGeom>
          <a:solidFill>
            <a:srgbClr val="000000"/>
          </a:solidFill>
          <a:ln/>
        </p:spPr>
      </p:sp>
      <p:sp>
        <p:nvSpPr>
          <p:cNvPr id="36" name="gc-0-12"/>
          <p:cNvSpPr/>
          <p:nvPr/>
        </p:nvSpPr>
        <p:spPr>
          <a:xfrm>
            <a:off x="8705088" y="1828800"/>
            <a:ext cx="210312" cy="201168"/>
          </a:xfrm>
          <a:prstGeom prst="rect">
            <a:avLst/>
          </a:prstGeom>
          <a:solidFill>
            <a:srgbClr val="000000"/>
          </a:solidFill>
          <a:ln/>
        </p:spPr>
      </p:sp>
      <p:sp>
        <p:nvSpPr>
          <p:cNvPr id="37" name="gc-0-13"/>
          <p:cNvSpPr/>
          <p:nvPr/>
        </p:nvSpPr>
        <p:spPr>
          <a:xfrm>
            <a:off x="8965692" y="1828800"/>
            <a:ext cx="210312" cy="201168"/>
          </a:xfrm>
          <a:prstGeom prst="rect">
            <a:avLst/>
          </a:prstGeom>
          <a:solidFill>
            <a:srgbClr val="000000"/>
          </a:solidFill>
          <a:ln/>
        </p:spPr>
      </p:sp>
      <p:sp>
        <p:nvSpPr>
          <p:cNvPr id="38" name="gc-0-14"/>
          <p:cNvSpPr/>
          <p:nvPr/>
        </p:nvSpPr>
        <p:spPr>
          <a:xfrm>
            <a:off x="9226296" y="1828800"/>
            <a:ext cx="210312" cy="201168"/>
          </a:xfrm>
          <a:prstGeom prst="rect">
            <a:avLst/>
          </a:prstGeom>
          <a:solidFill>
            <a:srgbClr val="000000"/>
          </a:solidFill>
          <a:ln/>
        </p:spPr>
      </p:sp>
      <p:sp>
        <p:nvSpPr>
          <p:cNvPr id="39" name="gc-0-15"/>
          <p:cNvSpPr/>
          <p:nvPr/>
        </p:nvSpPr>
        <p:spPr>
          <a:xfrm>
            <a:off x="9486900" y="1828800"/>
            <a:ext cx="210312" cy="201168"/>
          </a:xfrm>
          <a:prstGeom prst="rect">
            <a:avLst/>
          </a:prstGeom>
          <a:solidFill>
            <a:srgbClr val="000000"/>
          </a:solidFill>
          <a:ln/>
        </p:spPr>
      </p:sp>
      <p:sp>
        <p:nvSpPr>
          <p:cNvPr id="40" name="gc-0-16"/>
          <p:cNvSpPr/>
          <p:nvPr/>
        </p:nvSpPr>
        <p:spPr>
          <a:xfrm>
            <a:off x="9747504" y="1828800"/>
            <a:ext cx="210312" cy="201168"/>
          </a:xfrm>
          <a:prstGeom prst="rect">
            <a:avLst/>
          </a:prstGeom>
          <a:solidFill>
            <a:srgbClr val="000000"/>
          </a:solidFill>
          <a:ln/>
        </p:spPr>
      </p:sp>
      <p:sp>
        <p:nvSpPr>
          <p:cNvPr id="41" name="gc-0-17"/>
          <p:cNvSpPr/>
          <p:nvPr/>
        </p:nvSpPr>
        <p:spPr>
          <a:xfrm>
            <a:off x="10008108" y="1828800"/>
            <a:ext cx="210312" cy="201168"/>
          </a:xfrm>
          <a:prstGeom prst="rect">
            <a:avLst/>
          </a:prstGeom>
          <a:solidFill>
            <a:srgbClr val="000000"/>
          </a:solidFill>
          <a:ln/>
        </p:spPr>
      </p:sp>
      <p:sp>
        <p:nvSpPr>
          <p:cNvPr id="42" name="gc-0-18"/>
          <p:cNvSpPr/>
          <p:nvPr/>
        </p:nvSpPr>
        <p:spPr>
          <a:xfrm>
            <a:off x="10268712" y="1828800"/>
            <a:ext cx="210312" cy="201168"/>
          </a:xfrm>
          <a:prstGeom prst="rect">
            <a:avLst/>
          </a:prstGeom>
          <a:solidFill>
            <a:srgbClr val="000000"/>
          </a:solidFill>
          <a:ln/>
        </p:spPr>
      </p:sp>
      <p:sp>
        <p:nvSpPr>
          <p:cNvPr id="43" name="gc-0-19"/>
          <p:cNvSpPr/>
          <p:nvPr/>
        </p:nvSpPr>
        <p:spPr>
          <a:xfrm>
            <a:off x="10529316" y="1828800"/>
            <a:ext cx="210312" cy="201168"/>
          </a:xfrm>
          <a:prstGeom prst="rect">
            <a:avLst/>
          </a:prstGeom>
          <a:solidFill>
            <a:srgbClr val="000000"/>
          </a:solidFill>
          <a:ln/>
        </p:spPr>
      </p:sp>
      <p:sp>
        <p:nvSpPr>
          <p:cNvPr id="44" name="gc-0-20"/>
          <p:cNvSpPr/>
          <p:nvPr/>
        </p:nvSpPr>
        <p:spPr>
          <a:xfrm>
            <a:off x="10789920" y="1828800"/>
            <a:ext cx="210312" cy="201168"/>
          </a:xfrm>
          <a:prstGeom prst="rect">
            <a:avLst/>
          </a:prstGeom>
          <a:solidFill>
            <a:srgbClr val="000000"/>
          </a:solidFill>
          <a:ln/>
        </p:spPr>
      </p:sp>
      <p:sp>
        <p:nvSpPr>
          <p:cNvPr id="45" name="gc-0-21"/>
          <p:cNvSpPr/>
          <p:nvPr/>
        </p:nvSpPr>
        <p:spPr>
          <a:xfrm>
            <a:off x="11050524" y="1828800"/>
            <a:ext cx="210312" cy="201168"/>
          </a:xfrm>
          <a:prstGeom prst="rect">
            <a:avLst/>
          </a:prstGeom>
          <a:solidFill>
            <a:srgbClr val="000000"/>
          </a:solidFill>
          <a:ln/>
        </p:spPr>
      </p:sp>
      <p:sp>
        <p:nvSpPr>
          <p:cNvPr id="46" name="gc-1-0"/>
          <p:cNvSpPr/>
          <p:nvPr/>
        </p:nvSpPr>
        <p:spPr>
          <a:xfrm>
            <a:off x="5577840" y="2084832"/>
            <a:ext cx="210312" cy="201168"/>
          </a:xfrm>
          <a:prstGeom prst="rect">
            <a:avLst/>
          </a:prstGeom>
          <a:solidFill>
            <a:srgbClr val="000000"/>
          </a:solidFill>
          <a:ln/>
        </p:spPr>
      </p:sp>
      <p:sp>
        <p:nvSpPr>
          <p:cNvPr id="47" name="gc-1-1"/>
          <p:cNvSpPr/>
          <p:nvPr/>
        </p:nvSpPr>
        <p:spPr>
          <a:xfrm>
            <a:off x="5838444" y="2084832"/>
            <a:ext cx="210312" cy="201168"/>
          </a:xfrm>
          <a:prstGeom prst="rect">
            <a:avLst/>
          </a:prstGeom>
          <a:solidFill>
            <a:srgbClr val="000000"/>
          </a:solidFill>
          <a:ln/>
        </p:spPr>
      </p:sp>
      <p:sp>
        <p:nvSpPr>
          <p:cNvPr id="48" name="gc-1-2"/>
          <p:cNvSpPr/>
          <p:nvPr/>
        </p:nvSpPr>
        <p:spPr>
          <a:xfrm>
            <a:off x="6099048" y="2084832"/>
            <a:ext cx="210312" cy="201168"/>
          </a:xfrm>
          <a:prstGeom prst="rect">
            <a:avLst/>
          </a:prstGeom>
          <a:solidFill>
            <a:srgbClr val="000000"/>
          </a:solidFill>
          <a:ln/>
        </p:spPr>
      </p:sp>
      <p:sp>
        <p:nvSpPr>
          <p:cNvPr id="49" name="gc-1-3"/>
          <p:cNvSpPr/>
          <p:nvPr/>
        </p:nvSpPr>
        <p:spPr>
          <a:xfrm>
            <a:off x="6359652" y="2084832"/>
            <a:ext cx="210312" cy="201168"/>
          </a:xfrm>
          <a:prstGeom prst="rect">
            <a:avLst/>
          </a:prstGeom>
          <a:solidFill>
            <a:srgbClr val="000000"/>
          </a:solidFill>
          <a:ln/>
        </p:spPr>
      </p:sp>
      <p:sp>
        <p:nvSpPr>
          <p:cNvPr id="50" name="gc-1-4"/>
          <p:cNvSpPr/>
          <p:nvPr/>
        </p:nvSpPr>
        <p:spPr>
          <a:xfrm>
            <a:off x="6620256" y="2084832"/>
            <a:ext cx="210312" cy="201168"/>
          </a:xfrm>
          <a:prstGeom prst="rect">
            <a:avLst/>
          </a:prstGeom>
          <a:solidFill>
            <a:srgbClr val="000000"/>
          </a:solidFill>
          <a:ln/>
        </p:spPr>
      </p:sp>
      <p:sp>
        <p:nvSpPr>
          <p:cNvPr id="51" name="gc-1-5"/>
          <p:cNvSpPr/>
          <p:nvPr/>
        </p:nvSpPr>
        <p:spPr>
          <a:xfrm>
            <a:off x="6880860" y="2084832"/>
            <a:ext cx="210312" cy="201168"/>
          </a:xfrm>
          <a:prstGeom prst="rect">
            <a:avLst/>
          </a:prstGeom>
          <a:solidFill>
            <a:srgbClr val="000000"/>
          </a:solidFill>
          <a:ln/>
        </p:spPr>
      </p:sp>
      <p:sp>
        <p:nvSpPr>
          <p:cNvPr id="52" name="gc-1-6"/>
          <p:cNvSpPr/>
          <p:nvPr/>
        </p:nvSpPr>
        <p:spPr>
          <a:xfrm>
            <a:off x="7141464" y="2084832"/>
            <a:ext cx="210312" cy="201168"/>
          </a:xfrm>
          <a:prstGeom prst="rect">
            <a:avLst/>
          </a:prstGeom>
          <a:solidFill>
            <a:srgbClr val="000000"/>
          </a:solidFill>
          <a:ln/>
        </p:spPr>
      </p:sp>
      <p:sp>
        <p:nvSpPr>
          <p:cNvPr id="53" name="gc-1-7"/>
          <p:cNvSpPr/>
          <p:nvPr/>
        </p:nvSpPr>
        <p:spPr>
          <a:xfrm>
            <a:off x="7402068" y="2084832"/>
            <a:ext cx="210312" cy="201168"/>
          </a:xfrm>
          <a:prstGeom prst="rect">
            <a:avLst/>
          </a:prstGeom>
          <a:solidFill>
            <a:srgbClr val="000000"/>
          </a:solidFill>
          <a:ln/>
        </p:spPr>
      </p:sp>
      <p:sp>
        <p:nvSpPr>
          <p:cNvPr id="54" name="gc-1-8"/>
          <p:cNvSpPr/>
          <p:nvPr/>
        </p:nvSpPr>
        <p:spPr>
          <a:xfrm>
            <a:off x="7662672" y="2084832"/>
            <a:ext cx="210312" cy="201168"/>
          </a:xfrm>
          <a:prstGeom prst="rect">
            <a:avLst/>
          </a:prstGeom>
          <a:solidFill>
            <a:srgbClr val="000000"/>
          </a:solidFill>
          <a:ln/>
        </p:spPr>
      </p:sp>
      <p:sp>
        <p:nvSpPr>
          <p:cNvPr id="55" name="gc-1-9"/>
          <p:cNvSpPr/>
          <p:nvPr/>
        </p:nvSpPr>
        <p:spPr>
          <a:xfrm>
            <a:off x="7923276" y="2084832"/>
            <a:ext cx="210312" cy="201168"/>
          </a:xfrm>
          <a:prstGeom prst="rect">
            <a:avLst/>
          </a:prstGeom>
          <a:solidFill>
            <a:srgbClr val="000000"/>
          </a:solidFill>
          <a:ln/>
        </p:spPr>
      </p:sp>
      <p:sp>
        <p:nvSpPr>
          <p:cNvPr id="56" name="gc-1-10"/>
          <p:cNvSpPr/>
          <p:nvPr/>
        </p:nvSpPr>
        <p:spPr>
          <a:xfrm>
            <a:off x="8183880" y="2084832"/>
            <a:ext cx="210312" cy="201168"/>
          </a:xfrm>
          <a:prstGeom prst="rect">
            <a:avLst/>
          </a:prstGeom>
          <a:solidFill>
            <a:srgbClr val="000000"/>
          </a:solidFill>
          <a:ln/>
        </p:spPr>
      </p:sp>
      <p:sp>
        <p:nvSpPr>
          <p:cNvPr id="57" name="gc-1-11"/>
          <p:cNvSpPr/>
          <p:nvPr/>
        </p:nvSpPr>
        <p:spPr>
          <a:xfrm>
            <a:off x="8444484" y="2084832"/>
            <a:ext cx="210312" cy="201168"/>
          </a:xfrm>
          <a:prstGeom prst="rect">
            <a:avLst/>
          </a:prstGeom>
          <a:solidFill>
            <a:srgbClr val="000000"/>
          </a:solidFill>
          <a:ln/>
        </p:spPr>
      </p:sp>
      <p:sp>
        <p:nvSpPr>
          <p:cNvPr id="58" name="gc-1-12"/>
          <p:cNvSpPr/>
          <p:nvPr/>
        </p:nvSpPr>
        <p:spPr>
          <a:xfrm>
            <a:off x="8705088" y="2084832"/>
            <a:ext cx="210312" cy="201168"/>
          </a:xfrm>
          <a:prstGeom prst="rect">
            <a:avLst/>
          </a:prstGeom>
          <a:solidFill>
            <a:srgbClr val="000000"/>
          </a:solidFill>
          <a:ln/>
        </p:spPr>
      </p:sp>
      <p:sp>
        <p:nvSpPr>
          <p:cNvPr id="59" name="gc-1-13"/>
          <p:cNvSpPr/>
          <p:nvPr/>
        </p:nvSpPr>
        <p:spPr>
          <a:xfrm>
            <a:off x="8965692" y="2084832"/>
            <a:ext cx="210312" cy="201168"/>
          </a:xfrm>
          <a:prstGeom prst="rect">
            <a:avLst/>
          </a:prstGeom>
          <a:solidFill>
            <a:srgbClr val="000000"/>
          </a:solidFill>
          <a:ln/>
        </p:spPr>
      </p:sp>
      <p:sp>
        <p:nvSpPr>
          <p:cNvPr id="60" name="gc-1-14"/>
          <p:cNvSpPr/>
          <p:nvPr/>
        </p:nvSpPr>
        <p:spPr>
          <a:xfrm>
            <a:off x="9226296" y="2084832"/>
            <a:ext cx="210312" cy="201168"/>
          </a:xfrm>
          <a:prstGeom prst="rect">
            <a:avLst/>
          </a:prstGeom>
          <a:solidFill>
            <a:srgbClr val="000000"/>
          </a:solidFill>
          <a:ln/>
        </p:spPr>
      </p:sp>
      <p:sp>
        <p:nvSpPr>
          <p:cNvPr id="61" name="gc-1-15"/>
          <p:cNvSpPr/>
          <p:nvPr/>
        </p:nvSpPr>
        <p:spPr>
          <a:xfrm>
            <a:off x="9486900" y="2084832"/>
            <a:ext cx="210312" cy="201168"/>
          </a:xfrm>
          <a:prstGeom prst="rect">
            <a:avLst/>
          </a:prstGeom>
          <a:solidFill>
            <a:srgbClr val="000000"/>
          </a:solidFill>
          <a:ln/>
        </p:spPr>
      </p:sp>
      <p:sp>
        <p:nvSpPr>
          <p:cNvPr id="62" name="gc-1-16"/>
          <p:cNvSpPr/>
          <p:nvPr/>
        </p:nvSpPr>
        <p:spPr>
          <a:xfrm>
            <a:off x="9747504" y="2084832"/>
            <a:ext cx="210312" cy="201168"/>
          </a:xfrm>
          <a:prstGeom prst="rect">
            <a:avLst/>
          </a:prstGeom>
          <a:solidFill>
            <a:srgbClr val="000000"/>
          </a:solidFill>
          <a:ln/>
        </p:spPr>
      </p:sp>
      <p:sp>
        <p:nvSpPr>
          <p:cNvPr id="63" name="gc-1-17"/>
          <p:cNvSpPr/>
          <p:nvPr/>
        </p:nvSpPr>
        <p:spPr>
          <a:xfrm>
            <a:off x="10008108" y="2084832"/>
            <a:ext cx="210312" cy="201168"/>
          </a:xfrm>
          <a:prstGeom prst="rect">
            <a:avLst/>
          </a:prstGeom>
          <a:solidFill>
            <a:srgbClr val="000000"/>
          </a:solidFill>
          <a:ln/>
        </p:spPr>
      </p:sp>
      <p:sp>
        <p:nvSpPr>
          <p:cNvPr id="64" name="gc-1-18"/>
          <p:cNvSpPr/>
          <p:nvPr/>
        </p:nvSpPr>
        <p:spPr>
          <a:xfrm>
            <a:off x="10268712" y="2084832"/>
            <a:ext cx="210312" cy="201168"/>
          </a:xfrm>
          <a:prstGeom prst="rect">
            <a:avLst/>
          </a:prstGeom>
          <a:solidFill>
            <a:srgbClr val="000000"/>
          </a:solidFill>
          <a:ln/>
        </p:spPr>
      </p:sp>
      <p:sp>
        <p:nvSpPr>
          <p:cNvPr id="65" name="gc-1-19"/>
          <p:cNvSpPr/>
          <p:nvPr/>
        </p:nvSpPr>
        <p:spPr>
          <a:xfrm>
            <a:off x="10529316" y="2084832"/>
            <a:ext cx="210312" cy="201168"/>
          </a:xfrm>
          <a:prstGeom prst="rect">
            <a:avLst/>
          </a:prstGeom>
          <a:solidFill>
            <a:srgbClr val="000000"/>
          </a:solidFill>
          <a:ln/>
        </p:spPr>
      </p:sp>
      <p:sp>
        <p:nvSpPr>
          <p:cNvPr id="66" name="gc-1-20"/>
          <p:cNvSpPr/>
          <p:nvPr/>
        </p:nvSpPr>
        <p:spPr>
          <a:xfrm>
            <a:off x="10789920" y="2084832"/>
            <a:ext cx="210312" cy="201168"/>
          </a:xfrm>
          <a:prstGeom prst="rect">
            <a:avLst/>
          </a:prstGeom>
          <a:solidFill>
            <a:srgbClr val="000000"/>
          </a:solidFill>
          <a:ln/>
        </p:spPr>
      </p:sp>
      <p:sp>
        <p:nvSpPr>
          <p:cNvPr id="67" name="gc-1-21"/>
          <p:cNvSpPr/>
          <p:nvPr/>
        </p:nvSpPr>
        <p:spPr>
          <a:xfrm>
            <a:off x="11050524" y="2084832"/>
            <a:ext cx="210312" cy="201168"/>
          </a:xfrm>
          <a:prstGeom prst="rect">
            <a:avLst/>
          </a:prstGeom>
          <a:solidFill>
            <a:srgbClr val="000000"/>
          </a:solidFill>
          <a:ln/>
        </p:spPr>
      </p:sp>
      <p:sp>
        <p:nvSpPr>
          <p:cNvPr id="68" name="gc-2-0"/>
          <p:cNvSpPr/>
          <p:nvPr/>
        </p:nvSpPr>
        <p:spPr>
          <a:xfrm>
            <a:off x="5577840" y="2340864"/>
            <a:ext cx="210312" cy="201168"/>
          </a:xfrm>
          <a:prstGeom prst="rect">
            <a:avLst/>
          </a:prstGeom>
          <a:solidFill>
            <a:srgbClr val="000000"/>
          </a:solidFill>
          <a:ln/>
        </p:spPr>
      </p:sp>
      <p:sp>
        <p:nvSpPr>
          <p:cNvPr id="69" name="gc-2-1"/>
          <p:cNvSpPr/>
          <p:nvPr/>
        </p:nvSpPr>
        <p:spPr>
          <a:xfrm>
            <a:off x="5838444" y="2340864"/>
            <a:ext cx="210312" cy="201168"/>
          </a:xfrm>
          <a:prstGeom prst="rect">
            <a:avLst/>
          </a:prstGeom>
          <a:solidFill>
            <a:srgbClr val="000000"/>
          </a:solidFill>
          <a:ln/>
        </p:spPr>
      </p:sp>
      <p:sp>
        <p:nvSpPr>
          <p:cNvPr id="70" name="gc-2-2"/>
          <p:cNvSpPr/>
          <p:nvPr/>
        </p:nvSpPr>
        <p:spPr>
          <a:xfrm>
            <a:off x="6099048" y="2340864"/>
            <a:ext cx="210312" cy="201168"/>
          </a:xfrm>
          <a:prstGeom prst="rect">
            <a:avLst/>
          </a:prstGeom>
          <a:solidFill>
            <a:srgbClr val="000000"/>
          </a:solidFill>
          <a:ln/>
        </p:spPr>
      </p:sp>
      <p:sp>
        <p:nvSpPr>
          <p:cNvPr id="71" name="gc-2-3"/>
          <p:cNvSpPr/>
          <p:nvPr/>
        </p:nvSpPr>
        <p:spPr>
          <a:xfrm>
            <a:off x="6359652" y="2340864"/>
            <a:ext cx="210312" cy="201168"/>
          </a:xfrm>
          <a:prstGeom prst="rect">
            <a:avLst/>
          </a:prstGeom>
          <a:solidFill>
            <a:srgbClr val="000000"/>
          </a:solidFill>
          <a:ln/>
        </p:spPr>
      </p:sp>
      <p:sp>
        <p:nvSpPr>
          <p:cNvPr id="72" name="gc-2-4"/>
          <p:cNvSpPr/>
          <p:nvPr/>
        </p:nvSpPr>
        <p:spPr>
          <a:xfrm>
            <a:off x="6620256" y="2340864"/>
            <a:ext cx="210312" cy="201168"/>
          </a:xfrm>
          <a:prstGeom prst="rect">
            <a:avLst/>
          </a:prstGeom>
          <a:solidFill>
            <a:srgbClr val="000000"/>
          </a:solidFill>
          <a:ln/>
        </p:spPr>
      </p:sp>
      <p:sp>
        <p:nvSpPr>
          <p:cNvPr id="73" name="gc-2-5"/>
          <p:cNvSpPr/>
          <p:nvPr/>
        </p:nvSpPr>
        <p:spPr>
          <a:xfrm>
            <a:off x="6880860" y="2340864"/>
            <a:ext cx="210312" cy="201168"/>
          </a:xfrm>
          <a:prstGeom prst="rect">
            <a:avLst/>
          </a:prstGeom>
          <a:solidFill>
            <a:srgbClr val="000000"/>
          </a:solidFill>
          <a:ln/>
        </p:spPr>
      </p:sp>
      <p:sp>
        <p:nvSpPr>
          <p:cNvPr id="74" name="gc-2-6"/>
          <p:cNvSpPr/>
          <p:nvPr/>
        </p:nvSpPr>
        <p:spPr>
          <a:xfrm>
            <a:off x="7141464" y="2340864"/>
            <a:ext cx="210312" cy="201168"/>
          </a:xfrm>
          <a:prstGeom prst="rect">
            <a:avLst/>
          </a:prstGeom>
          <a:solidFill>
            <a:srgbClr val="000000"/>
          </a:solidFill>
          <a:ln/>
        </p:spPr>
      </p:sp>
      <p:sp>
        <p:nvSpPr>
          <p:cNvPr id="75" name="gc-2-7"/>
          <p:cNvSpPr/>
          <p:nvPr/>
        </p:nvSpPr>
        <p:spPr>
          <a:xfrm>
            <a:off x="7402068" y="2340864"/>
            <a:ext cx="210312" cy="201168"/>
          </a:xfrm>
          <a:prstGeom prst="rect">
            <a:avLst/>
          </a:prstGeom>
          <a:solidFill>
            <a:srgbClr val="000000"/>
          </a:solidFill>
          <a:ln/>
        </p:spPr>
      </p:sp>
      <p:sp>
        <p:nvSpPr>
          <p:cNvPr id="76" name="gc-2-8"/>
          <p:cNvSpPr/>
          <p:nvPr/>
        </p:nvSpPr>
        <p:spPr>
          <a:xfrm>
            <a:off x="7662672" y="2340864"/>
            <a:ext cx="210312" cy="201168"/>
          </a:xfrm>
          <a:prstGeom prst="rect">
            <a:avLst/>
          </a:prstGeom>
          <a:solidFill>
            <a:srgbClr val="000000"/>
          </a:solidFill>
          <a:ln/>
        </p:spPr>
      </p:sp>
      <p:sp>
        <p:nvSpPr>
          <p:cNvPr id="77" name="gc-2-9"/>
          <p:cNvSpPr/>
          <p:nvPr/>
        </p:nvSpPr>
        <p:spPr>
          <a:xfrm>
            <a:off x="7923276" y="2340864"/>
            <a:ext cx="210312" cy="201168"/>
          </a:xfrm>
          <a:prstGeom prst="rect">
            <a:avLst/>
          </a:prstGeom>
          <a:solidFill>
            <a:srgbClr val="000000"/>
          </a:solidFill>
          <a:ln/>
        </p:spPr>
      </p:sp>
      <p:sp>
        <p:nvSpPr>
          <p:cNvPr id="78" name="gc-2-10"/>
          <p:cNvSpPr/>
          <p:nvPr/>
        </p:nvSpPr>
        <p:spPr>
          <a:xfrm>
            <a:off x="8183880" y="2340864"/>
            <a:ext cx="210312" cy="201168"/>
          </a:xfrm>
          <a:prstGeom prst="rect">
            <a:avLst/>
          </a:prstGeom>
          <a:solidFill>
            <a:srgbClr val="000000"/>
          </a:solidFill>
          <a:ln/>
        </p:spPr>
      </p:sp>
      <p:sp>
        <p:nvSpPr>
          <p:cNvPr id="79" name="gc-2-11"/>
          <p:cNvSpPr/>
          <p:nvPr/>
        </p:nvSpPr>
        <p:spPr>
          <a:xfrm>
            <a:off x="8444484" y="2340864"/>
            <a:ext cx="210312" cy="201168"/>
          </a:xfrm>
          <a:prstGeom prst="rect">
            <a:avLst/>
          </a:prstGeom>
          <a:solidFill>
            <a:srgbClr val="000000"/>
          </a:solidFill>
          <a:ln/>
        </p:spPr>
      </p:sp>
      <p:sp>
        <p:nvSpPr>
          <p:cNvPr id="80" name="gc-2-12"/>
          <p:cNvSpPr/>
          <p:nvPr/>
        </p:nvSpPr>
        <p:spPr>
          <a:xfrm>
            <a:off x="8705088" y="2340864"/>
            <a:ext cx="210312" cy="201168"/>
          </a:xfrm>
          <a:prstGeom prst="rect">
            <a:avLst/>
          </a:prstGeom>
          <a:solidFill>
            <a:srgbClr val="000000"/>
          </a:solidFill>
          <a:ln/>
        </p:spPr>
      </p:sp>
      <p:sp>
        <p:nvSpPr>
          <p:cNvPr id="81" name="gc-2-13"/>
          <p:cNvSpPr/>
          <p:nvPr/>
        </p:nvSpPr>
        <p:spPr>
          <a:xfrm>
            <a:off x="8965692" y="2340864"/>
            <a:ext cx="210312" cy="201168"/>
          </a:xfrm>
          <a:prstGeom prst="rect">
            <a:avLst/>
          </a:prstGeom>
          <a:solidFill>
            <a:srgbClr val="000000"/>
          </a:solidFill>
          <a:ln/>
        </p:spPr>
      </p:sp>
      <p:sp>
        <p:nvSpPr>
          <p:cNvPr id="82" name="gc-2-14"/>
          <p:cNvSpPr/>
          <p:nvPr/>
        </p:nvSpPr>
        <p:spPr>
          <a:xfrm>
            <a:off x="9226296" y="2340864"/>
            <a:ext cx="210312" cy="201168"/>
          </a:xfrm>
          <a:prstGeom prst="rect">
            <a:avLst/>
          </a:prstGeom>
          <a:solidFill>
            <a:srgbClr val="000000"/>
          </a:solidFill>
          <a:ln/>
        </p:spPr>
      </p:sp>
      <p:sp>
        <p:nvSpPr>
          <p:cNvPr id="83" name="gc-2-15"/>
          <p:cNvSpPr/>
          <p:nvPr/>
        </p:nvSpPr>
        <p:spPr>
          <a:xfrm>
            <a:off x="9486900" y="2340864"/>
            <a:ext cx="210312" cy="201168"/>
          </a:xfrm>
          <a:prstGeom prst="rect">
            <a:avLst/>
          </a:prstGeom>
          <a:solidFill>
            <a:srgbClr val="000000"/>
          </a:solidFill>
          <a:ln/>
        </p:spPr>
      </p:sp>
      <p:sp>
        <p:nvSpPr>
          <p:cNvPr id="84" name="gc-2-16"/>
          <p:cNvSpPr/>
          <p:nvPr/>
        </p:nvSpPr>
        <p:spPr>
          <a:xfrm>
            <a:off x="9747504" y="2340864"/>
            <a:ext cx="210312" cy="201168"/>
          </a:xfrm>
          <a:prstGeom prst="rect">
            <a:avLst/>
          </a:prstGeom>
          <a:solidFill>
            <a:srgbClr val="000000"/>
          </a:solidFill>
          <a:ln/>
        </p:spPr>
      </p:sp>
      <p:sp>
        <p:nvSpPr>
          <p:cNvPr id="85" name="gc-2-17"/>
          <p:cNvSpPr/>
          <p:nvPr/>
        </p:nvSpPr>
        <p:spPr>
          <a:xfrm>
            <a:off x="10008108" y="2340864"/>
            <a:ext cx="210312" cy="201168"/>
          </a:xfrm>
          <a:prstGeom prst="rect">
            <a:avLst/>
          </a:prstGeom>
          <a:solidFill>
            <a:srgbClr val="000000"/>
          </a:solidFill>
          <a:ln/>
        </p:spPr>
      </p:sp>
      <p:sp>
        <p:nvSpPr>
          <p:cNvPr id="86" name="gc-2-18"/>
          <p:cNvSpPr/>
          <p:nvPr/>
        </p:nvSpPr>
        <p:spPr>
          <a:xfrm>
            <a:off x="10268712" y="2340864"/>
            <a:ext cx="210312" cy="201168"/>
          </a:xfrm>
          <a:prstGeom prst="rect">
            <a:avLst/>
          </a:prstGeom>
          <a:solidFill>
            <a:srgbClr val="000000"/>
          </a:solidFill>
          <a:ln/>
        </p:spPr>
      </p:sp>
      <p:sp>
        <p:nvSpPr>
          <p:cNvPr id="87" name="gc-2-19"/>
          <p:cNvSpPr/>
          <p:nvPr/>
        </p:nvSpPr>
        <p:spPr>
          <a:xfrm>
            <a:off x="10529316" y="2340864"/>
            <a:ext cx="210312" cy="201168"/>
          </a:xfrm>
          <a:prstGeom prst="rect">
            <a:avLst/>
          </a:prstGeom>
          <a:solidFill>
            <a:srgbClr val="000000"/>
          </a:solidFill>
          <a:ln/>
        </p:spPr>
      </p:sp>
      <p:sp>
        <p:nvSpPr>
          <p:cNvPr id="88" name="gc-2-20"/>
          <p:cNvSpPr/>
          <p:nvPr/>
        </p:nvSpPr>
        <p:spPr>
          <a:xfrm>
            <a:off x="10789920" y="2340864"/>
            <a:ext cx="210312" cy="201168"/>
          </a:xfrm>
          <a:prstGeom prst="rect">
            <a:avLst/>
          </a:prstGeom>
          <a:solidFill>
            <a:srgbClr val="000000"/>
          </a:solidFill>
          <a:ln/>
        </p:spPr>
      </p:sp>
      <p:sp>
        <p:nvSpPr>
          <p:cNvPr id="89" name="gc-2-21"/>
          <p:cNvSpPr/>
          <p:nvPr/>
        </p:nvSpPr>
        <p:spPr>
          <a:xfrm>
            <a:off x="11050524" y="2340864"/>
            <a:ext cx="210312" cy="201168"/>
          </a:xfrm>
          <a:prstGeom prst="rect">
            <a:avLst/>
          </a:prstGeom>
          <a:solidFill>
            <a:srgbClr val="000000"/>
          </a:solidFill>
          <a:ln/>
        </p:spPr>
      </p:sp>
      <p:sp>
        <p:nvSpPr>
          <p:cNvPr id="90" name="gc-3-0"/>
          <p:cNvSpPr/>
          <p:nvPr/>
        </p:nvSpPr>
        <p:spPr>
          <a:xfrm>
            <a:off x="5577840" y="2596896"/>
            <a:ext cx="210312" cy="201168"/>
          </a:xfrm>
          <a:prstGeom prst="rect">
            <a:avLst/>
          </a:prstGeom>
          <a:solidFill>
            <a:srgbClr val="000000"/>
          </a:solidFill>
          <a:ln/>
        </p:spPr>
      </p:sp>
      <p:sp>
        <p:nvSpPr>
          <p:cNvPr id="91" name="gc-3-1"/>
          <p:cNvSpPr/>
          <p:nvPr/>
        </p:nvSpPr>
        <p:spPr>
          <a:xfrm>
            <a:off x="5838444" y="2596896"/>
            <a:ext cx="210312" cy="201168"/>
          </a:xfrm>
          <a:prstGeom prst="rect">
            <a:avLst/>
          </a:prstGeom>
          <a:solidFill>
            <a:srgbClr val="000000"/>
          </a:solidFill>
          <a:ln/>
        </p:spPr>
      </p:sp>
      <p:sp>
        <p:nvSpPr>
          <p:cNvPr id="92" name="gc-3-2"/>
          <p:cNvSpPr/>
          <p:nvPr/>
        </p:nvSpPr>
        <p:spPr>
          <a:xfrm>
            <a:off x="6099048" y="2596896"/>
            <a:ext cx="210312" cy="201168"/>
          </a:xfrm>
          <a:prstGeom prst="rect">
            <a:avLst/>
          </a:prstGeom>
          <a:solidFill>
            <a:srgbClr val="000000"/>
          </a:solidFill>
          <a:ln/>
        </p:spPr>
      </p:sp>
      <p:sp>
        <p:nvSpPr>
          <p:cNvPr id="93" name="gc-3-3"/>
          <p:cNvSpPr/>
          <p:nvPr/>
        </p:nvSpPr>
        <p:spPr>
          <a:xfrm>
            <a:off x="6359652" y="2596896"/>
            <a:ext cx="210312" cy="201168"/>
          </a:xfrm>
          <a:prstGeom prst="rect">
            <a:avLst/>
          </a:prstGeom>
          <a:solidFill>
            <a:srgbClr val="000000"/>
          </a:solidFill>
          <a:ln/>
        </p:spPr>
      </p:sp>
      <p:sp>
        <p:nvSpPr>
          <p:cNvPr id="94" name="gc-3-4"/>
          <p:cNvSpPr/>
          <p:nvPr/>
        </p:nvSpPr>
        <p:spPr>
          <a:xfrm>
            <a:off x="6620256" y="2596896"/>
            <a:ext cx="210312" cy="201168"/>
          </a:xfrm>
          <a:prstGeom prst="rect">
            <a:avLst/>
          </a:prstGeom>
          <a:solidFill>
            <a:srgbClr val="000000"/>
          </a:solidFill>
          <a:ln/>
        </p:spPr>
      </p:sp>
      <p:sp>
        <p:nvSpPr>
          <p:cNvPr id="95" name="gc-3-5"/>
          <p:cNvSpPr/>
          <p:nvPr/>
        </p:nvSpPr>
        <p:spPr>
          <a:xfrm>
            <a:off x="6880860" y="2596896"/>
            <a:ext cx="210312" cy="201168"/>
          </a:xfrm>
          <a:prstGeom prst="rect">
            <a:avLst/>
          </a:prstGeom>
          <a:solidFill>
            <a:srgbClr val="000000"/>
          </a:solidFill>
          <a:ln/>
        </p:spPr>
      </p:sp>
      <p:sp>
        <p:nvSpPr>
          <p:cNvPr id="96" name="gc-3-6"/>
          <p:cNvSpPr/>
          <p:nvPr/>
        </p:nvSpPr>
        <p:spPr>
          <a:xfrm>
            <a:off x="7141464" y="2596896"/>
            <a:ext cx="210312" cy="201168"/>
          </a:xfrm>
          <a:prstGeom prst="rect">
            <a:avLst/>
          </a:prstGeom>
          <a:solidFill>
            <a:srgbClr val="000000"/>
          </a:solidFill>
          <a:ln/>
        </p:spPr>
      </p:sp>
      <p:sp>
        <p:nvSpPr>
          <p:cNvPr id="97" name="gc-3-7"/>
          <p:cNvSpPr/>
          <p:nvPr/>
        </p:nvSpPr>
        <p:spPr>
          <a:xfrm>
            <a:off x="7402068" y="2596896"/>
            <a:ext cx="210312" cy="201168"/>
          </a:xfrm>
          <a:prstGeom prst="rect">
            <a:avLst/>
          </a:prstGeom>
          <a:solidFill>
            <a:srgbClr val="000000"/>
          </a:solidFill>
          <a:ln/>
        </p:spPr>
      </p:sp>
      <p:sp>
        <p:nvSpPr>
          <p:cNvPr id="98" name="gc-3-8"/>
          <p:cNvSpPr/>
          <p:nvPr/>
        </p:nvSpPr>
        <p:spPr>
          <a:xfrm>
            <a:off x="7662672" y="2596896"/>
            <a:ext cx="210312" cy="201168"/>
          </a:xfrm>
          <a:prstGeom prst="rect">
            <a:avLst/>
          </a:prstGeom>
          <a:solidFill>
            <a:srgbClr val="000000"/>
          </a:solidFill>
          <a:ln/>
        </p:spPr>
      </p:sp>
      <p:sp>
        <p:nvSpPr>
          <p:cNvPr id="99" name="gc-3-9"/>
          <p:cNvSpPr/>
          <p:nvPr/>
        </p:nvSpPr>
        <p:spPr>
          <a:xfrm>
            <a:off x="7923276" y="2596896"/>
            <a:ext cx="210312" cy="201168"/>
          </a:xfrm>
          <a:prstGeom prst="rect">
            <a:avLst/>
          </a:prstGeom>
          <a:solidFill>
            <a:srgbClr val="000000"/>
          </a:solidFill>
          <a:ln/>
        </p:spPr>
      </p:sp>
      <p:sp>
        <p:nvSpPr>
          <p:cNvPr id="100" name="gc-3-10"/>
          <p:cNvSpPr/>
          <p:nvPr/>
        </p:nvSpPr>
        <p:spPr>
          <a:xfrm>
            <a:off x="8183880" y="2596896"/>
            <a:ext cx="210312" cy="201168"/>
          </a:xfrm>
          <a:prstGeom prst="rect">
            <a:avLst/>
          </a:prstGeom>
          <a:solidFill>
            <a:srgbClr val="000000"/>
          </a:solidFill>
          <a:ln/>
        </p:spPr>
      </p:sp>
      <p:sp>
        <p:nvSpPr>
          <p:cNvPr id="101" name="gc-3-11"/>
          <p:cNvSpPr/>
          <p:nvPr/>
        </p:nvSpPr>
        <p:spPr>
          <a:xfrm>
            <a:off x="8444484" y="2596896"/>
            <a:ext cx="210312" cy="201168"/>
          </a:xfrm>
          <a:prstGeom prst="rect">
            <a:avLst/>
          </a:prstGeom>
          <a:solidFill>
            <a:srgbClr val="000000"/>
          </a:solidFill>
          <a:ln/>
        </p:spPr>
      </p:sp>
      <p:sp>
        <p:nvSpPr>
          <p:cNvPr id="102" name="gc-3-12"/>
          <p:cNvSpPr/>
          <p:nvPr/>
        </p:nvSpPr>
        <p:spPr>
          <a:xfrm>
            <a:off x="8705088" y="2596896"/>
            <a:ext cx="210312" cy="201168"/>
          </a:xfrm>
          <a:prstGeom prst="rect">
            <a:avLst/>
          </a:prstGeom>
          <a:solidFill>
            <a:srgbClr val="000000"/>
          </a:solidFill>
          <a:ln/>
        </p:spPr>
      </p:sp>
      <p:sp>
        <p:nvSpPr>
          <p:cNvPr id="103" name="gc-3-13"/>
          <p:cNvSpPr/>
          <p:nvPr/>
        </p:nvSpPr>
        <p:spPr>
          <a:xfrm>
            <a:off x="8965692" y="2596896"/>
            <a:ext cx="210312" cy="201168"/>
          </a:xfrm>
          <a:prstGeom prst="rect">
            <a:avLst/>
          </a:prstGeom>
          <a:solidFill>
            <a:srgbClr val="000000"/>
          </a:solidFill>
          <a:ln/>
        </p:spPr>
      </p:sp>
      <p:sp>
        <p:nvSpPr>
          <p:cNvPr id="104" name="gc-3-14"/>
          <p:cNvSpPr/>
          <p:nvPr/>
        </p:nvSpPr>
        <p:spPr>
          <a:xfrm>
            <a:off x="9226296" y="2596896"/>
            <a:ext cx="210312" cy="201168"/>
          </a:xfrm>
          <a:prstGeom prst="rect">
            <a:avLst/>
          </a:prstGeom>
          <a:solidFill>
            <a:srgbClr val="000000"/>
          </a:solidFill>
          <a:ln/>
        </p:spPr>
      </p:sp>
      <p:sp>
        <p:nvSpPr>
          <p:cNvPr id="105" name="gc-3-15"/>
          <p:cNvSpPr/>
          <p:nvPr/>
        </p:nvSpPr>
        <p:spPr>
          <a:xfrm>
            <a:off x="9486900" y="2596896"/>
            <a:ext cx="210312" cy="201168"/>
          </a:xfrm>
          <a:prstGeom prst="rect">
            <a:avLst/>
          </a:prstGeom>
          <a:solidFill>
            <a:srgbClr val="000000"/>
          </a:solidFill>
          <a:ln/>
        </p:spPr>
      </p:sp>
      <p:sp>
        <p:nvSpPr>
          <p:cNvPr id="106" name="gc-3-16"/>
          <p:cNvSpPr/>
          <p:nvPr/>
        </p:nvSpPr>
        <p:spPr>
          <a:xfrm>
            <a:off x="9747504" y="2596896"/>
            <a:ext cx="210312" cy="201168"/>
          </a:xfrm>
          <a:prstGeom prst="rect">
            <a:avLst/>
          </a:prstGeom>
          <a:solidFill>
            <a:srgbClr val="000000"/>
          </a:solidFill>
          <a:ln/>
        </p:spPr>
      </p:sp>
      <p:sp>
        <p:nvSpPr>
          <p:cNvPr id="107" name="gc-3-17"/>
          <p:cNvSpPr/>
          <p:nvPr/>
        </p:nvSpPr>
        <p:spPr>
          <a:xfrm>
            <a:off x="10008108" y="2596896"/>
            <a:ext cx="210312" cy="201168"/>
          </a:xfrm>
          <a:prstGeom prst="rect">
            <a:avLst/>
          </a:prstGeom>
          <a:solidFill>
            <a:srgbClr val="000000"/>
          </a:solidFill>
          <a:ln/>
        </p:spPr>
      </p:sp>
      <p:sp>
        <p:nvSpPr>
          <p:cNvPr id="108" name="gc-3-18"/>
          <p:cNvSpPr/>
          <p:nvPr/>
        </p:nvSpPr>
        <p:spPr>
          <a:xfrm>
            <a:off x="10268712" y="2596896"/>
            <a:ext cx="210312" cy="201168"/>
          </a:xfrm>
          <a:prstGeom prst="rect">
            <a:avLst/>
          </a:prstGeom>
          <a:solidFill>
            <a:srgbClr val="000000"/>
          </a:solidFill>
          <a:ln/>
        </p:spPr>
      </p:sp>
      <p:sp>
        <p:nvSpPr>
          <p:cNvPr id="109" name="gc-3-19"/>
          <p:cNvSpPr/>
          <p:nvPr/>
        </p:nvSpPr>
        <p:spPr>
          <a:xfrm>
            <a:off x="10529316" y="2596896"/>
            <a:ext cx="210312" cy="201168"/>
          </a:xfrm>
          <a:prstGeom prst="rect">
            <a:avLst/>
          </a:prstGeom>
          <a:solidFill>
            <a:srgbClr val="000000"/>
          </a:solidFill>
          <a:ln/>
        </p:spPr>
      </p:sp>
      <p:sp>
        <p:nvSpPr>
          <p:cNvPr id="110" name="gc-3-20"/>
          <p:cNvSpPr/>
          <p:nvPr/>
        </p:nvSpPr>
        <p:spPr>
          <a:xfrm>
            <a:off x="10789920" y="2596896"/>
            <a:ext cx="210312" cy="201168"/>
          </a:xfrm>
          <a:prstGeom prst="rect">
            <a:avLst/>
          </a:prstGeom>
          <a:solidFill>
            <a:srgbClr val="000000"/>
          </a:solidFill>
          <a:ln/>
        </p:spPr>
      </p:sp>
      <p:sp>
        <p:nvSpPr>
          <p:cNvPr id="111" name="gc-3-21"/>
          <p:cNvSpPr/>
          <p:nvPr/>
        </p:nvSpPr>
        <p:spPr>
          <a:xfrm>
            <a:off x="11050524" y="2596896"/>
            <a:ext cx="210312" cy="201168"/>
          </a:xfrm>
          <a:prstGeom prst="rect">
            <a:avLst/>
          </a:prstGeom>
          <a:solidFill>
            <a:srgbClr val="000000"/>
          </a:solidFill>
          <a:ln/>
        </p:spPr>
      </p:sp>
      <p:sp>
        <p:nvSpPr>
          <p:cNvPr id="112" name="gc-4-0"/>
          <p:cNvSpPr/>
          <p:nvPr/>
        </p:nvSpPr>
        <p:spPr>
          <a:xfrm>
            <a:off x="5577840" y="2852928"/>
            <a:ext cx="210312" cy="201168"/>
          </a:xfrm>
          <a:prstGeom prst="rect">
            <a:avLst/>
          </a:prstGeom>
          <a:solidFill>
            <a:srgbClr val="000000"/>
          </a:solidFill>
          <a:ln/>
        </p:spPr>
      </p:sp>
      <p:sp>
        <p:nvSpPr>
          <p:cNvPr id="113" name="gc-4-1"/>
          <p:cNvSpPr/>
          <p:nvPr/>
        </p:nvSpPr>
        <p:spPr>
          <a:xfrm>
            <a:off x="5838444" y="2852928"/>
            <a:ext cx="210312" cy="201168"/>
          </a:xfrm>
          <a:prstGeom prst="rect">
            <a:avLst/>
          </a:prstGeom>
          <a:solidFill>
            <a:srgbClr val="000000"/>
          </a:solidFill>
          <a:ln/>
        </p:spPr>
      </p:sp>
      <p:sp>
        <p:nvSpPr>
          <p:cNvPr id="114" name="gc-4-2"/>
          <p:cNvSpPr/>
          <p:nvPr/>
        </p:nvSpPr>
        <p:spPr>
          <a:xfrm>
            <a:off x="6099048" y="2852928"/>
            <a:ext cx="210312" cy="201168"/>
          </a:xfrm>
          <a:prstGeom prst="rect">
            <a:avLst/>
          </a:prstGeom>
          <a:solidFill>
            <a:srgbClr val="000000"/>
          </a:solidFill>
          <a:ln/>
        </p:spPr>
      </p:sp>
      <p:sp>
        <p:nvSpPr>
          <p:cNvPr id="115" name="gc-4-3"/>
          <p:cNvSpPr/>
          <p:nvPr/>
        </p:nvSpPr>
        <p:spPr>
          <a:xfrm>
            <a:off x="6359652" y="2852928"/>
            <a:ext cx="210312" cy="201168"/>
          </a:xfrm>
          <a:prstGeom prst="rect">
            <a:avLst/>
          </a:prstGeom>
          <a:solidFill>
            <a:srgbClr val="000000"/>
          </a:solidFill>
          <a:ln/>
        </p:spPr>
      </p:sp>
      <p:sp>
        <p:nvSpPr>
          <p:cNvPr id="116" name="gc-4-4"/>
          <p:cNvSpPr/>
          <p:nvPr/>
        </p:nvSpPr>
        <p:spPr>
          <a:xfrm>
            <a:off x="6620256" y="2852928"/>
            <a:ext cx="210312" cy="201168"/>
          </a:xfrm>
          <a:prstGeom prst="rect">
            <a:avLst/>
          </a:prstGeom>
          <a:solidFill>
            <a:srgbClr val="000000"/>
          </a:solidFill>
          <a:ln/>
        </p:spPr>
      </p:sp>
      <p:sp>
        <p:nvSpPr>
          <p:cNvPr id="117" name="gc-4-5"/>
          <p:cNvSpPr/>
          <p:nvPr/>
        </p:nvSpPr>
        <p:spPr>
          <a:xfrm>
            <a:off x="6880860" y="2852928"/>
            <a:ext cx="210312" cy="201168"/>
          </a:xfrm>
          <a:prstGeom prst="rect">
            <a:avLst/>
          </a:prstGeom>
          <a:solidFill>
            <a:srgbClr val="000000"/>
          </a:solidFill>
          <a:ln/>
        </p:spPr>
      </p:sp>
      <p:sp>
        <p:nvSpPr>
          <p:cNvPr id="118" name="gc-4-6"/>
          <p:cNvSpPr/>
          <p:nvPr/>
        </p:nvSpPr>
        <p:spPr>
          <a:xfrm>
            <a:off x="7141464" y="2852928"/>
            <a:ext cx="210312" cy="201168"/>
          </a:xfrm>
          <a:prstGeom prst="rect">
            <a:avLst/>
          </a:prstGeom>
          <a:solidFill>
            <a:srgbClr val="000000"/>
          </a:solidFill>
          <a:ln/>
        </p:spPr>
      </p:sp>
      <p:sp>
        <p:nvSpPr>
          <p:cNvPr id="119" name="gc-4-7"/>
          <p:cNvSpPr/>
          <p:nvPr/>
        </p:nvSpPr>
        <p:spPr>
          <a:xfrm>
            <a:off x="7402068" y="2852928"/>
            <a:ext cx="210312" cy="201168"/>
          </a:xfrm>
          <a:prstGeom prst="rect">
            <a:avLst/>
          </a:prstGeom>
          <a:solidFill>
            <a:srgbClr val="000000"/>
          </a:solidFill>
          <a:ln/>
        </p:spPr>
      </p:sp>
      <p:sp>
        <p:nvSpPr>
          <p:cNvPr id="120" name="gc-4-8"/>
          <p:cNvSpPr/>
          <p:nvPr/>
        </p:nvSpPr>
        <p:spPr>
          <a:xfrm>
            <a:off x="7662672" y="2852928"/>
            <a:ext cx="210312" cy="201168"/>
          </a:xfrm>
          <a:prstGeom prst="rect">
            <a:avLst/>
          </a:prstGeom>
          <a:solidFill>
            <a:srgbClr val="000000"/>
          </a:solidFill>
          <a:ln/>
        </p:spPr>
      </p:sp>
      <p:sp>
        <p:nvSpPr>
          <p:cNvPr id="121" name="gc-4-9"/>
          <p:cNvSpPr/>
          <p:nvPr/>
        </p:nvSpPr>
        <p:spPr>
          <a:xfrm>
            <a:off x="7923276" y="2852928"/>
            <a:ext cx="210312" cy="201168"/>
          </a:xfrm>
          <a:prstGeom prst="rect">
            <a:avLst/>
          </a:prstGeom>
          <a:solidFill>
            <a:srgbClr val="000000"/>
          </a:solidFill>
          <a:ln/>
        </p:spPr>
      </p:sp>
      <p:sp>
        <p:nvSpPr>
          <p:cNvPr id="122" name="gc-4-10"/>
          <p:cNvSpPr/>
          <p:nvPr/>
        </p:nvSpPr>
        <p:spPr>
          <a:xfrm>
            <a:off x="8183880" y="2852928"/>
            <a:ext cx="210312" cy="201168"/>
          </a:xfrm>
          <a:prstGeom prst="rect">
            <a:avLst/>
          </a:prstGeom>
          <a:solidFill>
            <a:srgbClr val="000000"/>
          </a:solidFill>
          <a:ln/>
        </p:spPr>
      </p:sp>
      <p:sp>
        <p:nvSpPr>
          <p:cNvPr id="123" name="gc-4-11"/>
          <p:cNvSpPr/>
          <p:nvPr/>
        </p:nvSpPr>
        <p:spPr>
          <a:xfrm>
            <a:off x="8444484" y="2852928"/>
            <a:ext cx="210312" cy="201168"/>
          </a:xfrm>
          <a:prstGeom prst="rect">
            <a:avLst/>
          </a:prstGeom>
          <a:solidFill>
            <a:srgbClr val="000000"/>
          </a:solidFill>
          <a:ln/>
        </p:spPr>
      </p:sp>
      <p:sp>
        <p:nvSpPr>
          <p:cNvPr id="124" name="gc-4-12"/>
          <p:cNvSpPr/>
          <p:nvPr/>
        </p:nvSpPr>
        <p:spPr>
          <a:xfrm>
            <a:off x="8705088" y="2852928"/>
            <a:ext cx="210312" cy="201168"/>
          </a:xfrm>
          <a:prstGeom prst="rect">
            <a:avLst/>
          </a:prstGeom>
          <a:solidFill>
            <a:srgbClr val="000000"/>
          </a:solidFill>
          <a:ln/>
        </p:spPr>
      </p:sp>
      <p:sp>
        <p:nvSpPr>
          <p:cNvPr id="125" name="gc-4-13"/>
          <p:cNvSpPr/>
          <p:nvPr/>
        </p:nvSpPr>
        <p:spPr>
          <a:xfrm>
            <a:off x="8965692" y="2852928"/>
            <a:ext cx="210312" cy="201168"/>
          </a:xfrm>
          <a:prstGeom prst="rect">
            <a:avLst/>
          </a:prstGeom>
          <a:solidFill>
            <a:srgbClr val="000000"/>
          </a:solidFill>
          <a:ln/>
        </p:spPr>
      </p:sp>
      <p:sp>
        <p:nvSpPr>
          <p:cNvPr id="126" name="gc-4-14"/>
          <p:cNvSpPr/>
          <p:nvPr/>
        </p:nvSpPr>
        <p:spPr>
          <a:xfrm>
            <a:off x="9226296" y="2852928"/>
            <a:ext cx="210312" cy="201168"/>
          </a:xfrm>
          <a:prstGeom prst="rect">
            <a:avLst/>
          </a:prstGeom>
          <a:solidFill>
            <a:srgbClr val="000000"/>
          </a:solidFill>
          <a:ln/>
        </p:spPr>
      </p:sp>
      <p:sp>
        <p:nvSpPr>
          <p:cNvPr id="127" name="gc-4-15"/>
          <p:cNvSpPr/>
          <p:nvPr/>
        </p:nvSpPr>
        <p:spPr>
          <a:xfrm>
            <a:off x="9486900" y="2852928"/>
            <a:ext cx="210312" cy="201168"/>
          </a:xfrm>
          <a:prstGeom prst="rect">
            <a:avLst/>
          </a:prstGeom>
          <a:solidFill>
            <a:srgbClr val="000000"/>
          </a:solidFill>
          <a:ln/>
        </p:spPr>
      </p:sp>
      <p:sp>
        <p:nvSpPr>
          <p:cNvPr id="128" name="gc-4-16"/>
          <p:cNvSpPr/>
          <p:nvPr/>
        </p:nvSpPr>
        <p:spPr>
          <a:xfrm>
            <a:off x="9747504" y="2852928"/>
            <a:ext cx="210312" cy="201168"/>
          </a:xfrm>
          <a:prstGeom prst="rect">
            <a:avLst/>
          </a:prstGeom>
          <a:solidFill>
            <a:srgbClr val="000000"/>
          </a:solidFill>
          <a:ln/>
        </p:spPr>
      </p:sp>
      <p:sp>
        <p:nvSpPr>
          <p:cNvPr id="129" name="gc-4-17"/>
          <p:cNvSpPr/>
          <p:nvPr/>
        </p:nvSpPr>
        <p:spPr>
          <a:xfrm>
            <a:off x="10008108" y="2852928"/>
            <a:ext cx="210312" cy="201168"/>
          </a:xfrm>
          <a:prstGeom prst="rect">
            <a:avLst/>
          </a:prstGeom>
          <a:solidFill>
            <a:srgbClr val="000000"/>
          </a:solidFill>
          <a:ln/>
        </p:spPr>
      </p:sp>
      <p:sp>
        <p:nvSpPr>
          <p:cNvPr id="130" name="gc-4-18"/>
          <p:cNvSpPr/>
          <p:nvPr/>
        </p:nvSpPr>
        <p:spPr>
          <a:xfrm>
            <a:off x="10268712" y="2852928"/>
            <a:ext cx="210312" cy="201168"/>
          </a:xfrm>
          <a:prstGeom prst="rect">
            <a:avLst/>
          </a:prstGeom>
          <a:solidFill>
            <a:srgbClr val="000000"/>
          </a:solidFill>
          <a:ln/>
        </p:spPr>
      </p:sp>
      <p:sp>
        <p:nvSpPr>
          <p:cNvPr id="131" name="gc-4-19"/>
          <p:cNvSpPr/>
          <p:nvPr/>
        </p:nvSpPr>
        <p:spPr>
          <a:xfrm>
            <a:off x="10529316" y="2852928"/>
            <a:ext cx="210312" cy="201168"/>
          </a:xfrm>
          <a:prstGeom prst="rect">
            <a:avLst/>
          </a:prstGeom>
          <a:solidFill>
            <a:srgbClr val="000000"/>
          </a:solidFill>
          <a:ln/>
        </p:spPr>
      </p:sp>
      <p:sp>
        <p:nvSpPr>
          <p:cNvPr id="132" name="gc-4-20"/>
          <p:cNvSpPr/>
          <p:nvPr/>
        </p:nvSpPr>
        <p:spPr>
          <a:xfrm>
            <a:off x="10789920" y="2852928"/>
            <a:ext cx="210312" cy="201168"/>
          </a:xfrm>
          <a:prstGeom prst="rect">
            <a:avLst/>
          </a:prstGeom>
          <a:solidFill>
            <a:srgbClr val="000000"/>
          </a:solidFill>
          <a:ln/>
        </p:spPr>
      </p:sp>
      <p:sp>
        <p:nvSpPr>
          <p:cNvPr id="133" name="gc-4-21"/>
          <p:cNvSpPr/>
          <p:nvPr/>
        </p:nvSpPr>
        <p:spPr>
          <a:xfrm>
            <a:off x="11050524" y="2852928"/>
            <a:ext cx="210312" cy="201168"/>
          </a:xfrm>
          <a:prstGeom prst="rect">
            <a:avLst/>
          </a:prstGeom>
          <a:solidFill>
            <a:srgbClr val="000000"/>
          </a:solidFill>
          <a:ln/>
        </p:spPr>
      </p:sp>
      <p:sp>
        <p:nvSpPr>
          <p:cNvPr id="134" name="gc-5-0"/>
          <p:cNvSpPr/>
          <p:nvPr/>
        </p:nvSpPr>
        <p:spPr>
          <a:xfrm>
            <a:off x="5577840" y="3108960"/>
            <a:ext cx="210312" cy="201168"/>
          </a:xfrm>
          <a:prstGeom prst="rect">
            <a:avLst/>
          </a:prstGeom>
          <a:solidFill>
            <a:srgbClr val="000000"/>
          </a:solidFill>
          <a:ln/>
        </p:spPr>
      </p:sp>
      <p:sp>
        <p:nvSpPr>
          <p:cNvPr id="135" name="gc-5-1"/>
          <p:cNvSpPr/>
          <p:nvPr/>
        </p:nvSpPr>
        <p:spPr>
          <a:xfrm>
            <a:off x="5838444" y="3108960"/>
            <a:ext cx="210312" cy="201168"/>
          </a:xfrm>
          <a:prstGeom prst="rect">
            <a:avLst/>
          </a:prstGeom>
          <a:solidFill>
            <a:srgbClr val="000000"/>
          </a:solidFill>
          <a:ln/>
        </p:spPr>
      </p:sp>
      <p:sp>
        <p:nvSpPr>
          <p:cNvPr id="136" name="gc-5-2"/>
          <p:cNvSpPr/>
          <p:nvPr/>
        </p:nvSpPr>
        <p:spPr>
          <a:xfrm>
            <a:off x="6099048" y="3108960"/>
            <a:ext cx="210312" cy="201168"/>
          </a:xfrm>
          <a:prstGeom prst="rect">
            <a:avLst/>
          </a:prstGeom>
          <a:solidFill>
            <a:srgbClr val="000000"/>
          </a:solidFill>
          <a:ln/>
        </p:spPr>
      </p:sp>
      <p:sp>
        <p:nvSpPr>
          <p:cNvPr id="137" name="gc-5-3"/>
          <p:cNvSpPr/>
          <p:nvPr/>
        </p:nvSpPr>
        <p:spPr>
          <a:xfrm>
            <a:off x="6359652" y="3108960"/>
            <a:ext cx="210312" cy="201168"/>
          </a:xfrm>
          <a:prstGeom prst="rect">
            <a:avLst/>
          </a:prstGeom>
          <a:solidFill>
            <a:srgbClr val="000000"/>
          </a:solidFill>
          <a:ln/>
        </p:spPr>
      </p:sp>
      <p:sp>
        <p:nvSpPr>
          <p:cNvPr id="138" name="gc-5-4"/>
          <p:cNvSpPr/>
          <p:nvPr/>
        </p:nvSpPr>
        <p:spPr>
          <a:xfrm>
            <a:off x="6620256" y="3108960"/>
            <a:ext cx="210312" cy="201168"/>
          </a:xfrm>
          <a:prstGeom prst="rect">
            <a:avLst/>
          </a:prstGeom>
          <a:solidFill>
            <a:srgbClr val="000000"/>
          </a:solidFill>
          <a:ln/>
        </p:spPr>
      </p:sp>
      <p:sp>
        <p:nvSpPr>
          <p:cNvPr id="139" name="gc-5-5"/>
          <p:cNvSpPr/>
          <p:nvPr/>
        </p:nvSpPr>
        <p:spPr>
          <a:xfrm>
            <a:off x="6880860" y="3108960"/>
            <a:ext cx="210312" cy="201168"/>
          </a:xfrm>
          <a:prstGeom prst="rect">
            <a:avLst/>
          </a:prstGeom>
          <a:solidFill>
            <a:srgbClr val="000000"/>
          </a:solidFill>
          <a:ln/>
        </p:spPr>
      </p:sp>
      <p:sp>
        <p:nvSpPr>
          <p:cNvPr id="140" name="gc-5-6"/>
          <p:cNvSpPr/>
          <p:nvPr/>
        </p:nvSpPr>
        <p:spPr>
          <a:xfrm>
            <a:off x="7141464" y="3108960"/>
            <a:ext cx="210312" cy="201168"/>
          </a:xfrm>
          <a:prstGeom prst="rect">
            <a:avLst/>
          </a:prstGeom>
          <a:solidFill>
            <a:srgbClr val="000000"/>
          </a:solidFill>
          <a:ln/>
        </p:spPr>
      </p:sp>
      <p:sp>
        <p:nvSpPr>
          <p:cNvPr id="141" name="gc-5-7"/>
          <p:cNvSpPr/>
          <p:nvPr/>
        </p:nvSpPr>
        <p:spPr>
          <a:xfrm>
            <a:off x="7402068" y="3108960"/>
            <a:ext cx="210312" cy="201168"/>
          </a:xfrm>
          <a:prstGeom prst="rect">
            <a:avLst/>
          </a:prstGeom>
          <a:solidFill>
            <a:srgbClr val="000000"/>
          </a:solidFill>
          <a:ln/>
        </p:spPr>
      </p:sp>
      <p:sp>
        <p:nvSpPr>
          <p:cNvPr id="142" name="gc-5-8"/>
          <p:cNvSpPr/>
          <p:nvPr/>
        </p:nvSpPr>
        <p:spPr>
          <a:xfrm>
            <a:off x="7662672" y="3108960"/>
            <a:ext cx="210312" cy="201168"/>
          </a:xfrm>
          <a:prstGeom prst="rect">
            <a:avLst/>
          </a:prstGeom>
          <a:solidFill>
            <a:srgbClr val="000000"/>
          </a:solidFill>
          <a:ln/>
        </p:spPr>
      </p:sp>
      <p:sp>
        <p:nvSpPr>
          <p:cNvPr id="143" name="gc-5-9"/>
          <p:cNvSpPr/>
          <p:nvPr/>
        </p:nvSpPr>
        <p:spPr>
          <a:xfrm>
            <a:off x="7923276" y="3108960"/>
            <a:ext cx="210312" cy="201168"/>
          </a:xfrm>
          <a:prstGeom prst="rect">
            <a:avLst/>
          </a:prstGeom>
          <a:solidFill>
            <a:srgbClr val="000000"/>
          </a:solidFill>
          <a:ln/>
        </p:spPr>
      </p:sp>
      <p:sp>
        <p:nvSpPr>
          <p:cNvPr id="144" name="gc-5-10"/>
          <p:cNvSpPr/>
          <p:nvPr/>
        </p:nvSpPr>
        <p:spPr>
          <a:xfrm>
            <a:off x="8183880" y="3108960"/>
            <a:ext cx="210312" cy="201168"/>
          </a:xfrm>
          <a:prstGeom prst="rect">
            <a:avLst/>
          </a:prstGeom>
          <a:solidFill>
            <a:srgbClr val="000000"/>
          </a:solidFill>
          <a:ln/>
        </p:spPr>
      </p:sp>
      <p:sp>
        <p:nvSpPr>
          <p:cNvPr id="145" name="gc-5-11"/>
          <p:cNvSpPr/>
          <p:nvPr/>
        </p:nvSpPr>
        <p:spPr>
          <a:xfrm>
            <a:off x="8444484" y="3108960"/>
            <a:ext cx="210312" cy="201168"/>
          </a:xfrm>
          <a:prstGeom prst="rect">
            <a:avLst/>
          </a:prstGeom>
          <a:solidFill>
            <a:srgbClr val="000000"/>
          </a:solidFill>
          <a:ln/>
        </p:spPr>
      </p:sp>
      <p:sp>
        <p:nvSpPr>
          <p:cNvPr id="146" name="gc-5-12"/>
          <p:cNvSpPr/>
          <p:nvPr/>
        </p:nvSpPr>
        <p:spPr>
          <a:xfrm>
            <a:off x="8705088" y="3108960"/>
            <a:ext cx="210312" cy="201168"/>
          </a:xfrm>
          <a:prstGeom prst="rect">
            <a:avLst/>
          </a:prstGeom>
          <a:solidFill>
            <a:srgbClr val="000000"/>
          </a:solidFill>
          <a:ln/>
        </p:spPr>
      </p:sp>
      <p:sp>
        <p:nvSpPr>
          <p:cNvPr id="147" name="gc-5-13"/>
          <p:cNvSpPr/>
          <p:nvPr/>
        </p:nvSpPr>
        <p:spPr>
          <a:xfrm>
            <a:off x="8965692" y="3108960"/>
            <a:ext cx="210312" cy="201168"/>
          </a:xfrm>
          <a:prstGeom prst="rect">
            <a:avLst/>
          </a:prstGeom>
          <a:solidFill>
            <a:srgbClr val="000000"/>
          </a:solidFill>
          <a:ln/>
        </p:spPr>
      </p:sp>
      <p:sp>
        <p:nvSpPr>
          <p:cNvPr id="148" name="gc-5-14"/>
          <p:cNvSpPr/>
          <p:nvPr/>
        </p:nvSpPr>
        <p:spPr>
          <a:xfrm>
            <a:off x="9226296" y="3108960"/>
            <a:ext cx="210312" cy="201168"/>
          </a:xfrm>
          <a:prstGeom prst="rect">
            <a:avLst/>
          </a:prstGeom>
          <a:solidFill>
            <a:srgbClr val="000000"/>
          </a:solidFill>
          <a:ln/>
        </p:spPr>
      </p:sp>
      <p:sp>
        <p:nvSpPr>
          <p:cNvPr id="149" name="gc-5-15"/>
          <p:cNvSpPr/>
          <p:nvPr/>
        </p:nvSpPr>
        <p:spPr>
          <a:xfrm>
            <a:off x="9486900" y="3108960"/>
            <a:ext cx="210312" cy="201168"/>
          </a:xfrm>
          <a:prstGeom prst="rect">
            <a:avLst/>
          </a:prstGeom>
          <a:solidFill>
            <a:srgbClr val="000000"/>
          </a:solidFill>
          <a:ln/>
        </p:spPr>
      </p:sp>
      <p:sp>
        <p:nvSpPr>
          <p:cNvPr id="150" name="gc-5-16"/>
          <p:cNvSpPr/>
          <p:nvPr/>
        </p:nvSpPr>
        <p:spPr>
          <a:xfrm>
            <a:off x="9747504" y="3108960"/>
            <a:ext cx="210312" cy="201168"/>
          </a:xfrm>
          <a:prstGeom prst="rect">
            <a:avLst/>
          </a:prstGeom>
          <a:solidFill>
            <a:srgbClr val="000000"/>
          </a:solidFill>
          <a:ln/>
        </p:spPr>
      </p:sp>
      <p:sp>
        <p:nvSpPr>
          <p:cNvPr id="151" name="gc-5-17"/>
          <p:cNvSpPr/>
          <p:nvPr/>
        </p:nvSpPr>
        <p:spPr>
          <a:xfrm>
            <a:off x="10008108" y="3108960"/>
            <a:ext cx="210312" cy="201168"/>
          </a:xfrm>
          <a:prstGeom prst="rect">
            <a:avLst/>
          </a:prstGeom>
          <a:solidFill>
            <a:srgbClr val="000000"/>
          </a:solidFill>
          <a:ln/>
        </p:spPr>
      </p:sp>
      <p:sp>
        <p:nvSpPr>
          <p:cNvPr id="152" name="gc-5-18"/>
          <p:cNvSpPr/>
          <p:nvPr/>
        </p:nvSpPr>
        <p:spPr>
          <a:xfrm>
            <a:off x="10268712" y="3108960"/>
            <a:ext cx="210312" cy="201168"/>
          </a:xfrm>
          <a:prstGeom prst="rect">
            <a:avLst/>
          </a:prstGeom>
          <a:solidFill>
            <a:srgbClr val="000000"/>
          </a:solidFill>
          <a:ln/>
        </p:spPr>
      </p:sp>
      <p:sp>
        <p:nvSpPr>
          <p:cNvPr id="153" name="gc-5-19"/>
          <p:cNvSpPr/>
          <p:nvPr/>
        </p:nvSpPr>
        <p:spPr>
          <a:xfrm>
            <a:off x="10529316" y="3108960"/>
            <a:ext cx="210312" cy="201168"/>
          </a:xfrm>
          <a:prstGeom prst="rect">
            <a:avLst/>
          </a:prstGeom>
          <a:solidFill>
            <a:srgbClr val="000000"/>
          </a:solidFill>
          <a:ln/>
        </p:spPr>
      </p:sp>
      <p:sp>
        <p:nvSpPr>
          <p:cNvPr id="154" name="gc-5-20"/>
          <p:cNvSpPr/>
          <p:nvPr/>
        </p:nvSpPr>
        <p:spPr>
          <a:xfrm>
            <a:off x="10789920" y="3108960"/>
            <a:ext cx="210312" cy="201168"/>
          </a:xfrm>
          <a:prstGeom prst="rect">
            <a:avLst/>
          </a:prstGeom>
          <a:solidFill>
            <a:srgbClr val="000000"/>
          </a:solidFill>
          <a:ln/>
        </p:spPr>
      </p:sp>
      <p:sp>
        <p:nvSpPr>
          <p:cNvPr id="155" name="gc-5-21"/>
          <p:cNvSpPr/>
          <p:nvPr/>
        </p:nvSpPr>
        <p:spPr>
          <a:xfrm>
            <a:off x="11050524" y="3108960"/>
            <a:ext cx="210312" cy="201168"/>
          </a:xfrm>
          <a:prstGeom prst="rect">
            <a:avLst/>
          </a:prstGeom>
          <a:solidFill>
            <a:srgbClr val="000000"/>
          </a:solidFill>
          <a:ln/>
        </p:spPr>
      </p:sp>
      <p:sp>
        <p:nvSpPr>
          <p:cNvPr id="156" name="Text 154"/>
          <p:cNvSpPr txBox="1"/>
          <p:nvPr/>
        </p:nvSpPr>
        <p:spPr>
          <a:xfrm>
            <a:off x="5577840" y="3383280"/>
            <a:ext cx="5760720" cy="228600"/>
          </a:xfrm>
          <a:prstGeom prst="rect">
            <a:avLst/>
          </a:prstGeom>
          <a:noFill/>
          <a:ln/>
        </p:spPr>
        <p:txBody>
          <a:bodyPr wrap="square" lIns="0" tIns="0" rIns="0" bIns="0" rtlCol="0" anchor="t"/>
          <a:lstStyle/>
          <a:p>
            <a:pPr indent="0" marL="0">
              <a:buNone/>
            </a:pPr>
            <a:r>
              <a:rPr lang="en-US" sz="1100" dirty="0">
                <a:solidFill>
                  <a:srgbClr val="595959"/>
                </a:solidFill>
                <a:latin typeface="Calibri" pitchFamily="34" charset="0"/>
                <a:ea typeface="Calibri" pitchFamily="34" charset="-122"/>
                <a:cs typeface="Calibri" pitchFamily="34" charset="-120"/>
              </a:rPr>
              <a:t>each square ≈ 1 group of cores; 30 SMs × 128 cores in total</a:t>
            </a:r>
            <a:endParaRPr lang="en-US" sz="1100" dirty="0"/>
          </a:p>
        </p:txBody>
      </p:sp>
      <p:graphicFrame>
        <p:nvGraphicFramePr>
          <p:cNvPr id="10" name="cpu-gpu-table"/>
          <p:cNvGraphicFramePr>
            <a:graphicFrameLocks noGrp="1"/>
          </p:cNvGraphicFramePr>
          <p:nvPr>
            <p:extLst>
              <p:ext uri="{D42A27DB-BD31-4B8C-83A1-F6EECF244321}">
                <p14:modId xmlns:p14="http://schemas.microsoft.com/office/powerpoint/2010/main" val="1579011935"/>
              </p:ext>
            </p:extLst>
          </p:nvPr>
        </p:nvGraphicFramePr>
        <p:xfrm>
          <a:off x="548640" y="3840480"/>
          <a:ext cx="11064240" cy="914400"/>
        </p:xfrm>
        <a:graphic>
          <a:graphicData uri="http://schemas.openxmlformats.org/drawingml/2006/table">
            <a:tbl>
              <a:tblPr/>
              <a:tblGrid>
                <a:gridCol w="1828800"/>
                <a:gridCol w="4206240"/>
                <a:gridCol w="5029200"/>
              </a:tblGrid>
              <a:tr h="365760">
                <a:tc>
                  <a:txBody>
                    <a:bodyPr/>
                    <a:lstStyle/>
                    <a:p>
                      <a:pPr indent="0" marL="0">
                        <a:buNone/>
                      </a:pP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CPU: AMD Ryzen 5 7600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GPU: NVIDIA RTX 5060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Cores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6 cores / 12 threads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30 SMs / 3,840 CUDA cores + Tensor Cores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Design goal</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low latency for one thread (big caches, branch prediction, out-of-order)</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high throughput for many threads (hide latency by switching warps)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Peak FP32 (approx.)</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 1 TFLOPS (AVX-512, all cores)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 19 TFLOPS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system DDR5, ≈ 60–80 GB/s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8 GB GDDR7, 448 GB/s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Threads in flight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tens of thousands (we launched up to 16.8 M per kernel)</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2  ·  GPU ARCHITECTURE &amp; PARALLEL COMPUTING</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CUDA thread hierarchy: grid → block → warp → thread</a:t>
            </a:r>
            <a:endParaRPr lang="en-US" sz="3400" dirty="0"/>
          </a:p>
        </p:txBody>
      </p:sp>
      <p:sp>
        <p:nvSpPr>
          <p:cNvPr id="4" name="hier-panel"/>
          <p:cNvSpPr/>
          <p:nvPr/>
        </p:nvSpPr>
        <p:spPr>
          <a:xfrm>
            <a:off x="548640" y="1325880"/>
            <a:ext cx="5120640" cy="4754880"/>
          </a:xfrm>
          <a:prstGeom prst="roundRect">
            <a:avLst>
              <a:gd name="adj" fmla="val 1538"/>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blk-0-0"/>
          <p:cNvSpPr/>
          <p:nvPr/>
        </p:nvSpPr>
        <p:spPr>
          <a:xfrm>
            <a:off x="777240" y="1691640"/>
            <a:ext cx="685800" cy="685800"/>
          </a:xfrm>
          <a:prstGeom prst="roundRect">
            <a:avLst>
              <a:gd name="adj" fmla="val 6667"/>
            </a:avLst>
          </a:prstGeom>
          <a:solidFill>
            <a:srgbClr val="F2F2F2"/>
          </a:solidFill>
          <a:ln w="12700">
            <a:solidFill>
              <a:srgbClr val="000000"/>
            </a:solidFill>
            <a:prstDash val="solid"/>
          </a:ln>
        </p:spPr>
      </p:sp>
      <p:sp>
        <p:nvSpPr>
          <p:cNvPr id="6" name="Text 4"/>
          <p:cNvSpPr txBox="1"/>
          <p:nvPr/>
        </p:nvSpPr>
        <p:spPr>
          <a:xfrm>
            <a:off x="822960" y="1691640"/>
            <a:ext cx="594360" cy="685800"/>
          </a:xfrm>
          <a:prstGeom prst="rect">
            <a:avLst/>
          </a:prstGeom>
          <a:noFill/>
          <a:ln/>
        </p:spPr>
        <p:txBody>
          <a:bodyPr wrap="square" lIns="0" tIns="0" rIns="0" bIns="0"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(0,0)</a:t>
            </a:r>
            <a:endParaRPr lang="en-US" sz="1000" dirty="0"/>
          </a:p>
        </p:txBody>
      </p:sp>
      <p:sp>
        <p:nvSpPr>
          <p:cNvPr id="7" name="blk-0-1"/>
          <p:cNvSpPr/>
          <p:nvPr/>
        </p:nvSpPr>
        <p:spPr>
          <a:xfrm>
            <a:off x="1554480" y="1691640"/>
            <a:ext cx="685800" cy="685800"/>
          </a:xfrm>
          <a:prstGeom prst="roundRect">
            <a:avLst>
              <a:gd name="adj" fmla="val 6667"/>
            </a:avLst>
          </a:prstGeom>
          <a:solidFill>
            <a:srgbClr val="F2F2F2"/>
          </a:solidFill>
          <a:ln w="12700">
            <a:solidFill>
              <a:srgbClr val="000000"/>
            </a:solidFill>
            <a:prstDash val="solid"/>
          </a:ln>
        </p:spPr>
      </p:sp>
      <p:sp>
        <p:nvSpPr>
          <p:cNvPr id="8" name="Text 6"/>
          <p:cNvSpPr txBox="1"/>
          <p:nvPr/>
        </p:nvSpPr>
        <p:spPr>
          <a:xfrm>
            <a:off x="1600200" y="1691640"/>
            <a:ext cx="594360" cy="685800"/>
          </a:xfrm>
          <a:prstGeom prst="rect">
            <a:avLst/>
          </a:prstGeom>
          <a:noFill/>
          <a:ln/>
        </p:spPr>
        <p:txBody>
          <a:bodyPr wrap="square" lIns="0" tIns="0" rIns="0" bIns="0"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(1,0)</a:t>
            </a:r>
            <a:endParaRPr lang="en-US" sz="1000" dirty="0"/>
          </a:p>
        </p:txBody>
      </p:sp>
      <p:sp>
        <p:nvSpPr>
          <p:cNvPr id="9" name="blk-0-2"/>
          <p:cNvSpPr/>
          <p:nvPr/>
        </p:nvSpPr>
        <p:spPr>
          <a:xfrm>
            <a:off x="2331720" y="1691640"/>
            <a:ext cx="685800" cy="685800"/>
          </a:xfrm>
          <a:prstGeom prst="roundRect">
            <a:avLst>
              <a:gd name="adj" fmla="val 6667"/>
            </a:avLst>
          </a:prstGeom>
          <a:solidFill>
            <a:srgbClr val="F2F2F2"/>
          </a:solidFill>
          <a:ln w="12700">
            <a:solidFill>
              <a:srgbClr val="000000"/>
            </a:solidFill>
            <a:prstDash val="solid"/>
          </a:ln>
        </p:spPr>
      </p:sp>
      <p:sp>
        <p:nvSpPr>
          <p:cNvPr id="10" name="Text 8"/>
          <p:cNvSpPr txBox="1"/>
          <p:nvPr/>
        </p:nvSpPr>
        <p:spPr>
          <a:xfrm>
            <a:off x="2377440" y="1691640"/>
            <a:ext cx="594360" cy="685800"/>
          </a:xfrm>
          <a:prstGeom prst="rect">
            <a:avLst/>
          </a:prstGeom>
          <a:noFill/>
          <a:ln/>
        </p:spPr>
        <p:txBody>
          <a:bodyPr wrap="square" lIns="0" tIns="0" rIns="0" bIns="0"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(2,0)</a:t>
            </a:r>
            <a:endParaRPr lang="en-US" sz="1000" dirty="0"/>
          </a:p>
        </p:txBody>
      </p:sp>
      <p:sp>
        <p:nvSpPr>
          <p:cNvPr id="11" name="blk-1-0"/>
          <p:cNvSpPr/>
          <p:nvPr/>
        </p:nvSpPr>
        <p:spPr>
          <a:xfrm>
            <a:off x="777240" y="2468880"/>
            <a:ext cx="685800" cy="685800"/>
          </a:xfrm>
          <a:prstGeom prst="roundRect">
            <a:avLst>
              <a:gd name="adj" fmla="val 6667"/>
            </a:avLst>
          </a:prstGeom>
          <a:solidFill>
            <a:srgbClr val="F2F2F2"/>
          </a:solidFill>
          <a:ln w="12700">
            <a:solidFill>
              <a:srgbClr val="000000"/>
            </a:solidFill>
            <a:prstDash val="solid"/>
          </a:ln>
        </p:spPr>
      </p:sp>
      <p:sp>
        <p:nvSpPr>
          <p:cNvPr id="12" name="Text 10"/>
          <p:cNvSpPr txBox="1"/>
          <p:nvPr/>
        </p:nvSpPr>
        <p:spPr>
          <a:xfrm>
            <a:off x="822960" y="2468880"/>
            <a:ext cx="594360" cy="685800"/>
          </a:xfrm>
          <a:prstGeom prst="rect">
            <a:avLst/>
          </a:prstGeom>
          <a:noFill/>
          <a:ln/>
        </p:spPr>
        <p:txBody>
          <a:bodyPr wrap="square" lIns="0" tIns="0" rIns="0" bIns="0"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(0,1)</a:t>
            </a:r>
            <a:endParaRPr lang="en-US" sz="1000" dirty="0"/>
          </a:p>
        </p:txBody>
      </p:sp>
      <p:sp>
        <p:nvSpPr>
          <p:cNvPr id="13" name="blk-1-1"/>
          <p:cNvSpPr/>
          <p:nvPr/>
        </p:nvSpPr>
        <p:spPr>
          <a:xfrm>
            <a:off x="1554480" y="2468880"/>
            <a:ext cx="685800" cy="685800"/>
          </a:xfrm>
          <a:prstGeom prst="roundRect">
            <a:avLst>
              <a:gd name="adj" fmla="val 6667"/>
            </a:avLst>
          </a:prstGeom>
          <a:solidFill>
            <a:srgbClr val="000000"/>
          </a:solidFill>
          <a:ln w="12700">
            <a:solidFill>
              <a:srgbClr val="000000"/>
            </a:solidFill>
            <a:prstDash val="solid"/>
          </a:ln>
        </p:spPr>
      </p:sp>
      <p:sp>
        <p:nvSpPr>
          <p:cNvPr id="14" name="Text 12"/>
          <p:cNvSpPr txBox="1"/>
          <p:nvPr/>
        </p:nvSpPr>
        <p:spPr>
          <a:xfrm>
            <a:off x="1600200" y="2468880"/>
            <a:ext cx="59436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15" name="blk-1-2"/>
          <p:cNvSpPr/>
          <p:nvPr/>
        </p:nvSpPr>
        <p:spPr>
          <a:xfrm>
            <a:off x="2331720" y="2468880"/>
            <a:ext cx="685800" cy="685800"/>
          </a:xfrm>
          <a:prstGeom prst="roundRect">
            <a:avLst>
              <a:gd name="adj" fmla="val 6667"/>
            </a:avLst>
          </a:prstGeom>
          <a:solidFill>
            <a:srgbClr val="F2F2F2"/>
          </a:solidFill>
          <a:ln w="12700">
            <a:solidFill>
              <a:srgbClr val="000000"/>
            </a:solidFill>
            <a:prstDash val="solid"/>
          </a:ln>
        </p:spPr>
      </p:sp>
      <p:sp>
        <p:nvSpPr>
          <p:cNvPr id="16" name="Text 14"/>
          <p:cNvSpPr txBox="1"/>
          <p:nvPr/>
        </p:nvSpPr>
        <p:spPr>
          <a:xfrm>
            <a:off x="2377440" y="2468880"/>
            <a:ext cx="594360" cy="685800"/>
          </a:xfrm>
          <a:prstGeom prst="rect">
            <a:avLst/>
          </a:prstGeom>
          <a:noFill/>
          <a:ln/>
        </p:spPr>
        <p:txBody>
          <a:bodyPr wrap="square" lIns="0" tIns="0" rIns="0" bIns="0"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(2,1)</a:t>
            </a:r>
            <a:endParaRPr lang="en-US" sz="1000" dirty="0"/>
          </a:p>
        </p:txBody>
      </p:sp>
      <p:sp>
        <p:nvSpPr>
          <p:cNvPr id="17" name="blk-2-0"/>
          <p:cNvSpPr/>
          <p:nvPr/>
        </p:nvSpPr>
        <p:spPr>
          <a:xfrm>
            <a:off x="777240" y="3246120"/>
            <a:ext cx="685800" cy="685800"/>
          </a:xfrm>
          <a:prstGeom prst="roundRect">
            <a:avLst>
              <a:gd name="adj" fmla="val 6667"/>
            </a:avLst>
          </a:prstGeom>
          <a:solidFill>
            <a:srgbClr val="F2F2F2"/>
          </a:solidFill>
          <a:ln w="12700">
            <a:solidFill>
              <a:srgbClr val="000000"/>
            </a:solidFill>
            <a:prstDash val="solid"/>
          </a:ln>
        </p:spPr>
      </p:sp>
      <p:sp>
        <p:nvSpPr>
          <p:cNvPr id="18" name="Text 16"/>
          <p:cNvSpPr txBox="1"/>
          <p:nvPr/>
        </p:nvSpPr>
        <p:spPr>
          <a:xfrm>
            <a:off x="822960" y="3246120"/>
            <a:ext cx="594360" cy="685800"/>
          </a:xfrm>
          <a:prstGeom prst="rect">
            <a:avLst/>
          </a:prstGeom>
          <a:noFill/>
          <a:ln/>
        </p:spPr>
        <p:txBody>
          <a:bodyPr wrap="square" lIns="0" tIns="0" rIns="0" bIns="0"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(0,2)</a:t>
            </a:r>
            <a:endParaRPr lang="en-US" sz="1000" dirty="0"/>
          </a:p>
        </p:txBody>
      </p:sp>
      <p:sp>
        <p:nvSpPr>
          <p:cNvPr id="19" name="blk-2-1"/>
          <p:cNvSpPr/>
          <p:nvPr/>
        </p:nvSpPr>
        <p:spPr>
          <a:xfrm>
            <a:off x="1554480" y="3246120"/>
            <a:ext cx="685800" cy="685800"/>
          </a:xfrm>
          <a:prstGeom prst="roundRect">
            <a:avLst>
              <a:gd name="adj" fmla="val 6667"/>
            </a:avLst>
          </a:prstGeom>
          <a:solidFill>
            <a:srgbClr val="F2F2F2"/>
          </a:solidFill>
          <a:ln w="12700">
            <a:solidFill>
              <a:srgbClr val="000000"/>
            </a:solidFill>
            <a:prstDash val="solid"/>
          </a:ln>
        </p:spPr>
      </p:sp>
      <p:sp>
        <p:nvSpPr>
          <p:cNvPr id="20" name="Text 18"/>
          <p:cNvSpPr txBox="1"/>
          <p:nvPr/>
        </p:nvSpPr>
        <p:spPr>
          <a:xfrm>
            <a:off x="1600200" y="3246120"/>
            <a:ext cx="594360" cy="685800"/>
          </a:xfrm>
          <a:prstGeom prst="rect">
            <a:avLst/>
          </a:prstGeom>
          <a:noFill/>
          <a:ln/>
        </p:spPr>
        <p:txBody>
          <a:bodyPr wrap="square" lIns="0" tIns="0" rIns="0" bIns="0"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(1,2)</a:t>
            </a:r>
            <a:endParaRPr lang="en-US" sz="1000" dirty="0"/>
          </a:p>
        </p:txBody>
      </p:sp>
      <p:sp>
        <p:nvSpPr>
          <p:cNvPr id="21" name="blk-2-2"/>
          <p:cNvSpPr/>
          <p:nvPr/>
        </p:nvSpPr>
        <p:spPr>
          <a:xfrm>
            <a:off x="2331720" y="3246120"/>
            <a:ext cx="685800" cy="685800"/>
          </a:xfrm>
          <a:prstGeom prst="roundRect">
            <a:avLst>
              <a:gd name="adj" fmla="val 6667"/>
            </a:avLst>
          </a:prstGeom>
          <a:solidFill>
            <a:srgbClr val="F2F2F2"/>
          </a:solidFill>
          <a:ln w="12700">
            <a:solidFill>
              <a:srgbClr val="000000"/>
            </a:solidFill>
            <a:prstDash val="solid"/>
          </a:ln>
        </p:spPr>
      </p:sp>
      <p:sp>
        <p:nvSpPr>
          <p:cNvPr id="22" name="Text 20"/>
          <p:cNvSpPr txBox="1"/>
          <p:nvPr/>
        </p:nvSpPr>
        <p:spPr>
          <a:xfrm>
            <a:off x="2377440" y="3246120"/>
            <a:ext cx="594360" cy="685800"/>
          </a:xfrm>
          <a:prstGeom prst="rect">
            <a:avLst/>
          </a:prstGeom>
          <a:noFill/>
          <a:ln/>
        </p:spPr>
        <p:txBody>
          <a:bodyPr wrap="square" lIns="0" tIns="0" rIns="0" bIns="0"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(2,2)</a:t>
            </a:r>
            <a:endParaRPr lang="en-US" sz="1000" dirty="0"/>
          </a:p>
        </p:txBody>
      </p:sp>
      <p:sp>
        <p:nvSpPr>
          <p:cNvPr id="23" name="Text 21"/>
          <p:cNvSpPr txBox="1"/>
          <p:nvPr/>
        </p:nvSpPr>
        <p:spPr>
          <a:xfrm>
            <a:off x="777240" y="4069080"/>
            <a:ext cx="2286000" cy="27432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Grid of blocks (blockIdx)</a:t>
            </a:r>
            <a:endParaRPr lang="en-US" sz="1100" dirty="0"/>
          </a:p>
        </p:txBody>
      </p:sp>
      <p:sp>
        <p:nvSpPr>
          <p:cNvPr id="24" name="blk-arrow"/>
          <p:cNvSpPr/>
          <p:nvPr/>
        </p:nvSpPr>
        <p:spPr>
          <a:xfrm>
            <a:off x="3154680" y="2697480"/>
            <a:ext cx="411480" cy="0"/>
          </a:xfrm>
          <a:prstGeom prst="line">
            <a:avLst/>
          </a:prstGeom>
          <a:noFill/>
          <a:ln w="22225">
            <a:solidFill>
              <a:srgbClr val="000000"/>
            </a:solidFill>
            <a:prstDash val="solid"/>
            <a:tailEnd type="triangle"/>
          </a:ln>
        </p:spPr>
      </p:sp>
      <p:sp>
        <p:nvSpPr>
          <p:cNvPr id="25" name="t-0-0"/>
          <p:cNvSpPr/>
          <p:nvPr/>
        </p:nvSpPr>
        <p:spPr>
          <a:xfrm>
            <a:off x="3657600" y="2103120"/>
            <a:ext cx="155448" cy="155448"/>
          </a:xfrm>
          <a:prstGeom prst="ellipse">
            <a:avLst/>
          </a:prstGeom>
          <a:solidFill>
            <a:srgbClr val="A6A6A6"/>
          </a:solidFill>
          <a:ln/>
        </p:spPr>
      </p:sp>
      <p:sp>
        <p:nvSpPr>
          <p:cNvPr id="26" name="t-0-1"/>
          <p:cNvSpPr/>
          <p:nvPr/>
        </p:nvSpPr>
        <p:spPr>
          <a:xfrm>
            <a:off x="3877056" y="2103120"/>
            <a:ext cx="155448" cy="155448"/>
          </a:xfrm>
          <a:prstGeom prst="ellipse">
            <a:avLst/>
          </a:prstGeom>
          <a:solidFill>
            <a:srgbClr val="A6A6A6"/>
          </a:solidFill>
          <a:ln/>
        </p:spPr>
      </p:sp>
      <p:sp>
        <p:nvSpPr>
          <p:cNvPr id="27" name="t-0-2"/>
          <p:cNvSpPr/>
          <p:nvPr/>
        </p:nvSpPr>
        <p:spPr>
          <a:xfrm>
            <a:off x="4096512" y="2103120"/>
            <a:ext cx="155448" cy="155448"/>
          </a:xfrm>
          <a:prstGeom prst="ellipse">
            <a:avLst/>
          </a:prstGeom>
          <a:solidFill>
            <a:srgbClr val="A6A6A6"/>
          </a:solidFill>
          <a:ln/>
        </p:spPr>
      </p:sp>
      <p:sp>
        <p:nvSpPr>
          <p:cNvPr id="28" name="t-0-3"/>
          <p:cNvSpPr/>
          <p:nvPr/>
        </p:nvSpPr>
        <p:spPr>
          <a:xfrm>
            <a:off x="4315968" y="2103120"/>
            <a:ext cx="155448" cy="155448"/>
          </a:xfrm>
          <a:prstGeom prst="ellipse">
            <a:avLst/>
          </a:prstGeom>
          <a:solidFill>
            <a:srgbClr val="A6A6A6"/>
          </a:solidFill>
          <a:ln/>
        </p:spPr>
      </p:sp>
      <p:sp>
        <p:nvSpPr>
          <p:cNvPr id="29" name="t-0-4"/>
          <p:cNvSpPr/>
          <p:nvPr/>
        </p:nvSpPr>
        <p:spPr>
          <a:xfrm>
            <a:off x="4535424" y="2103120"/>
            <a:ext cx="155448" cy="155448"/>
          </a:xfrm>
          <a:prstGeom prst="ellipse">
            <a:avLst/>
          </a:prstGeom>
          <a:solidFill>
            <a:srgbClr val="A6A6A6"/>
          </a:solidFill>
          <a:ln/>
        </p:spPr>
      </p:sp>
      <p:sp>
        <p:nvSpPr>
          <p:cNvPr id="30" name="t-0-5"/>
          <p:cNvSpPr/>
          <p:nvPr/>
        </p:nvSpPr>
        <p:spPr>
          <a:xfrm>
            <a:off x="4754880" y="2103120"/>
            <a:ext cx="155448" cy="155448"/>
          </a:xfrm>
          <a:prstGeom prst="ellipse">
            <a:avLst/>
          </a:prstGeom>
          <a:solidFill>
            <a:srgbClr val="A6A6A6"/>
          </a:solidFill>
          <a:ln/>
        </p:spPr>
      </p:sp>
      <p:sp>
        <p:nvSpPr>
          <p:cNvPr id="31" name="t-0-6"/>
          <p:cNvSpPr/>
          <p:nvPr/>
        </p:nvSpPr>
        <p:spPr>
          <a:xfrm>
            <a:off x="4974336" y="2103120"/>
            <a:ext cx="155448" cy="155448"/>
          </a:xfrm>
          <a:prstGeom prst="ellipse">
            <a:avLst/>
          </a:prstGeom>
          <a:solidFill>
            <a:srgbClr val="A6A6A6"/>
          </a:solidFill>
          <a:ln/>
        </p:spPr>
      </p:sp>
      <p:sp>
        <p:nvSpPr>
          <p:cNvPr id="32" name="t-0-7"/>
          <p:cNvSpPr/>
          <p:nvPr/>
        </p:nvSpPr>
        <p:spPr>
          <a:xfrm>
            <a:off x="5193792" y="2103120"/>
            <a:ext cx="155448" cy="155448"/>
          </a:xfrm>
          <a:prstGeom prst="ellipse">
            <a:avLst/>
          </a:prstGeom>
          <a:solidFill>
            <a:srgbClr val="A6A6A6"/>
          </a:solidFill>
          <a:ln/>
        </p:spPr>
      </p:sp>
      <p:sp>
        <p:nvSpPr>
          <p:cNvPr id="33" name="t-1-0"/>
          <p:cNvSpPr/>
          <p:nvPr/>
        </p:nvSpPr>
        <p:spPr>
          <a:xfrm>
            <a:off x="3657600" y="2395728"/>
            <a:ext cx="155448" cy="155448"/>
          </a:xfrm>
          <a:prstGeom prst="ellipse">
            <a:avLst/>
          </a:prstGeom>
          <a:solidFill>
            <a:srgbClr val="000000"/>
          </a:solidFill>
          <a:ln/>
        </p:spPr>
      </p:sp>
      <p:sp>
        <p:nvSpPr>
          <p:cNvPr id="34" name="t-1-1"/>
          <p:cNvSpPr/>
          <p:nvPr/>
        </p:nvSpPr>
        <p:spPr>
          <a:xfrm>
            <a:off x="3877056" y="2395728"/>
            <a:ext cx="155448" cy="155448"/>
          </a:xfrm>
          <a:prstGeom prst="ellipse">
            <a:avLst/>
          </a:prstGeom>
          <a:solidFill>
            <a:srgbClr val="000000"/>
          </a:solidFill>
          <a:ln/>
        </p:spPr>
      </p:sp>
      <p:sp>
        <p:nvSpPr>
          <p:cNvPr id="35" name="t-1-2"/>
          <p:cNvSpPr/>
          <p:nvPr/>
        </p:nvSpPr>
        <p:spPr>
          <a:xfrm>
            <a:off x="4096512" y="2395728"/>
            <a:ext cx="155448" cy="155448"/>
          </a:xfrm>
          <a:prstGeom prst="ellipse">
            <a:avLst/>
          </a:prstGeom>
          <a:solidFill>
            <a:srgbClr val="000000"/>
          </a:solidFill>
          <a:ln/>
        </p:spPr>
      </p:sp>
      <p:sp>
        <p:nvSpPr>
          <p:cNvPr id="36" name="t-1-3"/>
          <p:cNvSpPr/>
          <p:nvPr/>
        </p:nvSpPr>
        <p:spPr>
          <a:xfrm>
            <a:off x="4315968" y="2395728"/>
            <a:ext cx="155448" cy="155448"/>
          </a:xfrm>
          <a:prstGeom prst="ellipse">
            <a:avLst/>
          </a:prstGeom>
          <a:solidFill>
            <a:srgbClr val="000000"/>
          </a:solidFill>
          <a:ln/>
        </p:spPr>
      </p:sp>
      <p:sp>
        <p:nvSpPr>
          <p:cNvPr id="37" name="t-1-4"/>
          <p:cNvSpPr/>
          <p:nvPr/>
        </p:nvSpPr>
        <p:spPr>
          <a:xfrm>
            <a:off x="4535424" y="2395728"/>
            <a:ext cx="155448" cy="155448"/>
          </a:xfrm>
          <a:prstGeom prst="ellipse">
            <a:avLst/>
          </a:prstGeom>
          <a:solidFill>
            <a:srgbClr val="000000"/>
          </a:solidFill>
          <a:ln/>
        </p:spPr>
      </p:sp>
      <p:sp>
        <p:nvSpPr>
          <p:cNvPr id="38" name="t-1-5"/>
          <p:cNvSpPr/>
          <p:nvPr/>
        </p:nvSpPr>
        <p:spPr>
          <a:xfrm>
            <a:off x="4754880" y="2395728"/>
            <a:ext cx="155448" cy="155448"/>
          </a:xfrm>
          <a:prstGeom prst="ellipse">
            <a:avLst/>
          </a:prstGeom>
          <a:solidFill>
            <a:srgbClr val="000000"/>
          </a:solidFill>
          <a:ln/>
        </p:spPr>
      </p:sp>
      <p:sp>
        <p:nvSpPr>
          <p:cNvPr id="39" name="t-1-6"/>
          <p:cNvSpPr/>
          <p:nvPr/>
        </p:nvSpPr>
        <p:spPr>
          <a:xfrm>
            <a:off x="4974336" y="2395728"/>
            <a:ext cx="155448" cy="155448"/>
          </a:xfrm>
          <a:prstGeom prst="ellipse">
            <a:avLst/>
          </a:prstGeom>
          <a:solidFill>
            <a:srgbClr val="000000"/>
          </a:solidFill>
          <a:ln/>
        </p:spPr>
      </p:sp>
      <p:sp>
        <p:nvSpPr>
          <p:cNvPr id="40" name="t-1-7"/>
          <p:cNvSpPr/>
          <p:nvPr/>
        </p:nvSpPr>
        <p:spPr>
          <a:xfrm>
            <a:off x="5193792" y="2395728"/>
            <a:ext cx="155448" cy="155448"/>
          </a:xfrm>
          <a:prstGeom prst="ellipse">
            <a:avLst/>
          </a:prstGeom>
          <a:solidFill>
            <a:srgbClr val="000000"/>
          </a:solidFill>
          <a:ln/>
        </p:spPr>
      </p:sp>
      <p:sp>
        <p:nvSpPr>
          <p:cNvPr id="41" name="t-2-0"/>
          <p:cNvSpPr/>
          <p:nvPr/>
        </p:nvSpPr>
        <p:spPr>
          <a:xfrm>
            <a:off x="3657600" y="2688336"/>
            <a:ext cx="155448" cy="155448"/>
          </a:xfrm>
          <a:prstGeom prst="ellipse">
            <a:avLst/>
          </a:prstGeom>
          <a:solidFill>
            <a:srgbClr val="000000"/>
          </a:solidFill>
          <a:ln/>
        </p:spPr>
      </p:sp>
      <p:sp>
        <p:nvSpPr>
          <p:cNvPr id="42" name="t-2-1"/>
          <p:cNvSpPr/>
          <p:nvPr/>
        </p:nvSpPr>
        <p:spPr>
          <a:xfrm>
            <a:off x="3877056" y="2688336"/>
            <a:ext cx="155448" cy="155448"/>
          </a:xfrm>
          <a:prstGeom prst="ellipse">
            <a:avLst/>
          </a:prstGeom>
          <a:solidFill>
            <a:srgbClr val="000000"/>
          </a:solidFill>
          <a:ln/>
        </p:spPr>
      </p:sp>
      <p:sp>
        <p:nvSpPr>
          <p:cNvPr id="43" name="t-2-2"/>
          <p:cNvSpPr/>
          <p:nvPr/>
        </p:nvSpPr>
        <p:spPr>
          <a:xfrm>
            <a:off x="4096512" y="2688336"/>
            <a:ext cx="155448" cy="155448"/>
          </a:xfrm>
          <a:prstGeom prst="ellipse">
            <a:avLst/>
          </a:prstGeom>
          <a:solidFill>
            <a:srgbClr val="000000"/>
          </a:solidFill>
          <a:ln/>
        </p:spPr>
      </p:sp>
      <p:sp>
        <p:nvSpPr>
          <p:cNvPr id="44" name="t-2-3"/>
          <p:cNvSpPr/>
          <p:nvPr/>
        </p:nvSpPr>
        <p:spPr>
          <a:xfrm>
            <a:off x="4315968" y="2688336"/>
            <a:ext cx="155448" cy="155448"/>
          </a:xfrm>
          <a:prstGeom prst="ellipse">
            <a:avLst/>
          </a:prstGeom>
          <a:solidFill>
            <a:srgbClr val="000000"/>
          </a:solidFill>
          <a:ln/>
        </p:spPr>
      </p:sp>
      <p:sp>
        <p:nvSpPr>
          <p:cNvPr id="45" name="t-2-4"/>
          <p:cNvSpPr/>
          <p:nvPr/>
        </p:nvSpPr>
        <p:spPr>
          <a:xfrm>
            <a:off x="4535424" y="2688336"/>
            <a:ext cx="155448" cy="155448"/>
          </a:xfrm>
          <a:prstGeom prst="ellipse">
            <a:avLst/>
          </a:prstGeom>
          <a:solidFill>
            <a:srgbClr val="000000"/>
          </a:solidFill>
          <a:ln/>
        </p:spPr>
      </p:sp>
      <p:sp>
        <p:nvSpPr>
          <p:cNvPr id="46" name="t-2-5"/>
          <p:cNvSpPr/>
          <p:nvPr/>
        </p:nvSpPr>
        <p:spPr>
          <a:xfrm>
            <a:off x="4754880" y="2688336"/>
            <a:ext cx="155448" cy="155448"/>
          </a:xfrm>
          <a:prstGeom prst="ellipse">
            <a:avLst/>
          </a:prstGeom>
          <a:solidFill>
            <a:srgbClr val="000000"/>
          </a:solidFill>
          <a:ln/>
        </p:spPr>
      </p:sp>
      <p:sp>
        <p:nvSpPr>
          <p:cNvPr id="47" name="t-2-6"/>
          <p:cNvSpPr/>
          <p:nvPr/>
        </p:nvSpPr>
        <p:spPr>
          <a:xfrm>
            <a:off x="4974336" y="2688336"/>
            <a:ext cx="155448" cy="155448"/>
          </a:xfrm>
          <a:prstGeom prst="ellipse">
            <a:avLst/>
          </a:prstGeom>
          <a:solidFill>
            <a:srgbClr val="000000"/>
          </a:solidFill>
          <a:ln/>
        </p:spPr>
      </p:sp>
      <p:sp>
        <p:nvSpPr>
          <p:cNvPr id="48" name="t-2-7"/>
          <p:cNvSpPr/>
          <p:nvPr/>
        </p:nvSpPr>
        <p:spPr>
          <a:xfrm>
            <a:off x="5193792" y="2688336"/>
            <a:ext cx="155448" cy="155448"/>
          </a:xfrm>
          <a:prstGeom prst="ellipse">
            <a:avLst/>
          </a:prstGeom>
          <a:solidFill>
            <a:srgbClr val="000000"/>
          </a:solidFill>
          <a:ln/>
        </p:spPr>
      </p:sp>
      <p:sp>
        <p:nvSpPr>
          <p:cNvPr id="49" name="t-3-0"/>
          <p:cNvSpPr/>
          <p:nvPr/>
        </p:nvSpPr>
        <p:spPr>
          <a:xfrm>
            <a:off x="3657600" y="2980944"/>
            <a:ext cx="155448" cy="155448"/>
          </a:xfrm>
          <a:prstGeom prst="ellipse">
            <a:avLst/>
          </a:prstGeom>
          <a:solidFill>
            <a:srgbClr val="000000"/>
          </a:solidFill>
          <a:ln/>
        </p:spPr>
      </p:sp>
      <p:sp>
        <p:nvSpPr>
          <p:cNvPr id="50" name="t-3-1"/>
          <p:cNvSpPr/>
          <p:nvPr/>
        </p:nvSpPr>
        <p:spPr>
          <a:xfrm>
            <a:off x="3877056" y="2980944"/>
            <a:ext cx="155448" cy="155448"/>
          </a:xfrm>
          <a:prstGeom prst="ellipse">
            <a:avLst/>
          </a:prstGeom>
          <a:solidFill>
            <a:srgbClr val="000000"/>
          </a:solidFill>
          <a:ln/>
        </p:spPr>
      </p:sp>
      <p:sp>
        <p:nvSpPr>
          <p:cNvPr id="51" name="t-3-2"/>
          <p:cNvSpPr/>
          <p:nvPr/>
        </p:nvSpPr>
        <p:spPr>
          <a:xfrm>
            <a:off x="4096512" y="2980944"/>
            <a:ext cx="155448" cy="155448"/>
          </a:xfrm>
          <a:prstGeom prst="ellipse">
            <a:avLst/>
          </a:prstGeom>
          <a:solidFill>
            <a:srgbClr val="000000"/>
          </a:solidFill>
          <a:ln/>
        </p:spPr>
      </p:sp>
      <p:sp>
        <p:nvSpPr>
          <p:cNvPr id="52" name="t-3-3"/>
          <p:cNvSpPr/>
          <p:nvPr/>
        </p:nvSpPr>
        <p:spPr>
          <a:xfrm>
            <a:off x="4315968" y="2980944"/>
            <a:ext cx="155448" cy="155448"/>
          </a:xfrm>
          <a:prstGeom prst="ellipse">
            <a:avLst/>
          </a:prstGeom>
          <a:solidFill>
            <a:srgbClr val="000000"/>
          </a:solidFill>
          <a:ln/>
        </p:spPr>
      </p:sp>
      <p:sp>
        <p:nvSpPr>
          <p:cNvPr id="53" name="t-3-4"/>
          <p:cNvSpPr/>
          <p:nvPr/>
        </p:nvSpPr>
        <p:spPr>
          <a:xfrm>
            <a:off x="4535424" y="2980944"/>
            <a:ext cx="155448" cy="155448"/>
          </a:xfrm>
          <a:prstGeom prst="ellipse">
            <a:avLst/>
          </a:prstGeom>
          <a:solidFill>
            <a:srgbClr val="000000"/>
          </a:solidFill>
          <a:ln/>
        </p:spPr>
      </p:sp>
      <p:sp>
        <p:nvSpPr>
          <p:cNvPr id="54" name="t-3-5"/>
          <p:cNvSpPr/>
          <p:nvPr/>
        </p:nvSpPr>
        <p:spPr>
          <a:xfrm>
            <a:off x="4754880" y="2980944"/>
            <a:ext cx="155448" cy="155448"/>
          </a:xfrm>
          <a:prstGeom prst="ellipse">
            <a:avLst/>
          </a:prstGeom>
          <a:solidFill>
            <a:srgbClr val="000000"/>
          </a:solidFill>
          <a:ln/>
        </p:spPr>
      </p:sp>
      <p:sp>
        <p:nvSpPr>
          <p:cNvPr id="55" name="t-3-6"/>
          <p:cNvSpPr/>
          <p:nvPr/>
        </p:nvSpPr>
        <p:spPr>
          <a:xfrm>
            <a:off x="4974336" y="2980944"/>
            <a:ext cx="155448" cy="155448"/>
          </a:xfrm>
          <a:prstGeom prst="ellipse">
            <a:avLst/>
          </a:prstGeom>
          <a:solidFill>
            <a:srgbClr val="000000"/>
          </a:solidFill>
          <a:ln/>
        </p:spPr>
      </p:sp>
      <p:sp>
        <p:nvSpPr>
          <p:cNvPr id="56" name="t-3-7"/>
          <p:cNvSpPr/>
          <p:nvPr/>
        </p:nvSpPr>
        <p:spPr>
          <a:xfrm>
            <a:off x="5193792" y="2980944"/>
            <a:ext cx="155448" cy="155448"/>
          </a:xfrm>
          <a:prstGeom prst="ellipse">
            <a:avLst/>
          </a:prstGeom>
          <a:solidFill>
            <a:srgbClr val="000000"/>
          </a:solidFill>
          <a:ln/>
        </p:spPr>
      </p:sp>
      <p:sp>
        <p:nvSpPr>
          <p:cNvPr id="57" name="Text 55"/>
          <p:cNvSpPr txBox="1"/>
          <p:nvPr/>
        </p:nvSpPr>
        <p:spPr>
          <a:xfrm>
            <a:off x="3611880" y="3337560"/>
            <a:ext cx="1920240" cy="1188720"/>
          </a:xfrm>
          <a:prstGeom prst="rect">
            <a:avLst/>
          </a:prstGeom>
          <a:noFill/>
          <a:ln/>
        </p:spPr>
        <p:txBody>
          <a:bodyPr wrap="square" lIns="0" tIns="0" rIns="0" bIns="0" rtlCol="0" anchor="t"/>
          <a:lstStyle/>
          <a:p>
            <a:pPr indent="0" marL="0">
              <a:buNone/>
            </a:pPr>
            <a:r>
              <a:rPr lang="en-US" sz="1100" dirty="0">
                <a:solidFill>
                  <a:srgbClr val="595959"/>
                </a:solidFill>
                <a:latin typeface="Calibri" pitchFamily="34" charset="0"/>
                <a:ea typeface="Calibri" pitchFamily="34" charset="-122"/>
                <a:cs typeface="Calibri" pitchFamily="34" charset="-120"/>
              </a:rPr>
              <a:t>Block = threads (threadIdx) sharing shared memory and __syncthreads(); gray row = 1 warp of 32 threads</a:t>
            </a:r>
            <a:endParaRPr lang="en-US" sz="1100" dirty="0"/>
          </a:p>
        </p:txBody>
      </p:sp>
      <p:sp>
        <p:nvSpPr>
          <p:cNvPr id="58" name="code-bg"/>
          <p:cNvSpPr/>
          <p:nvPr/>
        </p:nvSpPr>
        <p:spPr>
          <a:xfrm>
            <a:off x="777240" y="4480560"/>
            <a:ext cx="4663440" cy="1371600"/>
          </a:xfrm>
          <a:prstGeom prst="roundRect">
            <a:avLst>
              <a:gd name="adj" fmla="val 4000"/>
            </a:avLst>
          </a:prstGeom>
          <a:solidFill>
            <a:srgbClr val="1A1A1A"/>
          </a:solidFill>
          <a:ln/>
        </p:spPr>
      </p:sp>
      <p:sp>
        <p:nvSpPr>
          <p:cNvPr id="59" name="Text 57"/>
          <p:cNvSpPr txBox="1"/>
          <p:nvPr/>
        </p:nvSpPr>
        <p:spPr>
          <a:xfrm>
            <a:off x="960120" y="4617720"/>
            <a:ext cx="4297680" cy="1097280"/>
          </a:xfrm>
          <a:prstGeom prst="rect">
            <a:avLst/>
          </a:prstGeom>
          <a:noFill/>
          <a:ln/>
        </p:spPr>
        <p:txBody>
          <a:bodyPr wrap="square" lIns="0" tIns="0" rIns="0" bIns="0" rtlCol="0" anchor="t"/>
          <a:lstStyle/>
          <a:p>
            <a:pPr indent="0" marL="0">
              <a:buNone/>
            </a:pPr>
            <a:r>
              <a:rPr lang="en-US" sz="1000" dirty="0">
                <a:solidFill>
                  <a:srgbClr val="F2F2F2"/>
                </a:solidFill>
                <a:latin typeface="Courier New" pitchFamily="34" charset="0"/>
                <a:ea typeface="Courier New" pitchFamily="34" charset="-122"/>
                <a:cs typeface="Courier New" pitchFamily="34" charset="-120"/>
              </a:rPr>
              <a:t>// global 3D index of this thread</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int x = blockIdx.x*blockDim.x + threadIdx.x;</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int y = blockIdx.y*blockDim.y + threadIdx.y;</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int z = blockIdx.z*blockDim.z + threadIdx.z;</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if (x &lt; W &amp;&amp; y &lt; H &amp;&amp; z &lt; D) out[(z*H+y)*W+x] = f(...);</a:t>
            </a:r>
            <a:endParaRPr lang="en-US" sz="1000" dirty="0"/>
          </a:p>
        </p:txBody>
      </p:sp>
      <p:sp>
        <p:nvSpPr>
          <p:cNvPr id="60" name="Text 58"/>
          <p:cNvSpPr txBox="1"/>
          <p:nvPr/>
        </p:nvSpPr>
        <p:spPr>
          <a:xfrm>
            <a:off x="5943600" y="132588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Rules that shape our kernels</a:t>
            </a:r>
            <a:endParaRPr lang="en-US" sz="1500" dirty="0"/>
          </a:p>
        </p:txBody>
      </p:sp>
      <p:sp>
        <p:nvSpPr>
          <p:cNvPr id="61" name="Text 59"/>
          <p:cNvSpPr txBox="1"/>
          <p:nvPr/>
        </p:nvSpPr>
        <p:spPr>
          <a:xfrm>
            <a:off x="5943600" y="1691640"/>
            <a:ext cx="5669280" cy="24688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Warp = 32 threads executing the same instruction (SIMT). If threads in a warp take different branches, both paths run (divergence)</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Blocks are scheduled on SMs; several blocks per SM keep it busy (occupancy) while others wait for memory</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Threads in a block can share fast memory and synchronise; different blocks cannot, so each block must be independent</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Max 1024 threads per block; we use 256–512</a:t>
            </a:r>
            <a:endParaRPr lang="en-US" sz="1300" dirty="0"/>
          </a:p>
        </p:txBody>
      </p:sp>
      <p:graphicFrame>
        <p:nvGraphicFramePr>
          <p:cNvPr id="11" name="launch-table"/>
          <p:cNvGraphicFramePr>
            <a:graphicFrameLocks noGrp="1"/>
          </p:cNvGraphicFramePr>
          <p:nvPr>
            <p:extLst>
              <p:ext uri="{D42A27DB-BD31-4B8C-83A1-F6EECF244321}">
                <p14:modId xmlns:p14="http://schemas.microsoft.com/office/powerpoint/2010/main" val="1579011935"/>
              </p:ext>
            </p:extLst>
          </p:nvPr>
        </p:nvGraphicFramePr>
        <p:xfrm>
          <a:off x="5943600" y="4206240"/>
          <a:ext cx="5669280" cy="914400"/>
        </p:xfrm>
        <a:graphic>
          <a:graphicData uri="http://schemas.openxmlformats.org/drawingml/2006/table">
            <a:tbl>
              <a:tblPr/>
              <a:tblGrid>
                <a:gridCol w="1828800"/>
                <a:gridCol w="731520"/>
                <a:gridCol w="1371600"/>
                <a:gridCol w="822960"/>
                <a:gridCol w="9144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Our kernel</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Block</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Grid</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Threads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Warps / block</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6576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FBP back-projection</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16×16</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16×16×128</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8.4 M</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3D convolution</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8×8×8</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32×32×32</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16.8 M</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Histogram (grid-stride)</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256</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240 (= 30 SMs × 8)</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61 k</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Label (threshold)</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256</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28,928</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7.4 M</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2  ·  GPU ARCHITECTURE &amp; PARALLEL COMPUTING</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GPU memory hierarchy and how we used each level</a:t>
            </a:r>
            <a:endParaRPr lang="en-US" sz="3400" dirty="0"/>
          </a:p>
        </p:txBody>
      </p:sp>
      <p:sp>
        <p:nvSpPr>
          <p:cNvPr id="4" name="arch-panel"/>
          <p:cNvSpPr/>
          <p:nvPr/>
        </p:nvSpPr>
        <p:spPr>
          <a:xfrm>
            <a:off x="548640" y="1325880"/>
            <a:ext cx="5120640" cy="4754880"/>
          </a:xfrm>
          <a:prstGeom prst="roundRect">
            <a:avLst>
              <a:gd name="adj" fmla="val 1538"/>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Text 3"/>
          <p:cNvSpPr txBox="1"/>
          <p:nvPr/>
        </p:nvSpPr>
        <p:spPr>
          <a:xfrm>
            <a:off x="777240" y="1417320"/>
            <a:ext cx="466344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GeForce RTX 5060 (Blackwell)</a:t>
            </a:r>
            <a:endParaRPr lang="en-US" sz="1400" dirty="0"/>
          </a:p>
        </p:txBody>
      </p:sp>
      <p:sp>
        <p:nvSpPr>
          <p:cNvPr id="6" name="sm-0"/>
          <p:cNvSpPr/>
          <p:nvPr/>
        </p:nvSpPr>
        <p:spPr>
          <a:xfrm>
            <a:off x="777240" y="1783080"/>
            <a:ext cx="1463040" cy="2011680"/>
          </a:xfrm>
          <a:prstGeom prst="roundRect">
            <a:avLst>
              <a:gd name="adj" fmla="val 3125"/>
            </a:avLst>
          </a:prstGeom>
          <a:solidFill>
            <a:srgbClr val="F2F2F2"/>
          </a:solidFill>
          <a:ln w="12700">
            <a:solidFill>
              <a:srgbClr val="000000"/>
            </a:solidFill>
            <a:prstDash val="solid"/>
          </a:ln>
        </p:spPr>
      </p:sp>
      <p:sp>
        <p:nvSpPr>
          <p:cNvPr id="7" name="Text 5"/>
          <p:cNvSpPr txBox="1"/>
          <p:nvPr/>
        </p:nvSpPr>
        <p:spPr>
          <a:xfrm>
            <a:off x="777240" y="1828800"/>
            <a:ext cx="1463040"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alibri" pitchFamily="34" charset="0"/>
                <a:ea typeface="Calibri" pitchFamily="34" charset="-122"/>
                <a:cs typeface="Calibri" pitchFamily="34" charset="-120"/>
              </a:rPr>
              <a:t>SM 0</a:t>
            </a:r>
            <a:endParaRPr lang="en-US" sz="1100" dirty="0"/>
          </a:p>
        </p:txBody>
      </p:sp>
      <p:sp>
        <p:nvSpPr>
          <p:cNvPr id="8" name="sm0-0"/>
          <p:cNvSpPr/>
          <p:nvPr/>
        </p:nvSpPr>
        <p:spPr>
          <a:xfrm>
            <a:off x="868680" y="2148840"/>
            <a:ext cx="1280160" cy="338328"/>
          </a:xfrm>
          <a:prstGeom prst="roundRect">
            <a:avLst>
              <a:gd name="adj" fmla="val 13514"/>
            </a:avLst>
          </a:prstGeom>
          <a:solidFill>
            <a:srgbClr val="000000"/>
          </a:solidFill>
          <a:ln w="12700">
            <a:solidFill>
              <a:srgbClr val="000000"/>
            </a:solidFill>
            <a:prstDash val="solid"/>
          </a:ln>
        </p:spPr>
      </p:sp>
      <p:sp>
        <p:nvSpPr>
          <p:cNvPr id="9" name="Text 7"/>
          <p:cNvSpPr txBox="1"/>
          <p:nvPr/>
        </p:nvSpPr>
        <p:spPr>
          <a:xfrm>
            <a:off x="914400" y="2148840"/>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128 CUDA cores</a:t>
            </a:r>
            <a:endParaRPr lang="en-US" sz="1000" dirty="0"/>
          </a:p>
        </p:txBody>
      </p:sp>
      <p:sp>
        <p:nvSpPr>
          <p:cNvPr id="10" name="sm0-1"/>
          <p:cNvSpPr/>
          <p:nvPr/>
        </p:nvSpPr>
        <p:spPr>
          <a:xfrm>
            <a:off x="868680" y="2551176"/>
            <a:ext cx="1280160" cy="338328"/>
          </a:xfrm>
          <a:prstGeom prst="roundRect">
            <a:avLst>
              <a:gd name="adj" fmla="val 13514"/>
            </a:avLst>
          </a:prstGeom>
          <a:solidFill>
            <a:srgbClr val="404040"/>
          </a:solidFill>
          <a:ln w="12700">
            <a:solidFill>
              <a:srgbClr val="000000"/>
            </a:solidFill>
            <a:prstDash val="solid"/>
          </a:ln>
        </p:spPr>
      </p:sp>
      <p:sp>
        <p:nvSpPr>
          <p:cNvPr id="11" name="Text 9"/>
          <p:cNvSpPr txBox="1"/>
          <p:nvPr/>
        </p:nvSpPr>
        <p:spPr>
          <a:xfrm>
            <a:off x="914400" y="2551176"/>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Tensor Cores</a:t>
            </a:r>
            <a:endParaRPr lang="en-US" sz="1000" dirty="0"/>
          </a:p>
        </p:txBody>
      </p:sp>
      <p:sp>
        <p:nvSpPr>
          <p:cNvPr id="12" name="sm0-2"/>
          <p:cNvSpPr/>
          <p:nvPr/>
        </p:nvSpPr>
        <p:spPr>
          <a:xfrm>
            <a:off x="868680" y="2953512"/>
            <a:ext cx="1280160" cy="338328"/>
          </a:xfrm>
          <a:prstGeom prst="roundRect">
            <a:avLst>
              <a:gd name="adj" fmla="val 13514"/>
            </a:avLst>
          </a:prstGeom>
          <a:solidFill>
            <a:srgbClr val="262626"/>
          </a:solidFill>
          <a:ln w="12700">
            <a:solidFill>
              <a:srgbClr val="000000"/>
            </a:solidFill>
            <a:prstDash val="solid"/>
          </a:ln>
        </p:spPr>
      </p:sp>
      <p:sp>
        <p:nvSpPr>
          <p:cNvPr id="13" name="Text 11"/>
          <p:cNvSpPr txBox="1"/>
          <p:nvPr/>
        </p:nvSpPr>
        <p:spPr>
          <a:xfrm>
            <a:off x="914400" y="2953512"/>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Registers</a:t>
            </a:r>
            <a:endParaRPr lang="en-US" sz="1000" dirty="0"/>
          </a:p>
        </p:txBody>
      </p:sp>
      <p:sp>
        <p:nvSpPr>
          <p:cNvPr id="14" name="sm0-3"/>
          <p:cNvSpPr/>
          <p:nvPr/>
        </p:nvSpPr>
        <p:spPr>
          <a:xfrm>
            <a:off x="868680" y="3355848"/>
            <a:ext cx="1280160" cy="338328"/>
          </a:xfrm>
          <a:prstGeom prst="roundRect">
            <a:avLst>
              <a:gd name="adj" fmla="val 13514"/>
            </a:avLst>
          </a:prstGeom>
          <a:solidFill>
            <a:srgbClr val="595959"/>
          </a:solidFill>
          <a:ln w="12700">
            <a:solidFill>
              <a:srgbClr val="000000"/>
            </a:solidFill>
            <a:prstDash val="solid"/>
          </a:ln>
        </p:spPr>
      </p:sp>
      <p:sp>
        <p:nvSpPr>
          <p:cNvPr id="15" name="Text 13"/>
          <p:cNvSpPr txBox="1"/>
          <p:nvPr/>
        </p:nvSpPr>
        <p:spPr>
          <a:xfrm>
            <a:off x="914400" y="3355848"/>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Shared mem / L1</a:t>
            </a:r>
            <a:endParaRPr lang="en-US" sz="1000" dirty="0"/>
          </a:p>
        </p:txBody>
      </p:sp>
      <p:sp>
        <p:nvSpPr>
          <p:cNvPr id="16" name="sm-1"/>
          <p:cNvSpPr/>
          <p:nvPr/>
        </p:nvSpPr>
        <p:spPr>
          <a:xfrm>
            <a:off x="2350008" y="1783080"/>
            <a:ext cx="1463040" cy="2011680"/>
          </a:xfrm>
          <a:prstGeom prst="roundRect">
            <a:avLst>
              <a:gd name="adj" fmla="val 3125"/>
            </a:avLst>
          </a:prstGeom>
          <a:solidFill>
            <a:srgbClr val="F2F2F2"/>
          </a:solidFill>
          <a:ln w="12700">
            <a:solidFill>
              <a:srgbClr val="000000"/>
            </a:solidFill>
            <a:prstDash val="solid"/>
          </a:ln>
        </p:spPr>
      </p:sp>
      <p:sp>
        <p:nvSpPr>
          <p:cNvPr id="17" name="Text 15"/>
          <p:cNvSpPr txBox="1"/>
          <p:nvPr/>
        </p:nvSpPr>
        <p:spPr>
          <a:xfrm>
            <a:off x="2350008" y="1828800"/>
            <a:ext cx="1463040"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alibri" pitchFamily="34" charset="0"/>
                <a:ea typeface="Calibri" pitchFamily="34" charset="-122"/>
                <a:cs typeface="Calibri" pitchFamily="34" charset="-120"/>
              </a:rPr>
              <a:t>SM 1</a:t>
            </a:r>
            <a:endParaRPr lang="en-US" sz="1100" dirty="0"/>
          </a:p>
        </p:txBody>
      </p:sp>
      <p:sp>
        <p:nvSpPr>
          <p:cNvPr id="18" name="sm1-0"/>
          <p:cNvSpPr/>
          <p:nvPr/>
        </p:nvSpPr>
        <p:spPr>
          <a:xfrm>
            <a:off x="2441448" y="2148840"/>
            <a:ext cx="1280160" cy="338328"/>
          </a:xfrm>
          <a:prstGeom prst="roundRect">
            <a:avLst>
              <a:gd name="adj" fmla="val 13514"/>
            </a:avLst>
          </a:prstGeom>
          <a:solidFill>
            <a:srgbClr val="000000"/>
          </a:solidFill>
          <a:ln w="12700">
            <a:solidFill>
              <a:srgbClr val="000000"/>
            </a:solidFill>
            <a:prstDash val="solid"/>
          </a:ln>
        </p:spPr>
      </p:sp>
      <p:sp>
        <p:nvSpPr>
          <p:cNvPr id="19" name="Text 17"/>
          <p:cNvSpPr txBox="1"/>
          <p:nvPr/>
        </p:nvSpPr>
        <p:spPr>
          <a:xfrm>
            <a:off x="2487168" y="2148840"/>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128 CUDA cores</a:t>
            </a:r>
            <a:endParaRPr lang="en-US" sz="1000" dirty="0"/>
          </a:p>
        </p:txBody>
      </p:sp>
      <p:sp>
        <p:nvSpPr>
          <p:cNvPr id="20" name="sm1-1"/>
          <p:cNvSpPr/>
          <p:nvPr/>
        </p:nvSpPr>
        <p:spPr>
          <a:xfrm>
            <a:off x="2441448" y="2551176"/>
            <a:ext cx="1280160" cy="338328"/>
          </a:xfrm>
          <a:prstGeom prst="roundRect">
            <a:avLst>
              <a:gd name="adj" fmla="val 13514"/>
            </a:avLst>
          </a:prstGeom>
          <a:solidFill>
            <a:srgbClr val="404040"/>
          </a:solidFill>
          <a:ln w="12700">
            <a:solidFill>
              <a:srgbClr val="000000"/>
            </a:solidFill>
            <a:prstDash val="solid"/>
          </a:ln>
        </p:spPr>
      </p:sp>
      <p:sp>
        <p:nvSpPr>
          <p:cNvPr id="21" name="Text 19"/>
          <p:cNvSpPr txBox="1"/>
          <p:nvPr/>
        </p:nvSpPr>
        <p:spPr>
          <a:xfrm>
            <a:off x="2487168" y="2551176"/>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Tensor Cores</a:t>
            </a:r>
            <a:endParaRPr lang="en-US" sz="1000" dirty="0"/>
          </a:p>
        </p:txBody>
      </p:sp>
      <p:sp>
        <p:nvSpPr>
          <p:cNvPr id="22" name="sm1-2"/>
          <p:cNvSpPr/>
          <p:nvPr/>
        </p:nvSpPr>
        <p:spPr>
          <a:xfrm>
            <a:off x="2441448" y="2953512"/>
            <a:ext cx="1280160" cy="338328"/>
          </a:xfrm>
          <a:prstGeom prst="roundRect">
            <a:avLst>
              <a:gd name="adj" fmla="val 13514"/>
            </a:avLst>
          </a:prstGeom>
          <a:solidFill>
            <a:srgbClr val="262626"/>
          </a:solidFill>
          <a:ln w="12700">
            <a:solidFill>
              <a:srgbClr val="000000"/>
            </a:solidFill>
            <a:prstDash val="solid"/>
          </a:ln>
        </p:spPr>
      </p:sp>
      <p:sp>
        <p:nvSpPr>
          <p:cNvPr id="23" name="Text 21"/>
          <p:cNvSpPr txBox="1"/>
          <p:nvPr/>
        </p:nvSpPr>
        <p:spPr>
          <a:xfrm>
            <a:off x="2487168" y="2953512"/>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Registers</a:t>
            </a:r>
            <a:endParaRPr lang="en-US" sz="1000" dirty="0"/>
          </a:p>
        </p:txBody>
      </p:sp>
      <p:sp>
        <p:nvSpPr>
          <p:cNvPr id="24" name="sm1-3"/>
          <p:cNvSpPr/>
          <p:nvPr/>
        </p:nvSpPr>
        <p:spPr>
          <a:xfrm>
            <a:off x="2441448" y="3355848"/>
            <a:ext cx="1280160" cy="338328"/>
          </a:xfrm>
          <a:prstGeom prst="roundRect">
            <a:avLst>
              <a:gd name="adj" fmla="val 13514"/>
            </a:avLst>
          </a:prstGeom>
          <a:solidFill>
            <a:srgbClr val="595959"/>
          </a:solidFill>
          <a:ln w="12700">
            <a:solidFill>
              <a:srgbClr val="000000"/>
            </a:solidFill>
            <a:prstDash val="solid"/>
          </a:ln>
        </p:spPr>
      </p:sp>
      <p:sp>
        <p:nvSpPr>
          <p:cNvPr id="25" name="Text 23"/>
          <p:cNvSpPr txBox="1"/>
          <p:nvPr/>
        </p:nvSpPr>
        <p:spPr>
          <a:xfrm>
            <a:off x="2487168" y="3355848"/>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Shared mem / L1</a:t>
            </a:r>
            <a:endParaRPr lang="en-US" sz="1000" dirty="0"/>
          </a:p>
        </p:txBody>
      </p:sp>
      <p:sp>
        <p:nvSpPr>
          <p:cNvPr id="26" name="sm-2"/>
          <p:cNvSpPr/>
          <p:nvPr/>
        </p:nvSpPr>
        <p:spPr>
          <a:xfrm>
            <a:off x="3922776" y="1783080"/>
            <a:ext cx="1463040" cy="2011680"/>
          </a:xfrm>
          <a:prstGeom prst="roundRect">
            <a:avLst>
              <a:gd name="adj" fmla="val 3125"/>
            </a:avLst>
          </a:prstGeom>
          <a:solidFill>
            <a:srgbClr val="F2F2F2"/>
          </a:solidFill>
          <a:ln w="12700">
            <a:solidFill>
              <a:srgbClr val="000000"/>
            </a:solidFill>
            <a:prstDash val="solid"/>
          </a:ln>
        </p:spPr>
      </p:sp>
      <p:sp>
        <p:nvSpPr>
          <p:cNvPr id="27" name="Text 25"/>
          <p:cNvSpPr txBox="1"/>
          <p:nvPr/>
        </p:nvSpPr>
        <p:spPr>
          <a:xfrm>
            <a:off x="3922776" y="1828800"/>
            <a:ext cx="1463040"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alibri" pitchFamily="34" charset="0"/>
                <a:ea typeface="Calibri" pitchFamily="34" charset="-122"/>
                <a:cs typeface="Calibri" pitchFamily="34" charset="-120"/>
              </a:rPr>
              <a:t>… SM 29</a:t>
            </a:r>
            <a:endParaRPr lang="en-US" sz="1100" dirty="0"/>
          </a:p>
        </p:txBody>
      </p:sp>
      <p:sp>
        <p:nvSpPr>
          <p:cNvPr id="28" name="sm2-0"/>
          <p:cNvSpPr/>
          <p:nvPr/>
        </p:nvSpPr>
        <p:spPr>
          <a:xfrm>
            <a:off x="4014216" y="2148840"/>
            <a:ext cx="1280160" cy="338328"/>
          </a:xfrm>
          <a:prstGeom prst="roundRect">
            <a:avLst>
              <a:gd name="adj" fmla="val 13514"/>
            </a:avLst>
          </a:prstGeom>
          <a:solidFill>
            <a:srgbClr val="000000"/>
          </a:solidFill>
          <a:ln w="12700">
            <a:solidFill>
              <a:srgbClr val="000000"/>
            </a:solidFill>
            <a:prstDash val="solid"/>
          </a:ln>
        </p:spPr>
      </p:sp>
      <p:sp>
        <p:nvSpPr>
          <p:cNvPr id="29" name="Text 27"/>
          <p:cNvSpPr txBox="1"/>
          <p:nvPr/>
        </p:nvSpPr>
        <p:spPr>
          <a:xfrm>
            <a:off x="4059936" y="2148840"/>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128 CUDA cores</a:t>
            </a:r>
            <a:endParaRPr lang="en-US" sz="1000" dirty="0"/>
          </a:p>
        </p:txBody>
      </p:sp>
      <p:sp>
        <p:nvSpPr>
          <p:cNvPr id="30" name="sm2-1"/>
          <p:cNvSpPr/>
          <p:nvPr/>
        </p:nvSpPr>
        <p:spPr>
          <a:xfrm>
            <a:off x="4014216" y="2551176"/>
            <a:ext cx="1280160" cy="338328"/>
          </a:xfrm>
          <a:prstGeom prst="roundRect">
            <a:avLst>
              <a:gd name="adj" fmla="val 13514"/>
            </a:avLst>
          </a:prstGeom>
          <a:solidFill>
            <a:srgbClr val="404040"/>
          </a:solidFill>
          <a:ln w="12700">
            <a:solidFill>
              <a:srgbClr val="000000"/>
            </a:solidFill>
            <a:prstDash val="solid"/>
          </a:ln>
        </p:spPr>
      </p:sp>
      <p:sp>
        <p:nvSpPr>
          <p:cNvPr id="31" name="Text 29"/>
          <p:cNvSpPr txBox="1"/>
          <p:nvPr/>
        </p:nvSpPr>
        <p:spPr>
          <a:xfrm>
            <a:off x="4059936" y="2551176"/>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Tensor Cores</a:t>
            </a:r>
            <a:endParaRPr lang="en-US" sz="1000" dirty="0"/>
          </a:p>
        </p:txBody>
      </p:sp>
      <p:sp>
        <p:nvSpPr>
          <p:cNvPr id="32" name="sm2-2"/>
          <p:cNvSpPr/>
          <p:nvPr/>
        </p:nvSpPr>
        <p:spPr>
          <a:xfrm>
            <a:off x="4014216" y="2953512"/>
            <a:ext cx="1280160" cy="338328"/>
          </a:xfrm>
          <a:prstGeom prst="roundRect">
            <a:avLst>
              <a:gd name="adj" fmla="val 13514"/>
            </a:avLst>
          </a:prstGeom>
          <a:solidFill>
            <a:srgbClr val="262626"/>
          </a:solidFill>
          <a:ln w="12700">
            <a:solidFill>
              <a:srgbClr val="000000"/>
            </a:solidFill>
            <a:prstDash val="solid"/>
          </a:ln>
        </p:spPr>
      </p:sp>
      <p:sp>
        <p:nvSpPr>
          <p:cNvPr id="33" name="Text 31"/>
          <p:cNvSpPr txBox="1"/>
          <p:nvPr/>
        </p:nvSpPr>
        <p:spPr>
          <a:xfrm>
            <a:off x="4059936" y="2953512"/>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Registers</a:t>
            </a:r>
            <a:endParaRPr lang="en-US" sz="1000" dirty="0"/>
          </a:p>
        </p:txBody>
      </p:sp>
      <p:sp>
        <p:nvSpPr>
          <p:cNvPr id="34" name="sm2-3"/>
          <p:cNvSpPr/>
          <p:nvPr/>
        </p:nvSpPr>
        <p:spPr>
          <a:xfrm>
            <a:off x="4014216" y="3355848"/>
            <a:ext cx="1280160" cy="338328"/>
          </a:xfrm>
          <a:prstGeom prst="roundRect">
            <a:avLst>
              <a:gd name="adj" fmla="val 13514"/>
            </a:avLst>
          </a:prstGeom>
          <a:solidFill>
            <a:srgbClr val="595959"/>
          </a:solidFill>
          <a:ln w="12700">
            <a:solidFill>
              <a:srgbClr val="000000"/>
            </a:solidFill>
            <a:prstDash val="solid"/>
          </a:ln>
        </p:spPr>
      </p:sp>
      <p:sp>
        <p:nvSpPr>
          <p:cNvPr id="35" name="Text 33"/>
          <p:cNvSpPr txBox="1"/>
          <p:nvPr/>
        </p:nvSpPr>
        <p:spPr>
          <a:xfrm>
            <a:off x="4059936" y="3355848"/>
            <a:ext cx="118872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Shared mem / L1</a:t>
            </a:r>
            <a:endParaRPr lang="en-US" sz="1000" dirty="0"/>
          </a:p>
        </p:txBody>
      </p:sp>
      <p:sp>
        <p:nvSpPr>
          <p:cNvPr id="36" name="l2"/>
          <p:cNvSpPr/>
          <p:nvPr/>
        </p:nvSpPr>
        <p:spPr>
          <a:xfrm>
            <a:off x="777240" y="3931920"/>
            <a:ext cx="4663440" cy="411480"/>
          </a:xfrm>
          <a:prstGeom prst="roundRect">
            <a:avLst>
              <a:gd name="adj" fmla="val 11111"/>
            </a:avLst>
          </a:prstGeom>
          <a:solidFill>
            <a:srgbClr val="404040"/>
          </a:solidFill>
          <a:ln w="12700">
            <a:solidFill>
              <a:srgbClr val="000000"/>
            </a:solidFill>
            <a:prstDash val="solid"/>
          </a:ln>
        </p:spPr>
      </p:sp>
      <p:sp>
        <p:nvSpPr>
          <p:cNvPr id="37" name="Text 35"/>
          <p:cNvSpPr txBox="1"/>
          <p:nvPr/>
        </p:nvSpPr>
        <p:spPr>
          <a:xfrm>
            <a:off x="822960" y="3931920"/>
            <a:ext cx="4572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L2 cache (shared by all SMs)</a:t>
            </a:r>
            <a:endParaRPr lang="en-US" sz="1200" dirty="0"/>
          </a:p>
        </p:txBody>
      </p:sp>
      <p:sp>
        <p:nvSpPr>
          <p:cNvPr id="38" name="gmem"/>
          <p:cNvSpPr/>
          <p:nvPr/>
        </p:nvSpPr>
        <p:spPr>
          <a:xfrm>
            <a:off x="777240" y="4480560"/>
            <a:ext cx="4663440" cy="411480"/>
          </a:xfrm>
          <a:prstGeom prst="roundRect">
            <a:avLst>
              <a:gd name="adj" fmla="val 11111"/>
            </a:avLst>
          </a:prstGeom>
          <a:solidFill>
            <a:srgbClr val="000000"/>
          </a:solidFill>
          <a:ln w="12700">
            <a:solidFill>
              <a:srgbClr val="000000"/>
            </a:solidFill>
            <a:prstDash val="solid"/>
          </a:ln>
        </p:spPr>
      </p:sp>
      <p:sp>
        <p:nvSpPr>
          <p:cNvPr id="39" name="Text 37"/>
          <p:cNvSpPr txBox="1"/>
          <p:nvPr/>
        </p:nvSpPr>
        <p:spPr>
          <a:xfrm>
            <a:off x="822960" y="4480560"/>
            <a:ext cx="4572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Global memory: 8 GB GDDR7, 448 GB/s</a:t>
            </a:r>
            <a:endParaRPr lang="en-US" sz="1200" dirty="0"/>
          </a:p>
        </p:txBody>
      </p:sp>
      <p:sp>
        <p:nvSpPr>
          <p:cNvPr id="40" name="pcie"/>
          <p:cNvSpPr/>
          <p:nvPr/>
        </p:nvSpPr>
        <p:spPr>
          <a:xfrm>
            <a:off x="3108960" y="4937760"/>
            <a:ext cx="0" cy="384048"/>
          </a:xfrm>
          <a:prstGeom prst="line">
            <a:avLst/>
          </a:prstGeom>
          <a:noFill/>
          <a:ln w="31750">
            <a:solidFill>
              <a:srgbClr val="000000"/>
            </a:solidFill>
            <a:prstDash val="solid"/>
            <a:headEnd type="triangle"/>
            <a:tailEnd type="triangle"/>
          </a:ln>
        </p:spPr>
      </p:sp>
      <p:sp>
        <p:nvSpPr>
          <p:cNvPr id="41" name="Text 39"/>
          <p:cNvSpPr txBox="1"/>
          <p:nvPr/>
        </p:nvSpPr>
        <p:spPr>
          <a:xfrm>
            <a:off x="3246120" y="4983480"/>
            <a:ext cx="228600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PCIe: 11.8 GB/s measured</a:t>
            </a:r>
            <a:endParaRPr lang="en-US" sz="1100" dirty="0"/>
          </a:p>
        </p:txBody>
      </p:sp>
      <p:sp>
        <p:nvSpPr>
          <p:cNvPr id="42" name="host"/>
          <p:cNvSpPr/>
          <p:nvPr/>
        </p:nvSpPr>
        <p:spPr>
          <a:xfrm>
            <a:off x="777240" y="5349240"/>
            <a:ext cx="4663440" cy="411480"/>
          </a:xfrm>
          <a:prstGeom prst="roundRect">
            <a:avLst>
              <a:gd name="adj" fmla="val 11111"/>
            </a:avLst>
          </a:prstGeom>
          <a:solidFill>
            <a:srgbClr val="A6A6A6"/>
          </a:solidFill>
          <a:ln w="12700">
            <a:solidFill>
              <a:srgbClr val="000000"/>
            </a:solidFill>
            <a:prstDash val="solid"/>
          </a:ln>
        </p:spPr>
      </p:sp>
      <p:sp>
        <p:nvSpPr>
          <p:cNvPr id="43" name="Text 41"/>
          <p:cNvSpPr txBox="1"/>
          <p:nvPr/>
        </p:nvSpPr>
        <p:spPr>
          <a:xfrm>
            <a:off x="822960" y="5349240"/>
            <a:ext cx="457200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Calibri" pitchFamily="34" charset="0"/>
                <a:ea typeface="Calibri" pitchFamily="34" charset="-122"/>
                <a:cs typeface="Calibri" pitchFamily="34" charset="-120"/>
              </a:rPr>
              <a:t>Host: CPU + system RAM</a:t>
            </a:r>
            <a:endParaRPr lang="en-US" sz="1200" dirty="0"/>
          </a:p>
        </p:txBody>
      </p:sp>
      <p:graphicFrame>
        <p:nvGraphicFramePr>
          <p:cNvPr id="12" name="mem-table"/>
          <p:cNvGraphicFramePr>
            <a:graphicFrameLocks noGrp="1"/>
          </p:cNvGraphicFramePr>
          <p:nvPr>
            <p:extLst>
              <p:ext uri="{D42A27DB-BD31-4B8C-83A1-F6EECF244321}">
                <p14:modId xmlns:p14="http://schemas.microsoft.com/office/powerpoint/2010/main" val="1579011935"/>
              </p:ext>
            </p:extLst>
          </p:nvPr>
        </p:nvGraphicFramePr>
        <p:xfrm>
          <a:off x="5943600" y="1325880"/>
          <a:ext cx="5669280" cy="914400"/>
        </p:xfrm>
        <a:graphic>
          <a:graphicData uri="http://schemas.openxmlformats.org/drawingml/2006/table">
            <a:tbl>
              <a:tblPr/>
              <a:tblGrid>
                <a:gridCol w="1234440"/>
                <a:gridCol w="1417320"/>
                <a:gridCol w="1371600"/>
                <a:gridCol w="164592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Level</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Scope / size</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Used for</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5720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Registers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per thread</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 cycle</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accumulators (acc) in every kernel</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Shared memory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per block, ≤ 128 KB / SM</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 20–30 cycles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12³ halo tile (6.9 KB); 256-bin histogram (1 KB)</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Constant memory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64 KB, broadcast</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fast if all threads read same address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cos/sin tables (FBP), 125 filter weights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Read-only cache</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via __ldg()</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cached global reads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sinogram reads in back-projection</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Global memory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 GB</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 400–600 cycles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volumes, sinograms, network weights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PCIe link</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host ↔ device</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11.8 GB/s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upload scans, download results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5" name="Text 42"/>
          <p:cNvSpPr txBox="1"/>
          <p:nvPr/>
        </p:nvSpPr>
        <p:spPr>
          <a:xfrm>
            <a:off x="5943600" y="5303520"/>
            <a:ext cx="5669280" cy="73152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Rule: load from global memory once, reuse from registers/shared memory many times, and cross PCIe as rarely as possible.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3  ·  ALGORITHMS &amp; SYSTEM ARCHITECTURE</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Gaussian filtering: the maths of 3D denoising</a:t>
            </a:r>
            <a:endParaRPr lang="en-US" sz="3400" dirty="0"/>
          </a:p>
        </p:txBody>
      </p:sp>
      <p:sp>
        <p:nvSpPr>
          <p:cNvPr id="4" name="Text 2"/>
          <p:cNvSpPr txBox="1"/>
          <p:nvPr/>
        </p:nvSpPr>
        <p:spPr>
          <a:xfrm>
            <a:off x="548640" y="132588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Definition</a:t>
            </a:r>
            <a:endParaRPr lang="en-US" sz="1500" dirty="0"/>
          </a:p>
        </p:txBody>
      </p:sp>
      <p:sp>
        <p:nvSpPr>
          <p:cNvPr id="5" name="Text 3"/>
          <p:cNvSpPr txBox="1"/>
          <p:nvPr/>
        </p:nvSpPr>
        <p:spPr>
          <a:xfrm>
            <a:off x="548640" y="1691640"/>
            <a:ext cx="6035040" cy="3291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Weight of a neighbour at offset (i, j, k): w(i,j,k) = exp(−(i² + j² + k²) / 2σ²) / Σ exp(...)</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Output voxel: out(x,y,z) = Σᵢ Σⱼ Σₖ w(i,j,k) · in(x+i, y+j, z+k), with i, j, k ∈ {−2, …, 2}</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Our settings: σ = 1 voxel, radius 2 → 5 × 5 × 5 = 125 weights, weights sum to 1 (brightness preserved)</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Borders: clamp-to-edge (repeat the edge voxel), same as SciPy mode='nearest'</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Work: 125 multiply-adds per voxel → 2.1 billion for a 256³ volume</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Could be separable (3 passes × 5 taps = 15 ops), but we use the direct 125-tap form to study memory reuse</a:t>
            </a:r>
            <a:endParaRPr lang="en-US" sz="1300" dirty="0"/>
          </a:p>
        </p:txBody>
      </p:sp>
      <p:sp>
        <p:nvSpPr>
          <p:cNvPr id="6" name="Text 4"/>
          <p:cNvSpPr txBox="1"/>
          <p:nvPr/>
        </p:nvSpPr>
        <p:spPr>
          <a:xfrm>
            <a:off x="6858000" y="1325880"/>
            <a:ext cx="47548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Centre slice (k = 0) of the kernel, × 10⁻³</a:t>
            </a:r>
            <a:endParaRPr lang="en-US" sz="1500" dirty="0"/>
          </a:p>
        </p:txBody>
      </p:sp>
      <p:graphicFrame>
        <p:nvGraphicFramePr>
          <p:cNvPr id="13" name="kernel-table"/>
          <p:cNvGraphicFramePr>
            <a:graphicFrameLocks noGrp="1"/>
          </p:cNvGraphicFramePr>
          <p:nvPr>
            <p:extLst>
              <p:ext uri="{D42A27DB-BD31-4B8C-83A1-F6EECF244321}">
                <p14:modId xmlns:p14="http://schemas.microsoft.com/office/powerpoint/2010/main" val="1579011935"/>
              </p:ext>
            </p:extLst>
          </p:nvPr>
        </p:nvGraphicFramePr>
        <p:xfrm>
          <a:off x="6858000" y="1691640"/>
          <a:ext cx="4754880" cy="914400"/>
        </p:xfrm>
        <a:graphic>
          <a:graphicData uri="http://schemas.openxmlformats.org/drawingml/2006/table">
            <a:tbl>
              <a:tblPr/>
              <a:tblGrid>
                <a:gridCol w="640080"/>
                <a:gridCol w="822960"/>
                <a:gridCol w="822960"/>
                <a:gridCol w="822960"/>
                <a:gridCol w="822960"/>
                <a:gridCol w="822960"/>
              </a:tblGrid>
              <a:tr h="365760">
                <a:tc>
                  <a:txBody>
                    <a:bodyPr/>
                    <a:lstStyle/>
                    <a:p>
                      <a:pPr indent="0" marL="0">
                        <a:buNone/>
                      </a:pP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j=-1</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j=1</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6576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i=-2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i=-1</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i=0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65.3</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i=1</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i=2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858000" y="3977640"/>
            <a:ext cx="4754880" cy="274320"/>
          </a:xfrm>
          <a:prstGeom prst="rect">
            <a:avLst/>
          </a:prstGeom>
          <a:noFill/>
          <a:ln/>
        </p:spPr>
        <p:txBody>
          <a:bodyPr wrap="square" lIns="0" tIns="0" rIns="0" bIns="0" rtlCol="0" anchor="t"/>
          <a:lstStyle/>
          <a:p>
            <a:pPr indent="0" marL="0">
              <a:buNone/>
            </a:pPr>
            <a:r>
              <a:rPr lang="en-US" sz="1200" dirty="0">
                <a:solidFill>
                  <a:srgbClr val="595959"/>
                </a:solidFill>
                <a:latin typeface="Calibri" pitchFamily="34" charset="0"/>
                <a:ea typeface="Calibri" pitchFamily="34" charset="-122"/>
                <a:cs typeface="Calibri" pitchFamily="34" charset="-120"/>
              </a:rPr>
              <a:t>Centre weight 65.3 × 10⁻³; corner weight 0.16 × 10⁻³</a:t>
            </a:r>
            <a:endParaRPr lang="en-US" sz="1200" dirty="0"/>
          </a:p>
        </p:txBody>
      </p:sp>
      <p:pic>
        <p:nvPicPr>
          <p:cNvPr id="9" name="denoise-figure" descr="clean, noisy, denoised">    </p:cNvPr>
          <p:cNvPicPr>
            <a:picLocks noChangeAspect="1"/>
          </p:cNvPicPr>
          <p:nvPr/>
        </p:nvPicPr>
        <p:blipFill>
          <a:blip r:embed="rId1"/>
          <a:stretch>
            <a:fillRect/>
          </a:stretch>
        </p:blipFill>
        <p:spPr>
          <a:xfrm>
            <a:off x="548640" y="4572000"/>
            <a:ext cx="4536831" cy="1600200"/>
          </a:xfrm>
          <a:prstGeom prst="rect">
            <a:avLst/>
          </a:prstGeom>
        </p:spPr>
      </p:pic>
      <p:sp>
        <p:nvSpPr>
          <p:cNvPr id="10" name="psnr-card"/>
          <p:cNvSpPr/>
          <p:nvPr/>
        </p:nvSpPr>
        <p:spPr>
          <a:xfrm>
            <a:off x="8183880" y="4434840"/>
            <a:ext cx="3429000" cy="1691640"/>
          </a:xfrm>
          <a:prstGeom prst="roundRect">
            <a:avLst>
              <a:gd name="adj" fmla="val 4324"/>
            </a:avLst>
          </a:prstGeom>
          <a:solidFill>
            <a:schemeClr val="bg2"/>
          </a:solidFill>
          <a:ln w="9525">
            <a:solidFill>
              <a:srgbClr val="D9D9D9"/>
            </a:solidFill>
            <a:prstDash val="solid"/>
          </a:ln>
        </p:spPr>
      </p:sp>
      <p:sp>
        <p:nvSpPr>
          <p:cNvPr id="11" name="Text 7"/>
          <p:cNvSpPr txBox="1"/>
          <p:nvPr/>
        </p:nvSpPr>
        <p:spPr>
          <a:xfrm>
            <a:off x="8412480" y="4480560"/>
            <a:ext cx="3017520" cy="685800"/>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+3.3 dB</a:t>
            </a:r>
            <a:endParaRPr lang="en-US" sz="3400" dirty="0"/>
          </a:p>
        </p:txBody>
      </p:sp>
      <p:sp>
        <p:nvSpPr>
          <p:cNvPr id="12" name="Text 8"/>
          <p:cNvSpPr txBox="1"/>
          <p:nvPr/>
        </p:nvSpPr>
        <p:spPr>
          <a:xfrm>
            <a:off x="8412480" y="5212080"/>
            <a:ext cx="301752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PSNR on 256³: 21.9 → 25.3 dB</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3  ·  ALGORITHMS &amp; SYSTEM ARCHITECTURE</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Naive vs shared-memory tiled Gaussian kernel</a:t>
            </a:r>
            <a:endParaRPr lang="en-US" sz="3400" dirty="0"/>
          </a:p>
        </p:txBody>
      </p:sp>
      <p:sp>
        <p:nvSpPr>
          <p:cNvPr id="4" name="kpanel-0"/>
          <p:cNvSpPr/>
          <p:nvPr/>
        </p:nvSpPr>
        <p:spPr>
          <a:xfrm>
            <a:off x="548640" y="1325880"/>
            <a:ext cx="5669280" cy="1325880"/>
          </a:xfrm>
          <a:prstGeom prst="roundRect">
            <a:avLst>
              <a:gd name="adj" fmla="val 5517"/>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Text 3"/>
          <p:cNvSpPr txBox="1"/>
          <p:nvPr/>
        </p:nvSpPr>
        <p:spPr>
          <a:xfrm>
            <a:off x="731520" y="1417320"/>
            <a:ext cx="53035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Naive kernel</a:t>
            </a:r>
            <a:endParaRPr lang="en-US" sz="1500" dirty="0"/>
          </a:p>
        </p:txBody>
      </p:sp>
      <p:sp>
        <p:nvSpPr>
          <p:cNvPr id="6" name="Text 4"/>
          <p:cNvSpPr txBox="1"/>
          <p:nvPr/>
        </p:nvSpPr>
        <p:spPr>
          <a:xfrm>
            <a:off x="731520" y="1709928"/>
            <a:ext cx="530352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Each thread reads its 125 neighbours straight from global memory. Neighbouring threads read mostly the same voxels again and again.</a:t>
            </a:r>
            <a:endParaRPr lang="en-US" sz="1200" dirty="0"/>
          </a:p>
        </p:txBody>
      </p:sp>
      <p:sp>
        <p:nvSpPr>
          <p:cNvPr id="7" name="Text 5"/>
          <p:cNvSpPr txBox="1"/>
          <p:nvPr/>
        </p:nvSpPr>
        <p:spPr>
          <a:xfrm>
            <a:off x="731520" y="2286000"/>
            <a:ext cx="530352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125 global reads / voxel  ·  4.2 ms</a:t>
            </a:r>
            <a:endParaRPr lang="en-US" sz="1300" dirty="0"/>
          </a:p>
        </p:txBody>
      </p:sp>
      <p:sp>
        <p:nvSpPr>
          <p:cNvPr id="8" name="kpanel-1"/>
          <p:cNvSpPr/>
          <p:nvPr/>
        </p:nvSpPr>
        <p:spPr>
          <a:xfrm>
            <a:off x="548640" y="2788920"/>
            <a:ext cx="5669280" cy="1325880"/>
          </a:xfrm>
          <a:prstGeom prst="roundRect">
            <a:avLst>
              <a:gd name="adj" fmla="val 5517"/>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9" name="Text 7"/>
          <p:cNvSpPr txBox="1"/>
          <p:nvPr/>
        </p:nvSpPr>
        <p:spPr>
          <a:xfrm>
            <a:off x="731520" y="2880360"/>
            <a:ext cx="53035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Tiled kernel</a:t>
            </a:r>
            <a:endParaRPr lang="en-US" sz="1500" dirty="0"/>
          </a:p>
        </p:txBody>
      </p:sp>
      <p:sp>
        <p:nvSpPr>
          <p:cNvPr id="10" name="Text 8"/>
          <p:cNvSpPr txBox="1"/>
          <p:nvPr/>
        </p:nvSpPr>
        <p:spPr>
          <a:xfrm>
            <a:off x="731520" y="3172968"/>
            <a:ext cx="530352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block of 8×8×8 = 512 threads first copies a 12×12×12 tile (8 + 2×2 halo) into shared memory, waits at __syncthreads(), then reads all neighbours from the tile.</a:t>
            </a:r>
            <a:endParaRPr lang="en-US" sz="1200" dirty="0"/>
          </a:p>
        </p:txBody>
      </p:sp>
      <p:sp>
        <p:nvSpPr>
          <p:cNvPr id="11" name="Text 9"/>
          <p:cNvSpPr txBox="1"/>
          <p:nvPr/>
        </p:nvSpPr>
        <p:spPr>
          <a:xfrm>
            <a:off x="731520" y="3749040"/>
            <a:ext cx="530352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1728 / 512 = 3.4 global reads / voxel  ·  2.4 ms</a:t>
            </a:r>
            <a:endParaRPr lang="en-US" sz="1300" dirty="0"/>
          </a:p>
        </p:txBody>
      </p:sp>
      <p:sp>
        <p:nvSpPr>
          <p:cNvPr id="12" name="Text 10"/>
          <p:cNvSpPr txBox="1"/>
          <p:nvPr/>
        </p:nvSpPr>
        <p:spPr>
          <a:xfrm>
            <a:off x="548640" y="434340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Why tiling wins</a:t>
            </a:r>
            <a:endParaRPr lang="en-US" sz="1500" dirty="0"/>
          </a:p>
        </p:txBody>
      </p:sp>
      <p:sp>
        <p:nvSpPr>
          <p:cNvPr id="13" name="Text 11"/>
          <p:cNvSpPr txBox="1"/>
          <p:nvPr/>
        </p:nvSpPr>
        <p:spPr>
          <a:xfrm>
            <a:off x="548640" y="4709160"/>
            <a:ext cx="5669280" cy="14173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37× fewer global memory reads per voxel</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Shared memory is on-chip: ~20–30 cycles vs ~400–600</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Filter weights in __constant__ memory: all threads read the same weight at once (broadcast)</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Result: 1.75× faster than naive, 7.0 billion voxels/s</a:t>
            </a:r>
            <a:endParaRPr lang="en-US" sz="1300" dirty="0"/>
          </a:p>
        </p:txBody>
      </p:sp>
      <p:sp>
        <p:nvSpPr>
          <p:cNvPr id="14" name="code-bg"/>
          <p:cNvSpPr/>
          <p:nvPr/>
        </p:nvSpPr>
        <p:spPr>
          <a:xfrm>
            <a:off x="6492240" y="1325880"/>
            <a:ext cx="5120640" cy="4800600"/>
          </a:xfrm>
          <a:prstGeom prst="roundRect">
            <a:avLst>
              <a:gd name="adj" fmla="val 1143"/>
            </a:avLst>
          </a:prstGeom>
          <a:solidFill>
            <a:srgbClr val="1A1A1A"/>
          </a:solidFill>
          <a:ln/>
        </p:spPr>
      </p:sp>
      <p:sp>
        <p:nvSpPr>
          <p:cNvPr id="15" name="Text 13"/>
          <p:cNvSpPr txBox="1"/>
          <p:nvPr/>
        </p:nvSpPr>
        <p:spPr>
          <a:xfrm>
            <a:off x="6675120" y="1463040"/>
            <a:ext cx="4754880" cy="4526280"/>
          </a:xfrm>
          <a:prstGeom prst="rect">
            <a:avLst/>
          </a:prstGeom>
          <a:noFill/>
          <a:ln/>
        </p:spPr>
        <p:txBody>
          <a:bodyPr wrap="square" lIns="0" tIns="0" rIns="0" bIns="0" rtlCol="0" anchor="t"/>
          <a:lstStyle/>
          <a:p>
            <a:pPr indent="0" marL="0">
              <a:buNone/>
            </a:pPr>
            <a:r>
              <a:rPr lang="en-US" sz="1050" dirty="0">
                <a:solidFill>
                  <a:srgbClr val="F2F2F2"/>
                </a:solidFill>
                <a:latin typeface="Courier New" pitchFamily="34" charset="0"/>
                <a:ea typeface="Courier New" pitchFamily="34" charset="-122"/>
                <a:cs typeface="Courier New" pitchFamily="34" charset="-120"/>
              </a:rPr>
              <a:t>__global__ void conv_tiled(const float* in, float* out,</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int D, int H, int W) {</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__shared__ float tile[12][12][12];      // 6.9 KB</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int tid = (tz*8 + ty)*8 + tx;            // 0..511</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 1) cooperative load: 512 threads copy 1728 values</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for (int i = tid; i &lt; 12*12*12; i += 512) {</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int lz = i/144, ly = (i/12)%12, lx = i%12;</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tile[lz][ly][lx] = in[clamp(z0+lz)][clamp(y0+ly)]</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[clamp(x0+lx)];</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__syncthreads();                       // tile complete</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 2) compute from shared memory only</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float acc = 0.f;</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#pragma unroll</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for (dz..5) for (dy..5) for (dx..5)</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acc += c_w[dz][dy][dx] *</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tile[tz+dz][ty+dy][tx+dx];</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out[(z*H + y)*W + x] = acc;</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3  ·  ALGORITHMS &amp; SYSTEM ARCHITECTURE</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Threshold segmentation with Otsu's method on the GPU</a:t>
            </a:r>
            <a:endParaRPr lang="en-US" sz="3400" dirty="0"/>
          </a:p>
        </p:txBody>
      </p:sp>
      <p:pic>
        <p:nvPicPr>
          <p:cNvPr id="4" name="threshold-figure" descr="CT, histogram with Otsu thresholds, labels">    </p:cNvPr>
          <p:cNvPicPr>
            <a:picLocks noChangeAspect="1"/>
          </p:cNvPicPr>
          <p:nvPr/>
        </p:nvPicPr>
        <p:blipFill>
          <a:blip r:embed="rId1"/>
          <a:stretch>
            <a:fillRect/>
          </a:stretch>
        </p:blipFill>
        <p:spPr>
          <a:xfrm>
            <a:off x="2563576" y="1280160"/>
            <a:ext cx="7034367" cy="2103120"/>
          </a:xfrm>
          <a:prstGeom prst="rect">
            <a:avLst/>
          </a:prstGeom>
        </p:spPr>
      </p:pic>
      <p:sp>
        <p:nvSpPr>
          <p:cNvPr id="5" name="Text 2"/>
          <p:cNvSpPr txBox="1"/>
          <p:nvPr/>
        </p:nvSpPr>
        <p:spPr>
          <a:xfrm>
            <a:off x="548640" y="3520440"/>
            <a:ext cx="36576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Algorithm</a:t>
            </a:r>
            <a:endParaRPr lang="en-US" sz="1500" dirty="0"/>
          </a:p>
        </p:txBody>
      </p:sp>
      <p:sp>
        <p:nvSpPr>
          <p:cNvPr id="6" name="Text 3"/>
          <p:cNvSpPr txBox="1"/>
          <p:nvPr/>
        </p:nvSpPr>
        <p:spPr>
          <a:xfrm>
            <a:off x="548640" y="3886200"/>
            <a:ext cx="4023360" cy="2240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Build a 256-bin intensity histogram</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Otsu: choose t maximising between-class variance σ²_B(t) = ω₀(t)·ω₁(t)·(μ₀(t) − μ₁(t))²</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Run Otsu twice on the same histogram: t1 = 0.24 (air | tissue), t2 = 0.59 (tissue | bone)</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Label every voxel: 0 air, 1 soft tissue, 2 bone</a:t>
            </a:r>
            <a:endParaRPr lang="en-US" sz="1250" dirty="0"/>
          </a:p>
        </p:txBody>
      </p:sp>
      <p:sp>
        <p:nvSpPr>
          <p:cNvPr id="7" name="Text 4"/>
          <p:cNvSpPr txBox="1"/>
          <p:nvPr/>
        </p:nvSpPr>
        <p:spPr>
          <a:xfrm>
            <a:off x="4800600" y="3520440"/>
            <a:ext cx="32918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GPU histogram: atomics problem</a:t>
            </a:r>
            <a:endParaRPr lang="en-US" sz="1500" dirty="0"/>
          </a:p>
        </p:txBody>
      </p:sp>
      <p:sp>
        <p:nvSpPr>
          <p:cNvPr id="8" name="Text 5"/>
          <p:cNvSpPr txBox="1"/>
          <p:nvPr/>
        </p:nvSpPr>
        <p:spPr>
          <a:xfrm>
            <a:off x="4800600" y="3886200"/>
            <a:ext cx="3383280" cy="2240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Millions of threads add to only 256 bins → collisions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Global atomics: 13 ms on 59 M voxels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Fix: each block counts in its own shared-memory histogram, then adds 256 totals: 0.75 ms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17.3× faster; result identical</a:t>
            </a:r>
            <a:endParaRPr lang="en-US" sz="1250" dirty="0"/>
          </a:p>
        </p:txBody>
      </p:sp>
      <p:sp>
        <p:nvSpPr>
          <p:cNvPr id="9" name="thr-stats"/>
          <p:cNvSpPr/>
          <p:nvPr/>
        </p:nvSpPr>
        <p:spPr>
          <a:xfrm>
            <a:off x="8412480" y="3520440"/>
            <a:ext cx="3200400" cy="2606040"/>
          </a:xfrm>
          <a:prstGeom prst="roundRect">
            <a:avLst>
              <a:gd name="adj" fmla="val 2807"/>
            </a:avLst>
          </a:prstGeom>
          <a:solidFill>
            <a:schemeClr val="bg2"/>
          </a:solidFill>
          <a:ln w="9525">
            <a:solidFill>
              <a:srgbClr val="D9D9D9"/>
            </a:solidFill>
            <a:prstDash val="solid"/>
          </a:ln>
        </p:spPr>
      </p:sp>
      <p:sp>
        <p:nvSpPr>
          <p:cNvPr id="10" name="Text 7"/>
          <p:cNvSpPr txBox="1"/>
          <p:nvPr/>
        </p:nvSpPr>
        <p:spPr>
          <a:xfrm>
            <a:off x="8595360" y="3566160"/>
            <a:ext cx="2834640" cy="685800"/>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289×</a:t>
            </a:r>
            <a:endParaRPr lang="en-US" sz="3400" dirty="0"/>
          </a:p>
        </p:txBody>
      </p:sp>
      <p:sp>
        <p:nvSpPr>
          <p:cNvPr id="11" name="Text 8"/>
          <p:cNvSpPr txBox="1"/>
          <p:nvPr/>
        </p:nvSpPr>
        <p:spPr>
          <a:xfrm>
            <a:off x="8595360" y="4297680"/>
            <a:ext cx="283464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GPU vs CPU, 59 M voxels (23× incl. transfers)</a:t>
            </a:r>
            <a:endParaRPr lang="en-US" sz="1300" dirty="0"/>
          </a:p>
        </p:txBody>
      </p:sp>
      <p:sp>
        <p:nvSpPr>
          <p:cNvPr id="12" name="Text 9"/>
          <p:cNvSpPr txBox="1"/>
          <p:nvPr/>
        </p:nvSpPr>
        <p:spPr>
          <a:xfrm>
            <a:off x="8595360" y="4846320"/>
            <a:ext cx="2834640" cy="685800"/>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0</a:t>
            </a:r>
            <a:endParaRPr lang="en-US" sz="3400" dirty="0"/>
          </a:p>
        </p:txBody>
      </p:sp>
      <p:sp>
        <p:nvSpPr>
          <p:cNvPr id="13" name="Text 10"/>
          <p:cNvSpPr txBox="1"/>
          <p:nvPr/>
        </p:nvSpPr>
        <p:spPr>
          <a:xfrm>
            <a:off x="8595360" y="5577840"/>
            <a:ext cx="283464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voxels differ between CPU and GPU labels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3  ·  ALGORITHMS &amp; SYSTEM ARCHITECTURE</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Deep-learning segmentation: the U-Net</a:t>
            </a:r>
            <a:endParaRPr lang="en-US" sz="3400" dirty="0"/>
          </a:p>
        </p:txBody>
      </p:sp>
      <p:sp>
        <p:nvSpPr>
          <p:cNvPr id="4" name="unet-panel"/>
          <p:cNvSpPr/>
          <p:nvPr/>
        </p:nvSpPr>
        <p:spPr>
          <a:xfrm>
            <a:off x="548640" y="1325880"/>
            <a:ext cx="5669280" cy="3657600"/>
          </a:xfrm>
          <a:prstGeom prst="roundRect">
            <a:avLst>
              <a:gd name="adj" fmla="val 2000"/>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Text 3"/>
          <p:cNvSpPr txBox="1"/>
          <p:nvPr/>
        </p:nvSpPr>
        <p:spPr>
          <a:xfrm>
            <a:off x="777240" y="1417320"/>
            <a:ext cx="530352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U-Net · 7.8 M parameters · input 1 × 128 × 128</a:t>
            </a:r>
            <a:endParaRPr lang="en-US" sz="1300" dirty="0"/>
          </a:p>
        </p:txBody>
      </p:sp>
      <p:sp>
        <p:nvSpPr>
          <p:cNvPr id="6" name="enc-0"/>
          <p:cNvSpPr/>
          <p:nvPr/>
        </p:nvSpPr>
        <p:spPr>
          <a:xfrm>
            <a:off x="868680" y="2011680"/>
            <a:ext cx="384048" cy="1828800"/>
          </a:xfrm>
          <a:prstGeom prst="rect">
            <a:avLst/>
          </a:prstGeom>
          <a:solidFill>
            <a:srgbClr val="000000"/>
          </a:solidFill>
          <a:ln/>
        </p:spPr>
      </p:sp>
      <p:sp>
        <p:nvSpPr>
          <p:cNvPr id="7" name="Text 5"/>
          <p:cNvSpPr txBox="1"/>
          <p:nvPr/>
        </p:nvSpPr>
        <p:spPr>
          <a:xfrm>
            <a:off x="777240" y="1755648"/>
            <a:ext cx="566928" cy="228600"/>
          </a:xfrm>
          <a:prstGeom prst="rect">
            <a:avLst/>
          </a:prstGeom>
          <a:noFill/>
          <a:ln/>
        </p:spPr>
        <p:txBody>
          <a:bodyPr wrap="square" lIns="0" tIns="0" rIns="0" bIns="0" rtlCol="0" anchor="t"/>
          <a:lstStyle/>
          <a:p>
            <a:pPr algn="ctr" indent="0" marL="0">
              <a:buNone/>
            </a:pPr>
            <a:r>
              <a:rPr lang="en-US" sz="1000" dirty="0">
                <a:solidFill>
                  <a:srgbClr val="595959"/>
                </a:solidFill>
                <a:latin typeface="Calibri" pitchFamily="34" charset="0"/>
                <a:ea typeface="Calibri" pitchFamily="34" charset="-122"/>
                <a:cs typeface="Calibri" pitchFamily="34" charset="-120"/>
              </a:rPr>
              <a:t>32</a:t>
            </a:r>
            <a:endParaRPr lang="en-US" sz="1000" dirty="0"/>
          </a:p>
        </p:txBody>
      </p:sp>
      <p:sp>
        <p:nvSpPr>
          <p:cNvPr id="8" name="dec-0"/>
          <p:cNvSpPr/>
          <p:nvPr/>
        </p:nvSpPr>
        <p:spPr>
          <a:xfrm>
            <a:off x="5303520" y="2011680"/>
            <a:ext cx="384048" cy="1828800"/>
          </a:xfrm>
          <a:prstGeom prst="rect">
            <a:avLst/>
          </a:prstGeom>
          <a:solidFill>
            <a:srgbClr val="7F7F7F"/>
          </a:solidFill>
          <a:ln/>
        </p:spPr>
      </p:sp>
      <p:sp>
        <p:nvSpPr>
          <p:cNvPr id="9" name="Text 7"/>
          <p:cNvSpPr txBox="1"/>
          <p:nvPr/>
        </p:nvSpPr>
        <p:spPr>
          <a:xfrm>
            <a:off x="5212080" y="1755648"/>
            <a:ext cx="566928" cy="228600"/>
          </a:xfrm>
          <a:prstGeom prst="rect">
            <a:avLst/>
          </a:prstGeom>
          <a:noFill/>
          <a:ln/>
        </p:spPr>
        <p:txBody>
          <a:bodyPr wrap="square" lIns="0" tIns="0" rIns="0" bIns="0" rtlCol="0" anchor="t"/>
          <a:lstStyle/>
          <a:p>
            <a:pPr algn="ctr" indent="0" marL="0">
              <a:buNone/>
            </a:pPr>
            <a:r>
              <a:rPr lang="en-US" sz="1000" dirty="0">
                <a:solidFill>
                  <a:srgbClr val="595959"/>
                </a:solidFill>
                <a:latin typeface="Calibri" pitchFamily="34" charset="0"/>
                <a:ea typeface="Calibri" pitchFamily="34" charset="-122"/>
                <a:cs typeface="Calibri" pitchFamily="34" charset="-120"/>
              </a:rPr>
              <a:t>32</a:t>
            </a:r>
            <a:endParaRPr lang="en-US" sz="1000" dirty="0"/>
          </a:p>
        </p:txBody>
      </p:sp>
      <p:sp>
        <p:nvSpPr>
          <p:cNvPr id="10" name="skip-0"/>
          <p:cNvSpPr/>
          <p:nvPr/>
        </p:nvSpPr>
        <p:spPr>
          <a:xfrm>
            <a:off x="1280160" y="2194560"/>
            <a:ext cx="3977640" cy="0"/>
          </a:xfrm>
          <a:prstGeom prst="line">
            <a:avLst/>
          </a:prstGeom>
          <a:noFill/>
          <a:ln w="12700">
            <a:solidFill>
              <a:srgbClr val="7F7F7F"/>
            </a:solidFill>
            <a:prstDash val="dash"/>
            <a:tailEnd type="triangle"/>
          </a:ln>
        </p:spPr>
      </p:sp>
      <p:sp>
        <p:nvSpPr>
          <p:cNvPr id="11" name="enc-1"/>
          <p:cNvSpPr/>
          <p:nvPr/>
        </p:nvSpPr>
        <p:spPr>
          <a:xfrm>
            <a:off x="1435608" y="2514600"/>
            <a:ext cx="384048" cy="1444752"/>
          </a:xfrm>
          <a:prstGeom prst="rect">
            <a:avLst/>
          </a:prstGeom>
          <a:solidFill>
            <a:srgbClr val="000000"/>
          </a:solidFill>
          <a:ln/>
        </p:spPr>
      </p:sp>
      <p:sp>
        <p:nvSpPr>
          <p:cNvPr id="12" name="Text 10"/>
          <p:cNvSpPr txBox="1"/>
          <p:nvPr/>
        </p:nvSpPr>
        <p:spPr>
          <a:xfrm>
            <a:off x="1344168" y="2258568"/>
            <a:ext cx="566928" cy="228600"/>
          </a:xfrm>
          <a:prstGeom prst="rect">
            <a:avLst/>
          </a:prstGeom>
          <a:noFill/>
          <a:ln/>
        </p:spPr>
        <p:txBody>
          <a:bodyPr wrap="square" lIns="0" tIns="0" rIns="0" bIns="0" rtlCol="0" anchor="t"/>
          <a:lstStyle/>
          <a:p>
            <a:pPr algn="ctr" indent="0" marL="0">
              <a:buNone/>
            </a:pPr>
            <a:r>
              <a:rPr lang="en-US" sz="1000" dirty="0">
                <a:solidFill>
                  <a:srgbClr val="595959"/>
                </a:solidFill>
                <a:latin typeface="Calibri" pitchFamily="34" charset="0"/>
                <a:ea typeface="Calibri" pitchFamily="34" charset="-122"/>
                <a:cs typeface="Calibri" pitchFamily="34" charset="-120"/>
              </a:rPr>
              <a:t>64</a:t>
            </a:r>
            <a:endParaRPr lang="en-US" sz="1000" dirty="0"/>
          </a:p>
        </p:txBody>
      </p:sp>
      <p:sp>
        <p:nvSpPr>
          <p:cNvPr id="13" name="dec-1"/>
          <p:cNvSpPr/>
          <p:nvPr/>
        </p:nvSpPr>
        <p:spPr>
          <a:xfrm>
            <a:off x="4736592" y="2514600"/>
            <a:ext cx="384048" cy="1444752"/>
          </a:xfrm>
          <a:prstGeom prst="rect">
            <a:avLst/>
          </a:prstGeom>
          <a:solidFill>
            <a:srgbClr val="7F7F7F"/>
          </a:solidFill>
          <a:ln/>
        </p:spPr>
      </p:sp>
      <p:sp>
        <p:nvSpPr>
          <p:cNvPr id="14" name="Text 12"/>
          <p:cNvSpPr txBox="1"/>
          <p:nvPr/>
        </p:nvSpPr>
        <p:spPr>
          <a:xfrm>
            <a:off x="4645152" y="2258568"/>
            <a:ext cx="566928" cy="228600"/>
          </a:xfrm>
          <a:prstGeom prst="rect">
            <a:avLst/>
          </a:prstGeom>
          <a:noFill/>
          <a:ln/>
        </p:spPr>
        <p:txBody>
          <a:bodyPr wrap="square" lIns="0" tIns="0" rIns="0" bIns="0" rtlCol="0" anchor="t"/>
          <a:lstStyle/>
          <a:p>
            <a:pPr algn="ctr" indent="0" marL="0">
              <a:buNone/>
            </a:pPr>
            <a:r>
              <a:rPr lang="en-US" sz="1000" dirty="0">
                <a:solidFill>
                  <a:srgbClr val="595959"/>
                </a:solidFill>
                <a:latin typeface="Calibri" pitchFamily="34" charset="0"/>
                <a:ea typeface="Calibri" pitchFamily="34" charset="-122"/>
                <a:cs typeface="Calibri" pitchFamily="34" charset="-120"/>
              </a:rPr>
              <a:t>64</a:t>
            </a:r>
            <a:endParaRPr lang="en-US" sz="1000" dirty="0"/>
          </a:p>
        </p:txBody>
      </p:sp>
      <p:sp>
        <p:nvSpPr>
          <p:cNvPr id="15" name="skip-1"/>
          <p:cNvSpPr/>
          <p:nvPr/>
        </p:nvSpPr>
        <p:spPr>
          <a:xfrm>
            <a:off x="1847088" y="2697480"/>
            <a:ext cx="2843784" cy="0"/>
          </a:xfrm>
          <a:prstGeom prst="line">
            <a:avLst/>
          </a:prstGeom>
          <a:noFill/>
          <a:ln w="12700">
            <a:solidFill>
              <a:srgbClr val="7F7F7F"/>
            </a:solidFill>
            <a:prstDash val="dash"/>
            <a:tailEnd type="triangle"/>
          </a:ln>
        </p:spPr>
      </p:sp>
      <p:sp>
        <p:nvSpPr>
          <p:cNvPr id="16" name="enc-2"/>
          <p:cNvSpPr/>
          <p:nvPr/>
        </p:nvSpPr>
        <p:spPr>
          <a:xfrm>
            <a:off x="2002536" y="3017520"/>
            <a:ext cx="384048" cy="1060704"/>
          </a:xfrm>
          <a:prstGeom prst="rect">
            <a:avLst/>
          </a:prstGeom>
          <a:solidFill>
            <a:srgbClr val="000000"/>
          </a:solidFill>
          <a:ln/>
        </p:spPr>
      </p:sp>
      <p:sp>
        <p:nvSpPr>
          <p:cNvPr id="17" name="Text 15"/>
          <p:cNvSpPr txBox="1"/>
          <p:nvPr/>
        </p:nvSpPr>
        <p:spPr>
          <a:xfrm>
            <a:off x="1911096" y="2761488"/>
            <a:ext cx="566928" cy="228600"/>
          </a:xfrm>
          <a:prstGeom prst="rect">
            <a:avLst/>
          </a:prstGeom>
          <a:noFill/>
          <a:ln/>
        </p:spPr>
        <p:txBody>
          <a:bodyPr wrap="square" lIns="0" tIns="0" rIns="0" bIns="0" rtlCol="0" anchor="t"/>
          <a:lstStyle/>
          <a:p>
            <a:pPr algn="ctr" indent="0" marL="0">
              <a:buNone/>
            </a:pPr>
            <a:r>
              <a:rPr lang="en-US" sz="1000" dirty="0">
                <a:solidFill>
                  <a:srgbClr val="595959"/>
                </a:solidFill>
                <a:latin typeface="Calibri" pitchFamily="34" charset="0"/>
                <a:ea typeface="Calibri" pitchFamily="34" charset="-122"/>
                <a:cs typeface="Calibri" pitchFamily="34" charset="-120"/>
              </a:rPr>
              <a:t>128</a:t>
            </a:r>
            <a:endParaRPr lang="en-US" sz="1000" dirty="0"/>
          </a:p>
        </p:txBody>
      </p:sp>
      <p:sp>
        <p:nvSpPr>
          <p:cNvPr id="18" name="dec-2"/>
          <p:cNvSpPr/>
          <p:nvPr/>
        </p:nvSpPr>
        <p:spPr>
          <a:xfrm>
            <a:off x="4169664" y="3017520"/>
            <a:ext cx="384048" cy="1060704"/>
          </a:xfrm>
          <a:prstGeom prst="rect">
            <a:avLst/>
          </a:prstGeom>
          <a:solidFill>
            <a:srgbClr val="7F7F7F"/>
          </a:solidFill>
          <a:ln/>
        </p:spPr>
      </p:sp>
      <p:sp>
        <p:nvSpPr>
          <p:cNvPr id="19" name="Text 17"/>
          <p:cNvSpPr txBox="1"/>
          <p:nvPr/>
        </p:nvSpPr>
        <p:spPr>
          <a:xfrm>
            <a:off x="4078224" y="2761488"/>
            <a:ext cx="566928" cy="228600"/>
          </a:xfrm>
          <a:prstGeom prst="rect">
            <a:avLst/>
          </a:prstGeom>
          <a:noFill/>
          <a:ln/>
        </p:spPr>
        <p:txBody>
          <a:bodyPr wrap="square" lIns="0" tIns="0" rIns="0" bIns="0" rtlCol="0" anchor="t"/>
          <a:lstStyle/>
          <a:p>
            <a:pPr algn="ctr" indent="0" marL="0">
              <a:buNone/>
            </a:pPr>
            <a:r>
              <a:rPr lang="en-US" sz="1000" dirty="0">
                <a:solidFill>
                  <a:srgbClr val="595959"/>
                </a:solidFill>
                <a:latin typeface="Calibri" pitchFamily="34" charset="0"/>
                <a:ea typeface="Calibri" pitchFamily="34" charset="-122"/>
                <a:cs typeface="Calibri" pitchFamily="34" charset="-120"/>
              </a:rPr>
              <a:t>128</a:t>
            </a:r>
            <a:endParaRPr lang="en-US" sz="1000" dirty="0"/>
          </a:p>
        </p:txBody>
      </p:sp>
      <p:sp>
        <p:nvSpPr>
          <p:cNvPr id="20" name="skip-2"/>
          <p:cNvSpPr/>
          <p:nvPr/>
        </p:nvSpPr>
        <p:spPr>
          <a:xfrm>
            <a:off x="2414016" y="3200400"/>
            <a:ext cx="1709928" cy="0"/>
          </a:xfrm>
          <a:prstGeom prst="line">
            <a:avLst/>
          </a:prstGeom>
          <a:noFill/>
          <a:ln w="12700">
            <a:solidFill>
              <a:srgbClr val="7F7F7F"/>
            </a:solidFill>
            <a:prstDash val="dash"/>
            <a:tailEnd type="triangle"/>
          </a:ln>
        </p:spPr>
      </p:sp>
      <p:sp>
        <p:nvSpPr>
          <p:cNvPr id="21" name="enc-3"/>
          <p:cNvSpPr/>
          <p:nvPr/>
        </p:nvSpPr>
        <p:spPr>
          <a:xfrm>
            <a:off x="2569464" y="3520440"/>
            <a:ext cx="384048" cy="676656"/>
          </a:xfrm>
          <a:prstGeom prst="rect">
            <a:avLst/>
          </a:prstGeom>
          <a:solidFill>
            <a:srgbClr val="000000"/>
          </a:solidFill>
          <a:ln/>
        </p:spPr>
      </p:sp>
      <p:sp>
        <p:nvSpPr>
          <p:cNvPr id="22" name="Text 20"/>
          <p:cNvSpPr txBox="1"/>
          <p:nvPr/>
        </p:nvSpPr>
        <p:spPr>
          <a:xfrm>
            <a:off x="2478024" y="3264408"/>
            <a:ext cx="566928" cy="228600"/>
          </a:xfrm>
          <a:prstGeom prst="rect">
            <a:avLst/>
          </a:prstGeom>
          <a:noFill/>
          <a:ln/>
        </p:spPr>
        <p:txBody>
          <a:bodyPr wrap="square" lIns="0" tIns="0" rIns="0" bIns="0" rtlCol="0" anchor="t"/>
          <a:lstStyle/>
          <a:p>
            <a:pPr algn="ctr" indent="0" marL="0">
              <a:buNone/>
            </a:pPr>
            <a:r>
              <a:rPr lang="en-US" sz="1000" dirty="0">
                <a:solidFill>
                  <a:srgbClr val="595959"/>
                </a:solidFill>
                <a:latin typeface="Calibri" pitchFamily="34" charset="0"/>
                <a:ea typeface="Calibri" pitchFamily="34" charset="-122"/>
                <a:cs typeface="Calibri" pitchFamily="34" charset="-120"/>
              </a:rPr>
              <a:t>256</a:t>
            </a:r>
            <a:endParaRPr lang="en-US" sz="1000" dirty="0"/>
          </a:p>
        </p:txBody>
      </p:sp>
      <p:sp>
        <p:nvSpPr>
          <p:cNvPr id="23" name="dec-3"/>
          <p:cNvSpPr/>
          <p:nvPr/>
        </p:nvSpPr>
        <p:spPr>
          <a:xfrm>
            <a:off x="3602736" y="3520440"/>
            <a:ext cx="384048" cy="676656"/>
          </a:xfrm>
          <a:prstGeom prst="rect">
            <a:avLst/>
          </a:prstGeom>
          <a:solidFill>
            <a:srgbClr val="7F7F7F"/>
          </a:solidFill>
          <a:ln/>
        </p:spPr>
      </p:sp>
      <p:sp>
        <p:nvSpPr>
          <p:cNvPr id="24" name="Text 22"/>
          <p:cNvSpPr txBox="1"/>
          <p:nvPr/>
        </p:nvSpPr>
        <p:spPr>
          <a:xfrm>
            <a:off x="3511296" y="3264408"/>
            <a:ext cx="566928" cy="228600"/>
          </a:xfrm>
          <a:prstGeom prst="rect">
            <a:avLst/>
          </a:prstGeom>
          <a:noFill/>
          <a:ln/>
        </p:spPr>
        <p:txBody>
          <a:bodyPr wrap="square" lIns="0" tIns="0" rIns="0" bIns="0" rtlCol="0" anchor="t"/>
          <a:lstStyle/>
          <a:p>
            <a:pPr algn="ctr" indent="0" marL="0">
              <a:buNone/>
            </a:pPr>
            <a:r>
              <a:rPr lang="en-US" sz="1000" dirty="0">
                <a:solidFill>
                  <a:srgbClr val="595959"/>
                </a:solidFill>
                <a:latin typeface="Calibri" pitchFamily="34" charset="0"/>
                <a:ea typeface="Calibri" pitchFamily="34" charset="-122"/>
                <a:cs typeface="Calibri" pitchFamily="34" charset="-120"/>
              </a:rPr>
              <a:t>256</a:t>
            </a:r>
            <a:endParaRPr lang="en-US" sz="1000" dirty="0"/>
          </a:p>
        </p:txBody>
      </p:sp>
      <p:sp>
        <p:nvSpPr>
          <p:cNvPr id="25" name="skip-3"/>
          <p:cNvSpPr/>
          <p:nvPr/>
        </p:nvSpPr>
        <p:spPr>
          <a:xfrm>
            <a:off x="2980944" y="3703320"/>
            <a:ext cx="576072" cy="0"/>
          </a:xfrm>
          <a:prstGeom prst="line">
            <a:avLst/>
          </a:prstGeom>
          <a:noFill/>
          <a:ln w="12700">
            <a:solidFill>
              <a:srgbClr val="7F7F7F"/>
            </a:solidFill>
            <a:prstDash val="dash"/>
            <a:tailEnd type="triangle"/>
          </a:ln>
        </p:spPr>
      </p:sp>
      <p:sp>
        <p:nvSpPr>
          <p:cNvPr id="26" name="bottleneck"/>
          <p:cNvSpPr/>
          <p:nvPr/>
        </p:nvSpPr>
        <p:spPr>
          <a:xfrm>
            <a:off x="3017520" y="3977640"/>
            <a:ext cx="502920" cy="365760"/>
          </a:xfrm>
          <a:prstGeom prst="rect">
            <a:avLst/>
          </a:prstGeom>
          <a:solidFill>
            <a:srgbClr val="404040"/>
          </a:solidFill>
          <a:ln/>
        </p:spPr>
      </p:sp>
      <p:sp>
        <p:nvSpPr>
          <p:cNvPr id="27" name="Text 25"/>
          <p:cNvSpPr txBox="1"/>
          <p:nvPr/>
        </p:nvSpPr>
        <p:spPr>
          <a:xfrm>
            <a:off x="777240" y="4572000"/>
            <a:ext cx="5303520" cy="365760"/>
          </a:xfrm>
          <a:prstGeom prst="rect">
            <a:avLst/>
          </a:prstGeom>
          <a:noFill/>
          <a:ln/>
        </p:spPr>
        <p:txBody>
          <a:bodyPr wrap="square" lIns="0" tIns="0" rIns="0" bIns="0" rtlCol="0" anchor="t"/>
          <a:lstStyle/>
          <a:p>
            <a:pPr indent="0" marL="0">
              <a:buNone/>
            </a:pPr>
            <a:r>
              <a:rPr lang="en-US" sz="1050" dirty="0">
                <a:solidFill>
                  <a:srgbClr val="595959"/>
                </a:solidFill>
                <a:latin typeface="Calibri" pitchFamily="34" charset="0"/>
                <a:ea typeface="Calibri" pitchFamily="34" charset="-122"/>
                <a:cs typeface="Calibri" pitchFamily="34" charset="-120"/>
              </a:rPr>
              <a:t>black = encoder (2× conv3×3 + BN + ReLU, max-pool) · dark = 512-ch bottleneck · gray = decoder (up-conv + concat) · dashed = skip connections</a:t>
            </a:r>
            <a:endParaRPr lang="en-US" sz="1050" dirty="0"/>
          </a:p>
        </p:txBody>
      </p:sp>
      <p:graphicFrame>
        <p:nvGraphicFramePr>
          <p:cNvPr id="16" name="train-table"/>
          <p:cNvGraphicFramePr>
            <a:graphicFrameLocks noGrp="1"/>
          </p:cNvGraphicFramePr>
          <p:nvPr>
            <p:extLst>
              <p:ext uri="{D42A27DB-BD31-4B8C-83A1-F6EECF244321}">
                <p14:modId xmlns:p14="http://schemas.microsoft.com/office/powerpoint/2010/main" val="1579011935"/>
              </p:ext>
            </p:extLst>
          </p:nvPr>
        </p:nvGraphicFramePr>
        <p:xfrm>
          <a:off x="6492240" y="1325880"/>
          <a:ext cx="5120640" cy="914400"/>
        </p:xfrm>
        <a:graphic>
          <a:graphicData uri="http://schemas.openxmlformats.org/drawingml/2006/table">
            <a:tbl>
              <a:tblPr/>
              <a:tblGrid>
                <a:gridCol w="1645920"/>
                <a:gridCol w="34747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Training setting</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2,000 train / 200 test slices, 128²</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Loss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binary cross-entropy + Dice loss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Optimiser</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Adam, lr 10⁻³, cosine schedule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Batch / epochs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32 / 25 (62 steps per epoch)</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FP16 autocast + GradScaler (Tensor Cores)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Memory layout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channels_last (NHWC) for cuDNN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sigmoid &gt; 0.5 → lesion mask</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9" name="why-unet"/>
          <p:cNvSpPr/>
          <p:nvPr/>
        </p:nvSpPr>
        <p:spPr>
          <a:xfrm>
            <a:off x="548640" y="5166360"/>
            <a:ext cx="11064240" cy="960120"/>
          </a:xfrm>
          <a:prstGeom prst="roundRect">
            <a:avLst>
              <a:gd name="adj" fmla="val 7619"/>
            </a:avLst>
          </a:prstGeom>
          <a:solidFill>
            <a:schemeClr val="bg2"/>
          </a:solidFill>
          <a:ln w="9525">
            <a:solidFill>
              <a:srgbClr val="D9D9D9"/>
            </a:solidFill>
            <a:prstDash val="solid"/>
          </a:ln>
        </p:spPr>
      </p:sp>
      <p:sp>
        <p:nvSpPr>
          <p:cNvPr id="30" name="Text 27"/>
          <p:cNvSpPr txBox="1"/>
          <p:nvPr/>
        </p:nvSpPr>
        <p:spPr>
          <a:xfrm>
            <a:off x="777240" y="5257800"/>
            <a:ext cx="10607040" cy="77724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Why not just threshold? </a:t>
            </a:r>
            <a:pPr indent="0" marL="0">
              <a:buNone/>
            </a:pPr>
            <a:r>
              <a:rPr lang="en-US" sz="1300" dirty="0">
                <a:solidFill>
                  <a:schemeClr val="tx1"/>
                </a:solidFill>
                <a:latin typeface="Calibri" pitchFamily="34" charset="0"/>
                <a:ea typeface="Calibri" pitchFamily="34" charset="-122"/>
                <a:cs typeface="Calibri" pitchFamily="34" charset="-120"/>
              </a:rPr>
              <a:t>Lesions are both brighter and darker than the organ they sit in, so no single threshold works: even the best possible threshold (chosen using the answers) reaches Dice 0.11. The U-Net reaches 0.909.</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3  ·  ALGORITHMS &amp; SYSTEM ARCHITECTURE</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System architecture: CPU/GPU workflow of one stage</a:t>
            </a:r>
            <a:endParaRPr lang="en-US" sz="3400" dirty="0"/>
          </a:p>
        </p:txBody>
      </p:sp>
      <p:sp>
        <p:nvSpPr>
          <p:cNvPr id="4" name="lane-0"/>
          <p:cNvSpPr/>
          <p:nvPr/>
        </p:nvSpPr>
        <p:spPr>
          <a:xfrm>
            <a:off x="548640" y="1325880"/>
            <a:ext cx="11064240" cy="914400"/>
          </a:xfrm>
          <a:prstGeom prst="rect">
            <a:avLst/>
          </a:prstGeom>
          <a:solidFill>
            <a:srgbClr val="FFFFFF"/>
          </a:solidFill>
          <a:ln w="9525">
            <a:solidFill>
              <a:srgbClr val="BFBFBF"/>
            </a:solidFill>
            <a:prstDash val="solid"/>
          </a:ln>
        </p:spPr>
      </p:sp>
      <p:sp>
        <p:nvSpPr>
          <p:cNvPr id="5" name="Text 3"/>
          <p:cNvSpPr txBox="1"/>
          <p:nvPr/>
        </p:nvSpPr>
        <p:spPr>
          <a:xfrm>
            <a:off x="640080" y="1325880"/>
            <a:ext cx="1188720" cy="9144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HOST (CPU)</a:t>
            </a:r>
            <a:endParaRPr lang="en-US" sz="1200" dirty="0"/>
          </a:p>
        </p:txBody>
      </p:sp>
      <p:sp>
        <p:nvSpPr>
          <p:cNvPr id="6" name="lane-1"/>
          <p:cNvSpPr/>
          <p:nvPr/>
        </p:nvSpPr>
        <p:spPr>
          <a:xfrm>
            <a:off x="548640" y="2240280"/>
            <a:ext cx="11064240" cy="914400"/>
          </a:xfrm>
          <a:prstGeom prst="rect">
            <a:avLst/>
          </a:prstGeom>
          <a:solidFill>
            <a:srgbClr val="F2F2F2"/>
          </a:solidFill>
          <a:ln w="9525">
            <a:solidFill>
              <a:srgbClr val="BFBFBF"/>
            </a:solidFill>
            <a:prstDash val="solid"/>
          </a:ln>
        </p:spPr>
      </p:sp>
      <p:sp>
        <p:nvSpPr>
          <p:cNvPr id="7" name="Text 5"/>
          <p:cNvSpPr txBox="1"/>
          <p:nvPr/>
        </p:nvSpPr>
        <p:spPr>
          <a:xfrm>
            <a:off x="640080" y="2240280"/>
            <a:ext cx="1188720" cy="9144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PCIe</a:t>
            </a:r>
            <a:endParaRPr lang="en-US" sz="1200" dirty="0"/>
          </a:p>
        </p:txBody>
      </p:sp>
      <p:sp>
        <p:nvSpPr>
          <p:cNvPr id="8" name="lane-2"/>
          <p:cNvSpPr/>
          <p:nvPr/>
        </p:nvSpPr>
        <p:spPr>
          <a:xfrm>
            <a:off x="548640" y="3154680"/>
            <a:ext cx="11064240" cy="914400"/>
          </a:xfrm>
          <a:prstGeom prst="rect">
            <a:avLst/>
          </a:prstGeom>
          <a:solidFill>
            <a:srgbClr val="FFFFFF"/>
          </a:solidFill>
          <a:ln w="9525">
            <a:solidFill>
              <a:srgbClr val="BFBFBF"/>
            </a:solidFill>
            <a:prstDash val="solid"/>
          </a:ln>
        </p:spPr>
      </p:sp>
      <p:sp>
        <p:nvSpPr>
          <p:cNvPr id="9" name="Text 7"/>
          <p:cNvSpPr txBox="1"/>
          <p:nvPr/>
        </p:nvSpPr>
        <p:spPr>
          <a:xfrm>
            <a:off x="640080" y="3154680"/>
            <a:ext cx="1188720" cy="9144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DEVICE (GPU)</a:t>
            </a:r>
            <a:endParaRPr lang="en-US" sz="1200" dirty="0"/>
          </a:p>
        </p:txBody>
      </p:sp>
      <p:sp>
        <p:nvSpPr>
          <p:cNvPr id="10" name="flow-0"/>
          <p:cNvSpPr/>
          <p:nvPr/>
        </p:nvSpPr>
        <p:spPr>
          <a:xfrm>
            <a:off x="1920240" y="1463040"/>
            <a:ext cx="1554480" cy="640080"/>
          </a:xfrm>
          <a:prstGeom prst="roundRect">
            <a:avLst>
              <a:gd name="adj" fmla="val 7143"/>
            </a:avLst>
          </a:prstGeom>
          <a:solidFill>
            <a:srgbClr val="000000"/>
          </a:solidFill>
          <a:ln w="12700">
            <a:solidFill>
              <a:srgbClr val="000000"/>
            </a:solidFill>
            <a:prstDash val="solid"/>
          </a:ln>
        </p:spPr>
      </p:sp>
      <p:sp>
        <p:nvSpPr>
          <p:cNvPr id="11" name="Text 9"/>
          <p:cNvSpPr txBox="1"/>
          <p:nvPr/>
        </p:nvSpPr>
        <p:spPr>
          <a:xfrm>
            <a:off x="1965960" y="1463040"/>
            <a:ext cx="146304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Load + preprocess (NumPy, float32)</a:t>
            </a:r>
            <a:endParaRPr lang="en-US" sz="1050" dirty="0"/>
          </a:p>
        </p:txBody>
      </p:sp>
      <p:sp>
        <p:nvSpPr>
          <p:cNvPr id="12" name="flow-1"/>
          <p:cNvSpPr/>
          <p:nvPr/>
        </p:nvSpPr>
        <p:spPr>
          <a:xfrm>
            <a:off x="3657600" y="1463040"/>
            <a:ext cx="1554480" cy="640080"/>
          </a:xfrm>
          <a:prstGeom prst="roundRect">
            <a:avLst>
              <a:gd name="adj" fmla="val 7143"/>
            </a:avLst>
          </a:prstGeom>
          <a:solidFill>
            <a:srgbClr val="000000"/>
          </a:solidFill>
          <a:ln w="12700">
            <a:solidFill>
              <a:srgbClr val="000000"/>
            </a:solidFill>
            <a:prstDash val="solid"/>
          </a:ln>
        </p:spPr>
      </p:sp>
      <p:sp>
        <p:nvSpPr>
          <p:cNvPr id="13" name="Text 11"/>
          <p:cNvSpPr txBox="1"/>
          <p:nvPr/>
        </p:nvSpPr>
        <p:spPr>
          <a:xfrm>
            <a:off x="3703320" y="1463040"/>
            <a:ext cx="146304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cudaMalloc (device buffers)</a:t>
            </a:r>
            <a:endParaRPr lang="en-US" sz="1050" dirty="0"/>
          </a:p>
        </p:txBody>
      </p:sp>
      <p:sp>
        <p:nvSpPr>
          <p:cNvPr id="14" name="flow-2"/>
          <p:cNvSpPr/>
          <p:nvPr/>
        </p:nvSpPr>
        <p:spPr>
          <a:xfrm>
            <a:off x="3657600" y="2377440"/>
            <a:ext cx="1554480" cy="640080"/>
          </a:xfrm>
          <a:prstGeom prst="roundRect">
            <a:avLst>
              <a:gd name="adj" fmla="val 7143"/>
            </a:avLst>
          </a:prstGeom>
          <a:solidFill>
            <a:srgbClr val="595959"/>
          </a:solidFill>
          <a:ln w="12700">
            <a:solidFill>
              <a:srgbClr val="000000"/>
            </a:solidFill>
            <a:prstDash val="solid"/>
          </a:ln>
        </p:spPr>
      </p:sp>
      <p:sp>
        <p:nvSpPr>
          <p:cNvPr id="15" name="Text 13"/>
          <p:cNvSpPr txBox="1"/>
          <p:nvPr/>
        </p:nvSpPr>
        <p:spPr>
          <a:xfrm>
            <a:off x="3703320" y="2377440"/>
            <a:ext cx="146304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cudaMemcpy H→D</a:t>
            </a:r>
            <a:endParaRPr lang="en-US" sz="1050" dirty="0"/>
          </a:p>
        </p:txBody>
      </p:sp>
      <p:sp>
        <p:nvSpPr>
          <p:cNvPr id="16" name="flow-3"/>
          <p:cNvSpPr/>
          <p:nvPr/>
        </p:nvSpPr>
        <p:spPr>
          <a:xfrm>
            <a:off x="5394960" y="3291840"/>
            <a:ext cx="1554480" cy="640080"/>
          </a:xfrm>
          <a:prstGeom prst="roundRect">
            <a:avLst>
              <a:gd name="adj" fmla="val 7143"/>
            </a:avLst>
          </a:prstGeom>
          <a:solidFill>
            <a:srgbClr val="000000"/>
          </a:solidFill>
          <a:ln w="12700">
            <a:solidFill>
              <a:srgbClr val="000000"/>
            </a:solidFill>
            <a:prstDash val="solid"/>
          </a:ln>
        </p:spPr>
      </p:sp>
      <p:sp>
        <p:nvSpPr>
          <p:cNvPr id="17" name="Text 15"/>
          <p:cNvSpPr txBox="1"/>
          <p:nvPr/>
        </p:nvSpPr>
        <p:spPr>
          <a:xfrm>
            <a:off x="5440680" y="3291840"/>
            <a:ext cx="146304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 Launch kernel &lt;&lt;&lt;grid, block&gt;&gt;&gt;</a:t>
            </a:r>
            <a:endParaRPr lang="en-US" sz="1050" dirty="0"/>
          </a:p>
        </p:txBody>
      </p:sp>
      <p:sp>
        <p:nvSpPr>
          <p:cNvPr id="18" name="flow-4"/>
          <p:cNvSpPr/>
          <p:nvPr/>
        </p:nvSpPr>
        <p:spPr>
          <a:xfrm>
            <a:off x="7132320" y="3291840"/>
            <a:ext cx="1554480" cy="640080"/>
          </a:xfrm>
          <a:prstGeom prst="roundRect">
            <a:avLst>
              <a:gd name="adj" fmla="val 7143"/>
            </a:avLst>
          </a:prstGeom>
          <a:solidFill>
            <a:srgbClr val="000000"/>
          </a:solidFill>
          <a:ln w="12700">
            <a:solidFill>
              <a:srgbClr val="000000"/>
            </a:solidFill>
            <a:prstDash val="solid"/>
          </a:ln>
        </p:spPr>
      </p:sp>
      <p:sp>
        <p:nvSpPr>
          <p:cNvPr id="19" name="Text 17"/>
          <p:cNvSpPr txBox="1"/>
          <p:nvPr/>
        </p:nvSpPr>
        <p:spPr>
          <a:xfrm>
            <a:off x="7178040" y="3291840"/>
            <a:ext cx="146304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 Kernel runs on all SMs in parallel</a:t>
            </a:r>
            <a:endParaRPr lang="en-US" sz="1050" dirty="0"/>
          </a:p>
        </p:txBody>
      </p:sp>
      <p:sp>
        <p:nvSpPr>
          <p:cNvPr id="20" name="flow-5"/>
          <p:cNvSpPr/>
          <p:nvPr/>
        </p:nvSpPr>
        <p:spPr>
          <a:xfrm>
            <a:off x="8869680" y="3291840"/>
            <a:ext cx="1554480" cy="640080"/>
          </a:xfrm>
          <a:prstGeom prst="roundRect">
            <a:avLst>
              <a:gd name="adj" fmla="val 7143"/>
            </a:avLst>
          </a:prstGeom>
          <a:solidFill>
            <a:srgbClr val="000000"/>
          </a:solidFill>
          <a:ln w="12700">
            <a:solidFill>
              <a:srgbClr val="000000"/>
            </a:solidFill>
            <a:prstDash val="solid"/>
          </a:ln>
        </p:spPr>
      </p:sp>
      <p:sp>
        <p:nvSpPr>
          <p:cNvPr id="21" name="Text 19"/>
          <p:cNvSpPr txBox="1"/>
          <p:nvPr/>
        </p:nvSpPr>
        <p:spPr>
          <a:xfrm>
            <a:off x="8915400" y="3291840"/>
            <a:ext cx="146304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 Next kernel uses data still on GPU</a:t>
            </a:r>
            <a:endParaRPr lang="en-US" sz="1050" dirty="0"/>
          </a:p>
        </p:txBody>
      </p:sp>
      <p:sp>
        <p:nvSpPr>
          <p:cNvPr id="22" name="flow-6"/>
          <p:cNvSpPr/>
          <p:nvPr/>
        </p:nvSpPr>
        <p:spPr>
          <a:xfrm>
            <a:off x="8869680" y="2377440"/>
            <a:ext cx="1554480" cy="640080"/>
          </a:xfrm>
          <a:prstGeom prst="roundRect">
            <a:avLst>
              <a:gd name="adj" fmla="val 7143"/>
            </a:avLst>
          </a:prstGeom>
          <a:solidFill>
            <a:srgbClr val="595959"/>
          </a:solidFill>
          <a:ln w="12700">
            <a:solidFill>
              <a:srgbClr val="000000"/>
            </a:solidFill>
            <a:prstDash val="solid"/>
          </a:ln>
        </p:spPr>
      </p:sp>
      <p:sp>
        <p:nvSpPr>
          <p:cNvPr id="23" name="Text 21"/>
          <p:cNvSpPr txBox="1"/>
          <p:nvPr/>
        </p:nvSpPr>
        <p:spPr>
          <a:xfrm>
            <a:off x="8915400" y="2377440"/>
            <a:ext cx="146304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 cudaMemcpy D→H</a:t>
            </a:r>
            <a:endParaRPr lang="en-US" sz="1050" dirty="0"/>
          </a:p>
        </p:txBody>
      </p:sp>
      <p:sp>
        <p:nvSpPr>
          <p:cNvPr id="24" name="flow-7"/>
          <p:cNvSpPr/>
          <p:nvPr/>
        </p:nvSpPr>
        <p:spPr>
          <a:xfrm>
            <a:off x="9966960" y="1463040"/>
            <a:ext cx="1554480" cy="640080"/>
          </a:xfrm>
          <a:prstGeom prst="roundRect">
            <a:avLst>
              <a:gd name="adj" fmla="val 7143"/>
            </a:avLst>
          </a:prstGeom>
          <a:solidFill>
            <a:srgbClr val="000000"/>
          </a:solidFill>
          <a:ln w="12700">
            <a:solidFill>
              <a:srgbClr val="000000"/>
            </a:solidFill>
            <a:prstDash val="solid"/>
          </a:ln>
        </p:spPr>
      </p:sp>
      <p:sp>
        <p:nvSpPr>
          <p:cNvPr id="25" name="Text 23"/>
          <p:cNvSpPr txBox="1"/>
          <p:nvPr/>
        </p:nvSpPr>
        <p:spPr>
          <a:xfrm>
            <a:off x="10012680" y="1463040"/>
            <a:ext cx="146304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 Save / display</a:t>
            </a:r>
            <a:endParaRPr lang="en-US" sz="1050" dirty="0"/>
          </a:p>
        </p:txBody>
      </p:sp>
      <p:sp>
        <p:nvSpPr>
          <p:cNvPr id="26" name="flow-arrow-0"/>
          <p:cNvSpPr/>
          <p:nvPr/>
        </p:nvSpPr>
        <p:spPr>
          <a:xfrm>
            <a:off x="3474720" y="1783080"/>
            <a:ext cx="182880" cy="0"/>
          </a:xfrm>
          <a:prstGeom prst="line">
            <a:avLst/>
          </a:prstGeom>
          <a:noFill/>
          <a:ln w="22225">
            <a:solidFill>
              <a:srgbClr val="000000"/>
            </a:solidFill>
            <a:prstDash val="solid"/>
            <a:tailEnd type="triangle"/>
          </a:ln>
        </p:spPr>
      </p:sp>
      <p:sp>
        <p:nvSpPr>
          <p:cNvPr id="27" name="flow-arrow-1"/>
          <p:cNvSpPr/>
          <p:nvPr/>
        </p:nvSpPr>
        <p:spPr>
          <a:xfrm>
            <a:off x="4434840" y="2103120"/>
            <a:ext cx="0" cy="274320"/>
          </a:xfrm>
          <a:prstGeom prst="line">
            <a:avLst/>
          </a:prstGeom>
          <a:noFill/>
          <a:ln w="22225">
            <a:solidFill>
              <a:srgbClr val="000000"/>
            </a:solidFill>
            <a:prstDash val="solid"/>
            <a:tailEnd type="triangle"/>
          </a:ln>
        </p:spPr>
      </p:sp>
      <p:sp>
        <p:nvSpPr>
          <p:cNvPr id="28" name="flow-arrow-2"/>
          <p:cNvSpPr/>
          <p:nvPr/>
        </p:nvSpPr>
        <p:spPr>
          <a:xfrm>
            <a:off x="5212080" y="2697480"/>
            <a:ext cx="182880" cy="914400"/>
          </a:xfrm>
          <a:prstGeom prst="line">
            <a:avLst/>
          </a:prstGeom>
          <a:noFill/>
          <a:ln w="22225">
            <a:solidFill>
              <a:srgbClr val="000000"/>
            </a:solidFill>
            <a:prstDash val="solid"/>
            <a:tailEnd type="triangle"/>
          </a:ln>
        </p:spPr>
      </p:sp>
      <p:sp>
        <p:nvSpPr>
          <p:cNvPr id="29" name="flow-arrow-3"/>
          <p:cNvSpPr/>
          <p:nvPr/>
        </p:nvSpPr>
        <p:spPr>
          <a:xfrm>
            <a:off x="6949440" y="3611880"/>
            <a:ext cx="182880" cy="0"/>
          </a:xfrm>
          <a:prstGeom prst="line">
            <a:avLst/>
          </a:prstGeom>
          <a:noFill/>
          <a:ln w="22225">
            <a:solidFill>
              <a:srgbClr val="000000"/>
            </a:solidFill>
            <a:prstDash val="solid"/>
            <a:tailEnd type="triangle"/>
          </a:ln>
        </p:spPr>
      </p:sp>
      <p:sp>
        <p:nvSpPr>
          <p:cNvPr id="30" name="flow-arrow-4"/>
          <p:cNvSpPr/>
          <p:nvPr/>
        </p:nvSpPr>
        <p:spPr>
          <a:xfrm>
            <a:off x="8686800" y="3611880"/>
            <a:ext cx="182880" cy="0"/>
          </a:xfrm>
          <a:prstGeom prst="line">
            <a:avLst/>
          </a:prstGeom>
          <a:noFill/>
          <a:ln w="22225">
            <a:solidFill>
              <a:srgbClr val="000000"/>
            </a:solidFill>
            <a:prstDash val="solid"/>
            <a:tailEnd type="triangle"/>
          </a:ln>
        </p:spPr>
      </p:sp>
      <p:sp>
        <p:nvSpPr>
          <p:cNvPr id="31" name="flow-arrow-5"/>
          <p:cNvSpPr/>
          <p:nvPr/>
        </p:nvSpPr>
        <p:spPr>
          <a:xfrm flipV="1">
            <a:off x="9646920" y="3017520"/>
            <a:ext cx="0" cy="274320"/>
          </a:xfrm>
          <a:prstGeom prst="line">
            <a:avLst/>
          </a:prstGeom>
          <a:noFill/>
          <a:ln w="22225">
            <a:solidFill>
              <a:srgbClr val="000000"/>
            </a:solidFill>
            <a:prstDash val="solid"/>
            <a:tailEnd type="triangle"/>
          </a:ln>
        </p:spPr>
      </p:sp>
      <p:sp>
        <p:nvSpPr>
          <p:cNvPr id="32" name="flow-arrow-6"/>
          <p:cNvSpPr/>
          <p:nvPr/>
        </p:nvSpPr>
        <p:spPr>
          <a:xfrm flipV="1">
            <a:off x="10241280" y="2103120"/>
            <a:ext cx="0" cy="274320"/>
          </a:xfrm>
          <a:prstGeom prst="line">
            <a:avLst/>
          </a:prstGeom>
          <a:noFill/>
          <a:ln w="22225">
            <a:solidFill>
              <a:srgbClr val="000000"/>
            </a:solidFill>
            <a:prstDash val="solid"/>
            <a:tailEnd type="triangle"/>
          </a:ln>
        </p:spPr>
      </p:sp>
      <p:graphicFrame>
        <p:nvGraphicFramePr>
          <p:cNvPr id="17" name="where-table"/>
          <p:cNvGraphicFramePr>
            <a:graphicFrameLocks noGrp="1"/>
          </p:cNvGraphicFramePr>
          <p:nvPr>
            <p:extLst>
              <p:ext uri="{D42A27DB-BD31-4B8C-83A1-F6EECF244321}">
                <p14:modId xmlns:p14="http://schemas.microsoft.com/office/powerpoint/2010/main" val="1579011935"/>
              </p:ext>
            </p:extLst>
          </p:nvPr>
        </p:nvGraphicFramePr>
        <p:xfrm>
          <a:off x="548640" y="4297680"/>
          <a:ext cx="11064240" cy="914400"/>
        </p:xfrm>
        <a:graphic>
          <a:graphicData uri="http://schemas.openxmlformats.org/drawingml/2006/table">
            <a:tbl>
              <a:tblPr/>
              <a:tblGrid>
                <a:gridCol w="1828800"/>
                <a:gridCol w="2377440"/>
                <a:gridCol w="3108960"/>
                <a:gridCol w="374904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On CPU</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Copied over PCIe</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On GPU</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4747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CT reconstruction</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phantom, sinogram (radon)</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sinograms 34 MB in, volume out</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cuFFT ramp filter → FBP kernel</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MRI reconstruction</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load + normalise</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10 slices in, images out</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200 × (TV step → FFT → data consistency → IFFT)</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Denoise / threshold</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load + normalise</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volume in, result out</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conv kernel / histogram → label kernels</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U-Net / rendering</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data generation, plots</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batches / volume in, masks / frames out</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cuDNN convolutions / grid_sample + ray casting</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3  ·  ALGORITHMS &amp; SYSTEM ARCHITECTURE</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Software stack and data movement</a:t>
            </a:r>
            <a:endParaRPr lang="en-US" sz="3400" dirty="0"/>
          </a:p>
        </p:txBody>
      </p:sp>
      <p:sp>
        <p:nvSpPr>
          <p:cNvPr id="4" name="stk-0"/>
          <p:cNvSpPr/>
          <p:nvPr/>
        </p:nvSpPr>
        <p:spPr>
          <a:xfrm>
            <a:off x="548640" y="1325880"/>
            <a:ext cx="5577840" cy="475488"/>
          </a:xfrm>
          <a:prstGeom prst="rect">
            <a:avLst/>
          </a:prstGeom>
          <a:solidFill>
            <a:srgbClr val="000000"/>
          </a:solidFill>
          <a:ln/>
        </p:spPr>
      </p:sp>
      <p:sp>
        <p:nvSpPr>
          <p:cNvPr id="5" name="Text 3"/>
          <p:cNvSpPr txBox="1"/>
          <p:nvPr/>
        </p:nvSpPr>
        <p:spPr>
          <a:xfrm>
            <a:off x="685800" y="1325880"/>
            <a:ext cx="14630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6" name="Text 4"/>
          <p:cNvSpPr txBox="1"/>
          <p:nvPr/>
        </p:nvSpPr>
        <p:spPr>
          <a:xfrm>
            <a:off x="2148840" y="1325880"/>
            <a:ext cx="3931920" cy="4754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our Python pipeline: 7 scripts, 1 per stage + benchmark</a:t>
            </a:r>
            <a:endParaRPr lang="en-US" sz="1100" dirty="0"/>
          </a:p>
        </p:txBody>
      </p:sp>
      <p:sp>
        <p:nvSpPr>
          <p:cNvPr id="7" name="stk-1"/>
          <p:cNvSpPr/>
          <p:nvPr/>
        </p:nvSpPr>
        <p:spPr>
          <a:xfrm>
            <a:off x="548640" y="1874520"/>
            <a:ext cx="5577840" cy="475488"/>
          </a:xfrm>
          <a:prstGeom prst="rect">
            <a:avLst/>
          </a:prstGeom>
          <a:solidFill>
            <a:srgbClr val="262626"/>
          </a:solidFill>
          <a:ln/>
        </p:spPr>
      </p:sp>
      <p:sp>
        <p:nvSpPr>
          <p:cNvPr id="8" name="Text 6"/>
          <p:cNvSpPr txBox="1"/>
          <p:nvPr/>
        </p:nvSpPr>
        <p:spPr>
          <a:xfrm>
            <a:off x="685800" y="1874520"/>
            <a:ext cx="14630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Framework</a:t>
            </a:r>
            <a:endParaRPr lang="en-US" sz="1200" dirty="0"/>
          </a:p>
        </p:txBody>
      </p:sp>
      <p:sp>
        <p:nvSpPr>
          <p:cNvPr id="9" name="Text 7"/>
          <p:cNvSpPr txBox="1"/>
          <p:nvPr/>
        </p:nvSpPr>
        <p:spPr>
          <a:xfrm>
            <a:off x="2148840" y="1874520"/>
            <a:ext cx="3931920" cy="4754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PyTorch 2.14.1 (tensors on device='cuda')</a:t>
            </a:r>
            <a:endParaRPr lang="en-US" sz="1100" dirty="0"/>
          </a:p>
        </p:txBody>
      </p:sp>
      <p:sp>
        <p:nvSpPr>
          <p:cNvPr id="10" name="stk-2"/>
          <p:cNvSpPr/>
          <p:nvPr/>
        </p:nvSpPr>
        <p:spPr>
          <a:xfrm>
            <a:off x="548640" y="2423160"/>
            <a:ext cx="5577840" cy="475488"/>
          </a:xfrm>
          <a:prstGeom prst="rect">
            <a:avLst/>
          </a:prstGeom>
          <a:solidFill>
            <a:srgbClr val="404040"/>
          </a:solidFill>
          <a:ln/>
        </p:spPr>
      </p:sp>
      <p:sp>
        <p:nvSpPr>
          <p:cNvPr id="11" name="Text 9"/>
          <p:cNvSpPr txBox="1"/>
          <p:nvPr/>
        </p:nvSpPr>
        <p:spPr>
          <a:xfrm>
            <a:off x="685800" y="2423160"/>
            <a:ext cx="14630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GPU libraries</a:t>
            </a:r>
            <a:endParaRPr lang="en-US" sz="1200" dirty="0"/>
          </a:p>
        </p:txBody>
      </p:sp>
      <p:sp>
        <p:nvSpPr>
          <p:cNvPr id="12" name="Text 10"/>
          <p:cNvSpPr txBox="1"/>
          <p:nvPr/>
        </p:nvSpPr>
        <p:spPr>
          <a:xfrm>
            <a:off x="2148840" y="2423160"/>
            <a:ext cx="3931920" cy="4754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cuFFT (FFT) · cuDNN (convolutions) · cuBLAS (matrices)</a:t>
            </a:r>
            <a:endParaRPr lang="en-US" sz="1100" dirty="0"/>
          </a:p>
        </p:txBody>
      </p:sp>
      <p:sp>
        <p:nvSpPr>
          <p:cNvPr id="13" name="stk-3"/>
          <p:cNvSpPr/>
          <p:nvPr/>
        </p:nvSpPr>
        <p:spPr>
          <a:xfrm>
            <a:off x="548640" y="2971800"/>
            <a:ext cx="5577840" cy="475488"/>
          </a:xfrm>
          <a:prstGeom prst="rect">
            <a:avLst/>
          </a:prstGeom>
          <a:solidFill>
            <a:srgbClr val="595959"/>
          </a:solidFill>
          <a:ln/>
        </p:spPr>
      </p:sp>
      <p:sp>
        <p:nvSpPr>
          <p:cNvPr id="14" name="Text 12"/>
          <p:cNvSpPr txBox="1"/>
          <p:nvPr/>
        </p:nvSpPr>
        <p:spPr>
          <a:xfrm>
            <a:off x="685800" y="2971800"/>
            <a:ext cx="14630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Our kernels</a:t>
            </a:r>
            <a:endParaRPr lang="en-US" sz="1200" dirty="0"/>
          </a:p>
        </p:txBody>
      </p:sp>
      <p:sp>
        <p:nvSpPr>
          <p:cNvPr id="15" name="Text 13"/>
          <p:cNvSpPr txBox="1"/>
          <p:nvPr/>
        </p:nvSpPr>
        <p:spPr>
          <a:xfrm>
            <a:off x="2148840" y="2971800"/>
            <a:ext cx="3931920" cy="4754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fbp.cu · conv3d.cu · threshold.cu (CUDA C++, nvcc -O3 -arch=sm_120)</a:t>
            </a:r>
            <a:endParaRPr lang="en-US" sz="1100" dirty="0"/>
          </a:p>
        </p:txBody>
      </p:sp>
      <p:sp>
        <p:nvSpPr>
          <p:cNvPr id="16" name="stk-4"/>
          <p:cNvSpPr/>
          <p:nvPr/>
        </p:nvSpPr>
        <p:spPr>
          <a:xfrm>
            <a:off x="548640" y="3520440"/>
            <a:ext cx="5577840" cy="475488"/>
          </a:xfrm>
          <a:prstGeom prst="rect">
            <a:avLst/>
          </a:prstGeom>
          <a:solidFill>
            <a:srgbClr val="7F7F7F"/>
          </a:solidFill>
          <a:ln/>
        </p:spPr>
      </p:sp>
      <p:sp>
        <p:nvSpPr>
          <p:cNvPr id="17" name="Text 15"/>
          <p:cNvSpPr txBox="1"/>
          <p:nvPr/>
        </p:nvSpPr>
        <p:spPr>
          <a:xfrm>
            <a:off x="685800" y="3520440"/>
            <a:ext cx="14630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Runtime / driver</a:t>
            </a:r>
            <a:endParaRPr lang="en-US" sz="1200" dirty="0"/>
          </a:p>
        </p:txBody>
      </p:sp>
      <p:sp>
        <p:nvSpPr>
          <p:cNvPr id="18" name="Text 16"/>
          <p:cNvSpPr txBox="1"/>
          <p:nvPr/>
        </p:nvSpPr>
        <p:spPr>
          <a:xfrm>
            <a:off x="2148840" y="3520440"/>
            <a:ext cx="3931920" cy="4754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CUDA 13.4 toolkit, runtime API, NVIDIA driver</a:t>
            </a:r>
            <a:endParaRPr lang="en-US" sz="1100" dirty="0"/>
          </a:p>
        </p:txBody>
      </p:sp>
      <p:sp>
        <p:nvSpPr>
          <p:cNvPr id="19" name="stk-5"/>
          <p:cNvSpPr/>
          <p:nvPr/>
        </p:nvSpPr>
        <p:spPr>
          <a:xfrm>
            <a:off x="548640" y="4069080"/>
            <a:ext cx="5577840" cy="475488"/>
          </a:xfrm>
          <a:prstGeom prst="rect">
            <a:avLst/>
          </a:prstGeom>
          <a:solidFill>
            <a:srgbClr val="A6A6A6"/>
          </a:solidFill>
          <a:ln/>
        </p:spPr>
      </p:sp>
      <p:sp>
        <p:nvSpPr>
          <p:cNvPr id="20" name="Text 18"/>
          <p:cNvSpPr txBox="1"/>
          <p:nvPr/>
        </p:nvSpPr>
        <p:spPr>
          <a:xfrm>
            <a:off x="685800" y="4069080"/>
            <a:ext cx="1463040" cy="475488"/>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Hardware</a:t>
            </a:r>
            <a:endParaRPr lang="en-US" sz="1200" dirty="0"/>
          </a:p>
        </p:txBody>
      </p:sp>
      <p:sp>
        <p:nvSpPr>
          <p:cNvPr id="21" name="Text 19"/>
          <p:cNvSpPr txBox="1"/>
          <p:nvPr/>
        </p:nvSpPr>
        <p:spPr>
          <a:xfrm>
            <a:off x="2148840" y="4069080"/>
            <a:ext cx="3931920" cy="475488"/>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NVIDIA GeForce RTX 5060 · 30 SMs · 8 GB</a:t>
            </a:r>
            <a:endParaRPr lang="en-US" sz="1100" dirty="0"/>
          </a:p>
        </p:txBody>
      </p:sp>
      <p:sp>
        <p:nvSpPr>
          <p:cNvPr id="22" name="Text 20"/>
          <p:cNvSpPr txBox="1"/>
          <p:nvPr/>
        </p:nvSpPr>
        <p:spPr>
          <a:xfrm>
            <a:off x="548640" y="4709160"/>
            <a:ext cx="5577840" cy="685800"/>
          </a:xfrm>
          <a:prstGeom prst="rect">
            <a:avLst/>
          </a:prstGeom>
          <a:noFill/>
          <a:ln/>
        </p:spPr>
        <p:txBody>
          <a:bodyPr wrap="square" lIns="0" tIns="0" rIns="0" bIns="0" rtlCol="0" anchor="t"/>
          <a:lstStyle/>
          <a:p>
            <a:pPr indent="0" marL="0">
              <a:buNone/>
            </a:pPr>
            <a:r>
              <a:rPr lang="en-US" sz="1200" i="1" dirty="0">
                <a:solidFill>
                  <a:schemeClr val="tx1"/>
                </a:solidFill>
                <a:latin typeface="Calibri" pitchFamily="34" charset="0"/>
                <a:ea typeface="Calibri" pitchFamily="34" charset="-122"/>
                <a:cs typeface="Calibri" pitchFamily="34" charset="-120"/>
              </a:rPr>
              <a:t>Python calls our kernels as compiled executables: data is written to a binary file, the kernel reads it, times itself with cudaEvent and prints JSON timings.</a:t>
            </a:r>
            <a:endParaRPr lang="en-US" sz="1200" dirty="0"/>
          </a:p>
        </p:txBody>
      </p:sp>
      <p:sp>
        <p:nvSpPr>
          <p:cNvPr id="23" name="Text 21"/>
          <p:cNvSpPr txBox="1"/>
          <p:nvPr/>
        </p:nvSpPr>
        <p:spPr>
          <a:xfrm>
            <a:off x="6400800" y="1325880"/>
            <a:ext cx="52120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How much data crosses PCIe</a:t>
            </a:r>
            <a:endParaRPr lang="en-US" sz="1500" dirty="0"/>
          </a:p>
        </p:txBody>
      </p:sp>
      <p:graphicFrame>
        <p:nvGraphicFramePr>
          <p:cNvPr id="18" name="pcie-table"/>
          <p:cNvGraphicFramePr>
            <a:graphicFrameLocks noGrp="1"/>
          </p:cNvGraphicFramePr>
          <p:nvPr>
            <p:extLst>
              <p:ext uri="{D42A27DB-BD31-4B8C-83A1-F6EECF244321}">
                <p14:modId xmlns:p14="http://schemas.microsoft.com/office/powerpoint/2010/main" val="1579011935"/>
              </p:ext>
            </p:extLst>
          </p:nvPr>
        </p:nvGraphicFramePr>
        <p:xfrm>
          <a:off x="6400800" y="1691640"/>
          <a:ext cx="5212080" cy="914400"/>
        </p:xfrm>
        <a:graphic>
          <a:graphicData uri="http://schemas.openxmlformats.org/drawingml/2006/table">
            <a:tbl>
              <a:tblPr/>
              <a:tblGrid>
                <a:gridCol w="3017520"/>
                <a:gridCol w="1097280"/>
                <a:gridCol w="109728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Transfer</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Time</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84048">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CT sinograms 128 × 256 × 256 float32</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33.6 MB</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28 ms</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Denoise volume 256³ float32, upload</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67.1 MB</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5.7 ms</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Denoise volume 256³ float32, download</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67.1 MB</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7.4 ms</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Threshold labels 59 M × uint8</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59.2 MB</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4.4 ms</a:t>
                      </a:r>
                      <a:endParaRPr lang="en-US" sz="115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pcie-card"/>
          <p:cNvSpPr/>
          <p:nvPr/>
        </p:nvSpPr>
        <p:spPr>
          <a:xfrm>
            <a:off x="6400800" y="3794760"/>
            <a:ext cx="5212080" cy="1600200"/>
          </a:xfrm>
          <a:prstGeom prst="roundRect">
            <a:avLst>
              <a:gd name="adj" fmla="val 4571"/>
            </a:avLst>
          </a:prstGeom>
          <a:solidFill>
            <a:schemeClr val="bg2"/>
          </a:solidFill>
          <a:ln w="9525">
            <a:solidFill>
              <a:srgbClr val="D9D9D9"/>
            </a:solidFill>
            <a:prstDash val="solid"/>
          </a:ln>
        </p:spPr>
      </p:sp>
      <p:sp>
        <p:nvSpPr>
          <p:cNvPr id="26" name="Text 23"/>
          <p:cNvSpPr txBox="1"/>
          <p:nvPr/>
        </p:nvSpPr>
        <p:spPr>
          <a:xfrm>
            <a:off x="6629400" y="3840480"/>
            <a:ext cx="4754880" cy="685800"/>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85%</a:t>
            </a:r>
            <a:endParaRPr lang="en-US" sz="3400" dirty="0"/>
          </a:p>
        </p:txBody>
      </p:sp>
      <p:sp>
        <p:nvSpPr>
          <p:cNvPr id="27" name="Text 24"/>
          <p:cNvSpPr txBox="1"/>
          <p:nvPr/>
        </p:nvSpPr>
        <p:spPr>
          <a:xfrm>
            <a:off x="6629400" y="4572000"/>
            <a:ext cx="47548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of the denoising stage's GPU time is spent copying data (compute is only 2.4 ms)</a:t>
            </a:r>
            <a:endParaRPr lang="en-US" sz="1300" dirty="0"/>
          </a:p>
        </p:txBody>
      </p:sp>
      <p:sp>
        <p:nvSpPr>
          <p:cNvPr id="28" name="Text 25"/>
          <p:cNvSpPr txBox="1"/>
          <p:nvPr/>
        </p:nvSpPr>
        <p:spPr>
          <a:xfrm>
            <a:off x="548640" y="5532120"/>
            <a:ext cx="1106424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Design choice: labels are sent back as uint8 (1 byte) instead of float32, so the download is 4× smaller.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4  ·  IMPLEMENTATION &amp; VISUALISATION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Implementation: code structure and how to run it</a:t>
            </a:r>
            <a:endParaRPr lang="en-US" sz="3400" dirty="0"/>
          </a:p>
        </p:txBody>
      </p:sp>
      <p:sp>
        <p:nvSpPr>
          <p:cNvPr id="4" name="code-bg"/>
          <p:cNvSpPr/>
          <p:nvPr/>
        </p:nvSpPr>
        <p:spPr>
          <a:xfrm>
            <a:off x="548640" y="1325880"/>
            <a:ext cx="5120640" cy="4800600"/>
          </a:xfrm>
          <a:prstGeom prst="roundRect">
            <a:avLst>
              <a:gd name="adj" fmla="val 1143"/>
            </a:avLst>
          </a:prstGeom>
          <a:solidFill>
            <a:srgbClr val="1A1A1A"/>
          </a:solidFill>
          <a:ln/>
        </p:spPr>
      </p:sp>
      <p:sp>
        <p:nvSpPr>
          <p:cNvPr id="5" name="Text 3"/>
          <p:cNvSpPr txBox="1"/>
          <p:nvPr/>
        </p:nvSpPr>
        <p:spPr>
          <a:xfrm>
            <a:off x="731520" y="1463040"/>
            <a:ext cx="4754880" cy="4526280"/>
          </a:xfrm>
          <a:prstGeom prst="rect">
            <a:avLst/>
          </a:prstGeom>
          <a:noFill/>
          <a:ln/>
        </p:spPr>
        <p:txBody>
          <a:bodyPr wrap="square" lIns="0" tIns="0" rIns="0" bIns="0" rtlCol="0" anchor="t"/>
          <a:lstStyle/>
          <a:p>
            <a:pPr indent="0" marL="0">
              <a:buNone/>
            </a:pPr>
            <a:r>
              <a:rPr lang="en-US" sz="1100" dirty="0">
                <a:solidFill>
                  <a:srgbClr val="F2F2F2"/>
                </a:solidFill>
                <a:latin typeface="Courier New" pitchFamily="34" charset="0"/>
                <a:ea typeface="Courier New" pitchFamily="34" charset="-122"/>
                <a:cs typeface="Courier New" pitchFamily="34" charset="-120"/>
              </a:rPr>
              <a:t>pds_present/</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src/kernels/</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fbp.cu         CT back-projection</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conv3d.cu      naive + tiled filter</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threshold.cu   histogram + labels</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src/</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common.py      timing, nvcc build, PSNR</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phantoms.py    2D/3D Shepp-Logan</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ct_recon.py    stage 1</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mri_recon.py   stage 2</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filtering.py   stage 3</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threshold_seg.py  stage 4a</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segmentation.py   stage 4b (U-Net)</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visualize.py   stage 5</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 benchmark.py   runs all, summary</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data/   CThead.npy, MRbrain.npy</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results/results.json + figures/</a:t>
            </a:r>
            <a:endParaRPr lang="en-US" sz="1100" dirty="0"/>
          </a:p>
        </p:txBody>
      </p:sp>
      <p:graphicFrame>
        <p:nvGraphicFramePr>
          <p:cNvPr id="19" name="scripts-table"/>
          <p:cNvGraphicFramePr>
            <a:graphicFrameLocks noGrp="1"/>
          </p:cNvGraphicFramePr>
          <p:nvPr>
            <p:extLst>
              <p:ext uri="{D42A27DB-BD31-4B8C-83A1-F6EECF244321}">
                <p14:modId xmlns:p14="http://schemas.microsoft.com/office/powerpoint/2010/main" val="1579011935"/>
              </p:ext>
            </p:extLst>
          </p:nvPr>
        </p:nvGraphicFramePr>
        <p:xfrm>
          <a:off x="5943600" y="1325880"/>
          <a:ext cx="5669280" cy="914400"/>
        </p:xfrm>
        <a:graphic>
          <a:graphicData uri="http://schemas.openxmlformats.org/drawingml/2006/table">
            <a:tbl>
              <a:tblPr/>
              <a:tblGrid>
                <a:gridCol w="1417320"/>
                <a:gridCol w="2286000"/>
                <a:gridCol w="196596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functions</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GPU part</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common.py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timeit(), build_kernel(), run_kernel(), psnr()</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compiles .cu with nvcc + MSVC on first use</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ct_recon.py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sinogram(), filter_gpu(), fbp_gpu()</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torch.fft + fbp.cu</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mri_recon.py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make_mask(), fft2c(), tv_grad(), cs_recon()</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same PyTorch code on 'cpu' or 'cuda'</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filtering.py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gauss_kernel(), main()</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conv3d.cu, F.conv3d (cuDNN)</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threshold_seg.py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otsu(), cpu_pipeline(), gpu_pipeline()</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threshold.cu</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segmentation.py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make_dataset(), UNet, train_step()</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autocast FP16, channels_last</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visualize.py</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rotate(), mip(), dvr()</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grid_sample + cumprod on GPU</a:t>
                      </a:r>
                      <a:endParaRPr lang="en-US" sz="11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code-bg"/>
          <p:cNvSpPr/>
          <p:nvPr/>
        </p:nvSpPr>
        <p:spPr>
          <a:xfrm>
            <a:off x="5943600" y="5074920"/>
            <a:ext cx="5669280" cy="1051560"/>
          </a:xfrm>
          <a:prstGeom prst="roundRect">
            <a:avLst>
              <a:gd name="adj" fmla="val 5217"/>
            </a:avLst>
          </a:prstGeom>
          <a:solidFill>
            <a:srgbClr val="1A1A1A"/>
          </a:solidFill>
          <a:ln/>
        </p:spPr>
      </p:sp>
      <p:sp>
        <p:nvSpPr>
          <p:cNvPr id="8" name="Text 5"/>
          <p:cNvSpPr txBox="1"/>
          <p:nvPr/>
        </p:nvSpPr>
        <p:spPr>
          <a:xfrm>
            <a:off x="6126480" y="5212080"/>
            <a:ext cx="5303520" cy="777240"/>
          </a:xfrm>
          <a:prstGeom prst="rect">
            <a:avLst/>
          </a:prstGeom>
          <a:noFill/>
          <a:ln/>
        </p:spPr>
        <p:txBody>
          <a:bodyPr wrap="square" lIns="0" tIns="0" rIns="0" bIns="0" rtlCol="0" anchor="t"/>
          <a:lstStyle/>
          <a:p>
            <a:pPr indent="0" marL="0">
              <a:buNone/>
            </a:pPr>
            <a:r>
              <a:rPr lang="en-US" sz="1100" dirty="0">
                <a:solidFill>
                  <a:srgbClr val="F2F2F2"/>
                </a:solidFill>
                <a:latin typeface="Courier New" pitchFamily="34" charset="0"/>
                <a:ea typeface="Courier New" pitchFamily="34" charset="-122"/>
                <a:cs typeface="Courier New" pitchFamily="34" charset="-120"/>
              </a:rPr>
              <a:t>pip install -r requirements.txt</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python src/benchmark.py      # all stages</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python src/benchmark.py --summary</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4  ·  IMPLEMENTATION &amp; VISUALISATION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1 code: filtered back projection</a:t>
            </a:r>
            <a:endParaRPr lang="en-US" sz="3400" dirty="0"/>
          </a:p>
        </p:txBody>
      </p:sp>
      <p:sp>
        <p:nvSpPr>
          <p:cNvPr id="4" name="Text 2"/>
          <p:cNvSpPr txBox="1"/>
          <p:nvPr/>
        </p:nvSpPr>
        <p:spPr>
          <a:xfrm>
            <a:off x="548640" y="132588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Step 1: ramp filter with cuFFT (Python)</a:t>
            </a:r>
            <a:endParaRPr lang="en-US" sz="1500" dirty="0"/>
          </a:p>
        </p:txBody>
      </p:sp>
      <p:sp>
        <p:nvSpPr>
          <p:cNvPr id="5" name="code-bg"/>
          <p:cNvSpPr/>
          <p:nvPr/>
        </p:nvSpPr>
        <p:spPr>
          <a:xfrm>
            <a:off x="548640" y="1691640"/>
            <a:ext cx="5577840" cy="1463040"/>
          </a:xfrm>
          <a:prstGeom prst="roundRect">
            <a:avLst>
              <a:gd name="adj" fmla="val 3750"/>
            </a:avLst>
          </a:prstGeom>
          <a:solidFill>
            <a:srgbClr val="1A1A1A"/>
          </a:solidFill>
          <a:ln/>
        </p:spPr>
      </p:sp>
      <p:sp>
        <p:nvSpPr>
          <p:cNvPr id="6" name="Text 4"/>
          <p:cNvSpPr txBox="1"/>
          <p:nvPr/>
        </p:nvSpPr>
        <p:spPr>
          <a:xfrm>
            <a:off x="731520" y="1828800"/>
            <a:ext cx="5212080" cy="1188720"/>
          </a:xfrm>
          <a:prstGeom prst="rect">
            <a:avLst/>
          </a:prstGeom>
          <a:noFill/>
          <a:ln/>
        </p:spPr>
        <p:txBody>
          <a:bodyPr wrap="square" lIns="0" tIns="0" rIns="0" bIns="0" rtlCol="0" anchor="t"/>
          <a:lstStyle/>
          <a:p>
            <a:pPr indent="0" marL="0">
              <a:buNone/>
            </a:pPr>
            <a:r>
              <a:rPr lang="en-US" sz="1050" dirty="0">
                <a:solidFill>
                  <a:srgbClr val="F2F2F2"/>
                </a:solidFill>
                <a:latin typeface="Courier New" pitchFamily="34" charset="0"/>
                <a:ea typeface="Courier New" pitchFamily="34" charset="-122"/>
                <a:cs typeface="Courier New" pitchFamily="34" charset="-120"/>
              </a:rPr>
              <a:t>def filter_gpu(sino_t):              # [S, A, D] on GPU</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D = sino_t.shape[-1]</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size, h = ramp(D)                 # h = 2|f|, padded</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F = torch.fft.fft(sino_t, n=size, dim=-1) * h</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return torch.fft.ifft(F, dim=-1).real[..., :D]</a:t>
            </a:r>
            <a:endParaRPr lang="en-US" sz="1050" dirty="0"/>
          </a:p>
        </p:txBody>
      </p:sp>
      <p:sp>
        <p:nvSpPr>
          <p:cNvPr id="7" name="Text 5"/>
          <p:cNvSpPr txBox="1"/>
          <p:nvPr/>
        </p:nvSpPr>
        <p:spPr>
          <a:xfrm>
            <a:off x="548640" y="329184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Step 2: back-projection kernel (CUDA)</a:t>
            </a:r>
            <a:endParaRPr lang="en-US" sz="1500" dirty="0"/>
          </a:p>
        </p:txBody>
      </p:sp>
      <p:sp>
        <p:nvSpPr>
          <p:cNvPr id="8" name="code-bg"/>
          <p:cNvSpPr/>
          <p:nvPr/>
        </p:nvSpPr>
        <p:spPr>
          <a:xfrm>
            <a:off x="548640" y="3657600"/>
            <a:ext cx="5577840" cy="2468880"/>
          </a:xfrm>
          <a:prstGeom prst="roundRect">
            <a:avLst>
              <a:gd name="adj" fmla="val 2222"/>
            </a:avLst>
          </a:prstGeom>
          <a:solidFill>
            <a:srgbClr val="1A1A1A"/>
          </a:solidFill>
          <a:ln/>
        </p:spPr>
      </p:sp>
      <p:sp>
        <p:nvSpPr>
          <p:cNvPr id="9" name="Text 7"/>
          <p:cNvSpPr txBox="1"/>
          <p:nvPr/>
        </p:nvSpPr>
        <p:spPr>
          <a:xfrm>
            <a:off x="731520" y="3794760"/>
            <a:ext cx="5212080" cy="2194560"/>
          </a:xfrm>
          <a:prstGeom prst="rect">
            <a:avLst/>
          </a:prstGeom>
          <a:noFill/>
          <a:ln/>
        </p:spPr>
        <p:txBody>
          <a:bodyPr wrap="square" lIns="0" tIns="0" rIns="0" bIns="0" rtlCol="0" anchor="t"/>
          <a:lstStyle/>
          <a:p>
            <a:pPr indent="0" marL="0">
              <a:buNone/>
            </a:pPr>
            <a:r>
              <a:rPr lang="en-US" sz="1000" dirty="0">
                <a:solidFill>
                  <a:srgbClr val="F2F2F2"/>
                </a:solidFill>
                <a:latin typeface="Courier New" pitchFamily="34" charset="0"/>
                <a:ea typeface="Courier New" pitchFamily="34" charset="-122"/>
                <a:cs typeface="Courier New" pitchFamily="34" charset="-120"/>
              </a:rPr>
              <a:t>__constant__ float c_cos[2048], c_sin[2048];</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__global__ void backproject(const float* sino, float* img,</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int A, int D, int N) {</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int col = blockIdx.x*blockDim.x + threadIdx.x;</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int row = blockIdx.y*blockDim.y + threadIdx.y;</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int s = blockIdx.z;  float acc = 0.f;</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for (int a = 0; a &lt; A; ++a) {</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float t = y*c_cos[a] - x*c_sin[a] + D/2;</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int i = floorf(t);  float w = t - i;</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acc += (1-w)*__ldg(p+i) + w*__ldg(p+i+1);</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  img[s][row][col] = acc * PI / (2*A);  }</a:t>
            </a:r>
            <a:endParaRPr lang="en-US" sz="1000" dirty="0"/>
          </a:p>
        </p:txBody>
      </p:sp>
      <p:sp>
        <p:nvSpPr>
          <p:cNvPr id="10" name="Text 8"/>
          <p:cNvSpPr txBox="1"/>
          <p:nvPr/>
        </p:nvSpPr>
        <p:spPr>
          <a:xfrm>
            <a:off x="6400800" y="1325880"/>
            <a:ext cx="52120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What happens</a:t>
            </a:r>
            <a:endParaRPr lang="en-US" sz="1500" dirty="0"/>
          </a:p>
        </p:txBody>
      </p:sp>
      <p:sp>
        <p:nvSpPr>
          <p:cNvPr id="11" name="Text 9"/>
          <p:cNvSpPr txBox="1"/>
          <p:nvPr/>
        </p:nvSpPr>
        <p:spPr>
          <a:xfrm>
            <a:off x="6400800" y="1691640"/>
            <a:ext cx="5212080" cy="27432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Ramp filter |f| sharpens each projection; without it the image is blurred</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Each thread owns one pixel (x, y) of one slice s and loops over all 256 angles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t = position where the pixel projects onto the detector; linear interpolation between the 2 nearest bins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cos/sin tables in constant memory (computed once on the host)</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__ldg reads the sinogram through the read-only cache</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Grid 16 × 16 × 128 blocks of 16 × 16 → every pixel of every slice in one launch</a:t>
            </a:r>
            <a:endParaRPr lang="en-US" sz="1250" dirty="0"/>
          </a:p>
        </p:txBody>
      </p:sp>
      <p:pic>
        <p:nvPicPr>
          <p:cNvPr id="12" name="ct-fbp-figure" descr="phantom, sinogram, CPU and GPU reconstructions">    </p:cNvPr>
          <p:cNvPicPr>
            <a:picLocks noChangeAspect="1"/>
          </p:cNvPicPr>
          <p:nvPr/>
        </p:nvPicPr>
        <p:blipFill>
          <a:blip r:embed="rId1"/>
          <a:stretch>
            <a:fillRect/>
          </a:stretch>
        </p:blipFill>
        <p:spPr>
          <a:xfrm>
            <a:off x="6400800" y="4649554"/>
            <a:ext cx="5212080" cy="1353653"/>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4  ·  IMPLEMENTATION &amp; VISUALISATION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2 code: iterative MRI reconstruction</a:t>
            </a:r>
            <a:endParaRPr lang="en-US" sz="3400" dirty="0"/>
          </a:p>
        </p:txBody>
      </p:sp>
      <p:sp>
        <p:nvSpPr>
          <p:cNvPr id="4" name="code-bg"/>
          <p:cNvSpPr/>
          <p:nvPr/>
        </p:nvSpPr>
        <p:spPr>
          <a:xfrm>
            <a:off x="548640" y="1325880"/>
            <a:ext cx="5852160" cy="3291840"/>
          </a:xfrm>
          <a:prstGeom prst="roundRect">
            <a:avLst>
              <a:gd name="adj" fmla="val 1667"/>
            </a:avLst>
          </a:prstGeom>
          <a:solidFill>
            <a:srgbClr val="1A1A1A"/>
          </a:solidFill>
          <a:ln/>
        </p:spPr>
      </p:sp>
      <p:sp>
        <p:nvSpPr>
          <p:cNvPr id="5" name="Text 3"/>
          <p:cNvSpPr txBox="1"/>
          <p:nvPr/>
        </p:nvSpPr>
        <p:spPr>
          <a:xfrm>
            <a:off x="731520" y="1463040"/>
            <a:ext cx="5486400" cy="3017520"/>
          </a:xfrm>
          <a:prstGeom prst="rect">
            <a:avLst/>
          </a:prstGeom>
          <a:noFill/>
          <a:ln/>
        </p:spPr>
        <p:txBody>
          <a:bodyPr wrap="square" lIns="0" tIns="0" rIns="0" bIns="0" rtlCol="0" anchor="t"/>
          <a:lstStyle/>
          <a:p>
            <a:pPr indent="0" marL="0">
              <a:buNone/>
            </a:pPr>
            <a:r>
              <a:rPr lang="en-US" sz="1050" dirty="0">
                <a:solidFill>
                  <a:srgbClr val="F2F2F2"/>
                </a:solidFill>
                <a:latin typeface="Courier New" pitchFamily="34" charset="0"/>
                <a:ea typeface="Courier New" pitchFamily="34" charset="-122"/>
                <a:cs typeface="Courier New" pitchFamily="34" charset="-120"/>
              </a:rPr>
              <a:t>def make_mask(n, accel=4, centre_frac=0.08):</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keep[n//2 - c//2 : n//2 + c//2] = True   # centre lines</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keep[random other lines] = True          # total n/4</a:t>
            </a:r>
            <a:endParaRPr lang="en-US" sz="1050" dirty="0"/>
          </a:p>
          <a:p>
            <a:pPr indent="0" marL="0">
              <a:buNone/>
            </a:pP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def cs_recon(y, mask, iters=200, lam=0.005):</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x = ifft2c(y).real                # zero-filled start</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for _ in range(iters):</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x = x - lam * tv_grad(x)      # 1) smooth noise/aliasing</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k = fft2c(x)                  # 2) to k-space</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k = k*(1-mask) + y*mask       # 3) keep measured data</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x = ifft2c(k).real            # 4) back to image</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return x</a:t>
            </a:r>
            <a:endParaRPr lang="en-US" sz="1050" dirty="0"/>
          </a:p>
        </p:txBody>
      </p:sp>
      <p:sp>
        <p:nvSpPr>
          <p:cNvPr id="6" name="Text 4"/>
          <p:cNvSpPr txBox="1"/>
          <p:nvPr/>
        </p:nvSpPr>
        <p:spPr>
          <a:xfrm>
            <a:off x="6675120" y="1325880"/>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What each step does</a:t>
            </a:r>
            <a:endParaRPr lang="en-US" sz="1500" dirty="0"/>
          </a:p>
        </p:txBody>
      </p:sp>
      <p:sp>
        <p:nvSpPr>
          <p:cNvPr id="7" name="Text 5"/>
          <p:cNvSpPr txBox="1"/>
          <p:nvPr/>
        </p:nvSpPr>
        <p:spPr>
          <a:xfrm>
            <a:off x="6675120" y="1691640"/>
            <a:ext cx="4937760" cy="29260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Mask keeps 25% of k-space lines: the centre (contrast) + random lines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tv_grad: gradient of total variation, which penalises noise and streaks but keeps edges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Data consistency: measured k-space values are put back exactly every iteration</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200 iterations × 2 FFTs = 400 FFTs per slice</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Same function runs on CPU or GPU: tensors on device='cuda' make every FFT a cuFFT call</a:t>
            </a:r>
            <a:endParaRPr lang="en-US" sz="1250" dirty="0"/>
          </a:p>
        </p:txBody>
      </p:sp>
      <p:pic>
        <p:nvPicPr>
          <p:cNvPr id="8" name="mri-figure" descr="MRI reconstruction steps">    </p:cNvPr>
          <p:cNvPicPr>
            <a:picLocks noChangeAspect="1"/>
          </p:cNvPicPr>
          <p:nvPr/>
        </p:nvPicPr>
        <p:blipFill>
          <a:blip r:embed="rId1"/>
          <a:stretch>
            <a:fillRect/>
          </a:stretch>
        </p:blipFill>
        <p:spPr>
          <a:xfrm>
            <a:off x="2856960" y="4754880"/>
            <a:ext cx="6447600" cy="13716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4  ·  IMPLEMENTATION &amp; VISUALISATION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4 code: training and running the U-Net on the GPU</a:t>
            </a:r>
            <a:endParaRPr lang="en-US" sz="3400" dirty="0"/>
          </a:p>
        </p:txBody>
      </p:sp>
      <p:sp>
        <p:nvSpPr>
          <p:cNvPr id="4" name="code-bg"/>
          <p:cNvSpPr/>
          <p:nvPr/>
        </p:nvSpPr>
        <p:spPr>
          <a:xfrm>
            <a:off x="548640" y="1325880"/>
            <a:ext cx="6035040" cy="3931920"/>
          </a:xfrm>
          <a:prstGeom prst="roundRect">
            <a:avLst>
              <a:gd name="adj" fmla="val 1395"/>
            </a:avLst>
          </a:prstGeom>
          <a:solidFill>
            <a:srgbClr val="1A1A1A"/>
          </a:solidFill>
          <a:ln/>
        </p:spPr>
      </p:sp>
      <p:sp>
        <p:nvSpPr>
          <p:cNvPr id="5" name="Text 3"/>
          <p:cNvSpPr txBox="1"/>
          <p:nvPr/>
        </p:nvSpPr>
        <p:spPr>
          <a:xfrm>
            <a:off x="731520" y="1463040"/>
            <a:ext cx="5669280" cy="3657600"/>
          </a:xfrm>
          <a:prstGeom prst="rect">
            <a:avLst/>
          </a:prstGeom>
          <a:noFill/>
          <a:ln/>
        </p:spPr>
        <p:txBody>
          <a:bodyPr wrap="square" lIns="0" tIns="0" rIns="0" bIns="0" rtlCol="0" anchor="t"/>
          <a:lstStyle/>
          <a:p>
            <a:pPr indent="0" marL="0">
              <a:buNone/>
            </a:pPr>
            <a:r>
              <a:rPr lang="en-US" sz="1050" dirty="0">
                <a:solidFill>
                  <a:srgbClr val="F2F2F2"/>
                </a:solidFill>
                <a:latin typeface="Courier New" pitchFamily="34" charset="0"/>
                <a:ea typeface="Courier New" pitchFamily="34" charset="-122"/>
                <a:cs typeface="Courier New" pitchFamily="34" charset="-120"/>
              </a:rPr>
              <a:t>model = UNet().to('cuda').to(memory_format=torch.channels_last)</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opt = torch.optim.Adam(model.parameters(), 1e-3)</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scaler = torch.amp.GradScaler('cuda')</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X, Y = torch.from_numpy(xtr).cuda(), torch.from_numpy(ytr).cuda()</a:t>
            </a:r>
            <a:endParaRPr lang="en-US" sz="1050" dirty="0"/>
          </a:p>
          <a:p>
            <a:pPr indent="0" marL="0">
              <a:buNone/>
            </a:pP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def train_step(x, y):</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opt.zero_grad(set_to_none=True)</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with torch.autocast('cuda', dtype=torch.float16):</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out = model(x)</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loss = bce(out, y) + dice_loss(out.float(), y)</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scaler.scale(loss).backward()   # avoid FP16 underflow</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scaler.step(opt); scaler.update()</a:t>
            </a:r>
            <a:endParaRPr lang="en-US" sz="1050" dirty="0"/>
          </a:p>
          <a:p>
            <a:pPr indent="0" marL="0">
              <a:buNone/>
            </a:pP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inference</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with torch.no_grad(), torch.autocast('cuda', torch.float16):</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mask = model(X_test) &gt; 0</a:t>
            </a:r>
            <a:endParaRPr lang="en-US" sz="1050" dirty="0"/>
          </a:p>
        </p:txBody>
      </p:sp>
      <p:sp>
        <p:nvSpPr>
          <p:cNvPr id="6" name="Text 4"/>
          <p:cNvSpPr txBox="1"/>
          <p:nvPr/>
        </p:nvSpPr>
        <p:spPr>
          <a:xfrm>
            <a:off x="6858000" y="1325880"/>
            <a:ext cx="47548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Implementation details</a:t>
            </a:r>
            <a:endParaRPr lang="en-US" sz="1500" dirty="0"/>
          </a:p>
        </p:txBody>
      </p:sp>
      <p:sp>
        <p:nvSpPr>
          <p:cNvPr id="7" name="Text 5"/>
          <p:cNvSpPr txBox="1"/>
          <p:nvPr/>
        </p:nvSpPr>
        <p:spPr>
          <a:xfrm>
            <a:off x="6858000" y="1691640"/>
            <a:ext cx="4754880" cy="35661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Whole dataset copied to the GPU once (2,000 × 128² floats ≈ 131 MB), so no PCIe traffic per batch</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autocast runs convolutions in FP16 on Tensor Cores; loss stays FP32</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GradScaler multiplies the loss so small FP16 gradients do not become zero</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channels_last memory layout = cuDNN's fastest format</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Lesion generator: body ellipse + 2–3 organs + 1–3 lesions (±0.12–0.2 intensity), blur σ = 1, noise σ = 0.04</a:t>
            </a:r>
            <a:endParaRPr lang="en-US" sz="1250" dirty="0"/>
          </a:p>
        </p:txBody>
      </p:sp>
      <p:sp>
        <p:nvSpPr>
          <p:cNvPr id="8" name="unet-num-0"/>
          <p:cNvSpPr/>
          <p:nvPr/>
        </p:nvSpPr>
        <p:spPr>
          <a:xfrm>
            <a:off x="548640" y="5440680"/>
            <a:ext cx="2633472" cy="731520"/>
          </a:xfrm>
          <a:prstGeom prst="roundRect">
            <a:avLst>
              <a:gd name="adj" fmla="val 10000"/>
            </a:avLst>
          </a:prstGeom>
          <a:solidFill>
            <a:schemeClr val="bg2"/>
          </a:solidFill>
          <a:ln w="9525">
            <a:solidFill>
              <a:srgbClr val="D9D9D9"/>
            </a:solidFill>
            <a:prstDash val="solid"/>
          </a:ln>
        </p:spPr>
      </p:sp>
      <p:sp>
        <p:nvSpPr>
          <p:cNvPr id="9" name="Text 7"/>
          <p:cNvSpPr txBox="1"/>
          <p:nvPr/>
        </p:nvSpPr>
        <p:spPr>
          <a:xfrm>
            <a:off x="731520" y="5468112"/>
            <a:ext cx="137160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107.3 s</a:t>
            </a:r>
            <a:endParaRPr lang="en-US" sz="2200" dirty="0"/>
          </a:p>
        </p:txBody>
      </p:sp>
      <p:sp>
        <p:nvSpPr>
          <p:cNvPr id="10" name="Text 8"/>
          <p:cNvSpPr txBox="1"/>
          <p:nvPr/>
        </p:nvSpPr>
        <p:spPr>
          <a:xfrm>
            <a:off x="2011680" y="5468112"/>
            <a:ext cx="1097280" cy="685800"/>
          </a:xfrm>
          <a:prstGeom prst="rect">
            <a:avLst/>
          </a:prstGeom>
          <a:noFill/>
          <a:ln/>
        </p:spPr>
        <p:txBody>
          <a:bodyPr wrap="square" lIns="0" tIns="0" rIns="0" bIns="0" rtlCol="0" anchor="ctr"/>
          <a:lstStyle/>
          <a:p>
            <a:pPr indent="0" marL="0">
              <a:buNone/>
            </a:pPr>
            <a:r>
              <a:rPr lang="en-US" sz="1200" dirty="0">
                <a:solidFill>
                  <a:srgbClr val="595959"/>
                </a:solidFill>
                <a:latin typeface="Calibri" pitchFamily="34" charset="0"/>
                <a:ea typeface="Calibri" pitchFamily="34" charset="-122"/>
                <a:cs typeface="Calibri" pitchFamily="34" charset="-120"/>
              </a:rPr>
              <a:t>CPU epoch</a:t>
            </a:r>
            <a:endParaRPr lang="en-US" sz="1200" dirty="0"/>
          </a:p>
        </p:txBody>
      </p:sp>
      <p:sp>
        <p:nvSpPr>
          <p:cNvPr id="11" name="unet-num-1"/>
          <p:cNvSpPr/>
          <p:nvPr/>
        </p:nvSpPr>
        <p:spPr>
          <a:xfrm>
            <a:off x="3364992" y="5440680"/>
            <a:ext cx="2633472" cy="731520"/>
          </a:xfrm>
          <a:prstGeom prst="roundRect">
            <a:avLst>
              <a:gd name="adj" fmla="val 10000"/>
            </a:avLst>
          </a:prstGeom>
          <a:solidFill>
            <a:schemeClr val="bg2"/>
          </a:solidFill>
          <a:ln w="9525">
            <a:solidFill>
              <a:srgbClr val="D9D9D9"/>
            </a:solidFill>
            <a:prstDash val="solid"/>
          </a:ln>
        </p:spPr>
      </p:sp>
      <p:sp>
        <p:nvSpPr>
          <p:cNvPr id="12" name="Text 10"/>
          <p:cNvSpPr txBox="1"/>
          <p:nvPr/>
        </p:nvSpPr>
        <p:spPr>
          <a:xfrm>
            <a:off x="3547872" y="5468112"/>
            <a:ext cx="137160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12.4 s</a:t>
            </a:r>
            <a:endParaRPr lang="en-US" sz="2200" dirty="0"/>
          </a:p>
        </p:txBody>
      </p:sp>
      <p:sp>
        <p:nvSpPr>
          <p:cNvPr id="13" name="Text 11"/>
          <p:cNvSpPr txBox="1"/>
          <p:nvPr/>
        </p:nvSpPr>
        <p:spPr>
          <a:xfrm>
            <a:off x="4828032" y="5468112"/>
            <a:ext cx="1097280" cy="685800"/>
          </a:xfrm>
          <a:prstGeom prst="rect">
            <a:avLst/>
          </a:prstGeom>
          <a:noFill/>
          <a:ln/>
        </p:spPr>
        <p:txBody>
          <a:bodyPr wrap="square" lIns="0" tIns="0" rIns="0" bIns="0" rtlCol="0" anchor="ctr"/>
          <a:lstStyle/>
          <a:p>
            <a:pPr indent="0" marL="0">
              <a:buNone/>
            </a:pPr>
            <a:r>
              <a:rPr lang="en-US" sz="1200" dirty="0">
                <a:solidFill>
                  <a:srgbClr val="595959"/>
                </a:solidFill>
                <a:latin typeface="Calibri" pitchFamily="34" charset="0"/>
                <a:ea typeface="Calibri" pitchFamily="34" charset="-122"/>
                <a:cs typeface="Calibri" pitchFamily="34" charset="-120"/>
              </a:rPr>
              <a:t>GPU epoch</a:t>
            </a:r>
            <a:endParaRPr lang="en-US" sz="1200" dirty="0"/>
          </a:p>
        </p:txBody>
      </p:sp>
      <p:sp>
        <p:nvSpPr>
          <p:cNvPr id="14" name="unet-num-2"/>
          <p:cNvSpPr/>
          <p:nvPr/>
        </p:nvSpPr>
        <p:spPr>
          <a:xfrm>
            <a:off x="6181344" y="5440680"/>
            <a:ext cx="2633472" cy="731520"/>
          </a:xfrm>
          <a:prstGeom prst="roundRect">
            <a:avLst>
              <a:gd name="adj" fmla="val 10000"/>
            </a:avLst>
          </a:prstGeom>
          <a:solidFill>
            <a:schemeClr val="bg2"/>
          </a:solidFill>
          <a:ln w="9525">
            <a:solidFill>
              <a:srgbClr val="D9D9D9"/>
            </a:solidFill>
            <a:prstDash val="solid"/>
          </a:ln>
        </p:spPr>
      </p:sp>
      <p:sp>
        <p:nvSpPr>
          <p:cNvPr id="15" name="Text 13"/>
          <p:cNvSpPr txBox="1"/>
          <p:nvPr/>
        </p:nvSpPr>
        <p:spPr>
          <a:xfrm>
            <a:off x="6364224" y="5468112"/>
            <a:ext cx="137160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310 s</a:t>
            </a:r>
            <a:endParaRPr lang="en-US" sz="2200" dirty="0"/>
          </a:p>
        </p:txBody>
      </p:sp>
      <p:sp>
        <p:nvSpPr>
          <p:cNvPr id="16" name="Text 14"/>
          <p:cNvSpPr txBox="1"/>
          <p:nvPr/>
        </p:nvSpPr>
        <p:spPr>
          <a:xfrm>
            <a:off x="7644384" y="5468112"/>
            <a:ext cx="1097280" cy="685800"/>
          </a:xfrm>
          <a:prstGeom prst="rect">
            <a:avLst/>
          </a:prstGeom>
          <a:noFill/>
          <a:ln/>
        </p:spPr>
        <p:txBody>
          <a:bodyPr wrap="square" lIns="0" tIns="0" rIns="0" bIns="0" rtlCol="0" anchor="ctr"/>
          <a:lstStyle/>
          <a:p>
            <a:pPr indent="0" marL="0">
              <a:buNone/>
            </a:pPr>
            <a:r>
              <a:rPr lang="en-US" sz="1200" dirty="0">
                <a:solidFill>
                  <a:srgbClr val="595959"/>
                </a:solidFill>
                <a:latin typeface="Calibri" pitchFamily="34" charset="0"/>
                <a:ea typeface="Calibri" pitchFamily="34" charset="-122"/>
                <a:cs typeface="Calibri" pitchFamily="34" charset="-120"/>
              </a:rPr>
              <a:t>Total GPU training</a:t>
            </a:r>
            <a:endParaRPr lang="en-US" sz="1200" dirty="0"/>
          </a:p>
        </p:txBody>
      </p:sp>
      <p:sp>
        <p:nvSpPr>
          <p:cNvPr id="17" name="unet-num-3"/>
          <p:cNvSpPr/>
          <p:nvPr/>
        </p:nvSpPr>
        <p:spPr>
          <a:xfrm>
            <a:off x="8997696" y="5440680"/>
            <a:ext cx="2633472" cy="731520"/>
          </a:xfrm>
          <a:prstGeom prst="roundRect">
            <a:avLst>
              <a:gd name="adj" fmla="val 10000"/>
            </a:avLst>
          </a:prstGeom>
          <a:solidFill>
            <a:schemeClr val="bg2"/>
          </a:solidFill>
          <a:ln w="9525">
            <a:solidFill>
              <a:srgbClr val="D9D9D9"/>
            </a:solidFill>
            <a:prstDash val="solid"/>
          </a:ln>
        </p:spPr>
      </p:sp>
      <p:sp>
        <p:nvSpPr>
          <p:cNvPr id="18" name="Text 16"/>
          <p:cNvSpPr txBox="1"/>
          <p:nvPr/>
        </p:nvSpPr>
        <p:spPr>
          <a:xfrm>
            <a:off x="9180576" y="5468112"/>
            <a:ext cx="137160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0.909</a:t>
            </a:r>
            <a:endParaRPr lang="en-US" sz="2200" dirty="0"/>
          </a:p>
        </p:txBody>
      </p:sp>
      <p:sp>
        <p:nvSpPr>
          <p:cNvPr id="19" name="Text 17"/>
          <p:cNvSpPr txBox="1"/>
          <p:nvPr/>
        </p:nvSpPr>
        <p:spPr>
          <a:xfrm>
            <a:off x="10460736" y="5468112"/>
            <a:ext cx="1097280" cy="685800"/>
          </a:xfrm>
          <a:prstGeom prst="rect">
            <a:avLst/>
          </a:prstGeom>
          <a:noFill/>
          <a:ln/>
        </p:spPr>
        <p:txBody>
          <a:bodyPr wrap="square" lIns="0" tIns="0" rIns="0" bIns="0" rtlCol="0" anchor="ctr"/>
          <a:lstStyle/>
          <a:p>
            <a:pPr indent="0" marL="0">
              <a:buNone/>
            </a:pPr>
            <a:r>
              <a:rPr lang="en-US" sz="1200" dirty="0">
                <a:solidFill>
                  <a:srgbClr val="595959"/>
                </a:solidFill>
                <a:latin typeface="Calibri" pitchFamily="34" charset="0"/>
                <a:ea typeface="Calibri" pitchFamily="34" charset="-122"/>
                <a:cs typeface="Calibri" pitchFamily="34" charset="-120"/>
              </a:rPr>
              <a:t>Test Dice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4  ·  IMPLEMENTATION &amp; VISUALISATION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5 code: 3D visualisation by ray casting</a:t>
            </a:r>
            <a:endParaRPr lang="en-US" sz="3400" dirty="0"/>
          </a:p>
        </p:txBody>
      </p:sp>
      <p:pic>
        <p:nvPicPr>
          <p:cNvPr id="4" name="render-figure" descr="MIP and volume rendering views">    </p:cNvPr>
          <p:cNvPicPr>
            <a:picLocks noChangeAspect="1"/>
          </p:cNvPicPr>
          <p:nvPr/>
        </p:nvPicPr>
        <p:blipFill>
          <a:blip r:embed="rId1"/>
          <a:stretch>
            <a:fillRect/>
          </a:stretch>
        </p:blipFill>
        <p:spPr>
          <a:xfrm>
            <a:off x="548640" y="1325880"/>
            <a:ext cx="6035040" cy="2803338"/>
          </a:xfrm>
          <a:prstGeom prst="rect">
            <a:avLst/>
          </a:prstGeom>
        </p:spPr>
      </p:pic>
      <p:sp>
        <p:nvSpPr>
          <p:cNvPr id="5" name="Text 2"/>
          <p:cNvSpPr txBox="1"/>
          <p:nvPr/>
        </p:nvSpPr>
        <p:spPr>
          <a:xfrm>
            <a:off x="6858000" y="1325880"/>
            <a:ext cx="47548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Equations</a:t>
            </a:r>
            <a:endParaRPr lang="en-US" sz="1500" dirty="0"/>
          </a:p>
        </p:txBody>
      </p:sp>
      <p:sp>
        <p:nvSpPr>
          <p:cNvPr id="6" name="Text 3"/>
          <p:cNvSpPr txBox="1"/>
          <p:nvPr/>
        </p:nvSpPr>
        <p:spPr>
          <a:xfrm>
            <a:off x="6858000" y="1691640"/>
            <a:ext cx="4754880" cy="24688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MIP (top row): pixel = max over the ray of v(sample)</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Volume rendering (bottom): C = Σᵢ cᵢ · αᵢ · Πⱼ&lt;ᵢ (1 − αⱼ), front-to-back</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Transfer function: α = 0.25 · clamp((v − 0.25)/0.35, 0, 1) + 0.004 · [v &gt; 0.08] → bone opaque, soft tissue faint</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Each view: rotate the volume with trilinear grid_sample, then march along depth</a:t>
            </a:r>
            <a:endParaRPr lang="en-US" sz="1250" dirty="0"/>
          </a:p>
        </p:txBody>
      </p:sp>
      <p:sp>
        <p:nvSpPr>
          <p:cNvPr id="7" name="code-bg"/>
          <p:cNvSpPr/>
          <p:nvPr/>
        </p:nvSpPr>
        <p:spPr>
          <a:xfrm>
            <a:off x="548640" y="4343400"/>
            <a:ext cx="6675120" cy="1783080"/>
          </a:xfrm>
          <a:prstGeom prst="roundRect">
            <a:avLst>
              <a:gd name="adj" fmla="val 3077"/>
            </a:avLst>
          </a:prstGeom>
          <a:solidFill>
            <a:srgbClr val="1A1A1A"/>
          </a:solidFill>
          <a:ln/>
        </p:spPr>
      </p:sp>
      <p:sp>
        <p:nvSpPr>
          <p:cNvPr id="8" name="Text 5"/>
          <p:cNvSpPr txBox="1"/>
          <p:nvPr/>
        </p:nvSpPr>
        <p:spPr>
          <a:xfrm>
            <a:off x="731520" y="4480560"/>
            <a:ext cx="6309360" cy="1508760"/>
          </a:xfrm>
          <a:prstGeom prst="rect">
            <a:avLst/>
          </a:prstGeom>
          <a:noFill/>
          <a:ln/>
        </p:spPr>
        <p:txBody>
          <a:bodyPr wrap="square" lIns="0" tIns="0" rIns="0" bIns="0" rtlCol="0" anchor="t"/>
          <a:lstStyle/>
          <a:p>
            <a:pPr indent="0" marL="0">
              <a:buNone/>
            </a:pPr>
            <a:r>
              <a:rPr lang="en-US" sz="1050" dirty="0">
                <a:solidFill>
                  <a:srgbClr val="F2F2F2"/>
                </a:solidFill>
                <a:latin typeface="Courier New" pitchFamily="34" charset="0"/>
                <a:ea typeface="Courier New" pitchFamily="34" charset="-122"/>
                <a:cs typeface="Courier New" pitchFamily="34" charset="-120"/>
              </a:rPr>
              <a:t>def dvr(v, opacity=0.25):          # v: [1,1,D,H,W] on GPU</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d = v.clamp(0, 1)</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alpha = opacity*((d-0.25)/0.35).clamp(0,1) + 0.004*(d&gt;0.08)</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trans = torch.cumprod(torch.cat([ones, 1-alpha[:,:,:-1]], 2), 2)</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return (d * alpha * trans).sum(2)   # one value per ray</a:t>
            </a:r>
            <a:endParaRPr lang="en-US" sz="1050" dirty="0"/>
          </a:p>
          <a:p>
            <a:pPr indent="0" marL="0">
              <a:buNone/>
            </a:pP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for angle in range(0, 360, 10):          # 36 views</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frame = dvr(rotate(volume, angle))</a:t>
            </a:r>
            <a:endParaRPr lang="en-US" sz="1050" dirty="0"/>
          </a:p>
        </p:txBody>
      </p:sp>
      <p:sp>
        <p:nvSpPr>
          <p:cNvPr id="9" name="render-card"/>
          <p:cNvSpPr/>
          <p:nvPr/>
        </p:nvSpPr>
        <p:spPr>
          <a:xfrm>
            <a:off x="7498080" y="4343400"/>
            <a:ext cx="4114800" cy="1783080"/>
          </a:xfrm>
          <a:prstGeom prst="roundRect">
            <a:avLst>
              <a:gd name="adj" fmla="val 4103"/>
            </a:avLst>
          </a:prstGeom>
          <a:solidFill>
            <a:schemeClr val="bg2"/>
          </a:solidFill>
          <a:ln w="9525">
            <a:solidFill>
              <a:srgbClr val="D9D9D9"/>
            </a:solidFill>
            <a:prstDash val="solid"/>
          </a:ln>
        </p:spPr>
      </p:sp>
      <p:sp>
        <p:nvSpPr>
          <p:cNvPr id="10" name="Text 7"/>
          <p:cNvSpPr txBox="1"/>
          <p:nvPr/>
        </p:nvSpPr>
        <p:spPr>
          <a:xfrm>
            <a:off x="7726680" y="4389120"/>
            <a:ext cx="3657600" cy="685800"/>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69 fps</a:t>
            </a:r>
            <a:endParaRPr lang="en-US" sz="3400" dirty="0"/>
          </a:p>
        </p:txBody>
      </p:sp>
      <p:sp>
        <p:nvSpPr>
          <p:cNvPr id="11" name="Text 8"/>
          <p:cNvSpPr txBox="1"/>
          <p:nvPr/>
        </p:nvSpPr>
        <p:spPr>
          <a:xfrm>
            <a:off x="7726680" y="5120640"/>
            <a:ext cx="365760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on GPU vs 2.2 fps on CPU (31×), real head CT 256 × 226 × 256</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4  ·  IMPLEMENTATION &amp; VISUALISATION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Outputs: original, filtered and segmented images</a:t>
            </a:r>
            <a:endParaRPr lang="en-US" sz="3400" dirty="0"/>
          </a:p>
        </p:txBody>
      </p:sp>
      <p:pic>
        <p:nvPicPr>
          <p:cNvPr id="4" name="gal-noisy" descr="Original: noisy CT (σ = 0.08)">    </p:cNvPr>
          <p:cNvPicPr>
            <a:picLocks noChangeAspect="1"/>
          </p:cNvPicPr>
          <p:nvPr/>
        </p:nvPicPr>
        <p:blipFill>
          <a:blip r:embed="rId1"/>
          <a:stretch>
            <a:fillRect/>
          </a:stretch>
        </p:blipFill>
        <p:spPr>
          <a:xfrm>
            <a:off x="905256" y="1325880"/>
            <a:ext cx="1920240" cy="1920240"/>
          </a:xfrm>
          <a:prstGeom prst="rect">
            <a:avLst/>
          </a:prstGeom>
        </p:spPr>
      </p:pic>
      <p:sp>
        <p:nvSpPr>
          <p:cNvPr id="5" name="Text 2"/>
          <p:cNvSpPr txBox="1"/>
          <p:nvPr/>
        </p:nvSpPr>
        <p:spPr>
          <a:xfrm>
            <a:off x="548640" y="3291840"/>
            <a:ext cx="2633472" cy="3200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Original: noisy CT (σ = 0.08)</a:t>
            </a:r>
            <a:endParaRPr lang="en-US" sz="1200" dirty="0"/>
          </a:p>
        </p:txBody>
      </p:sp>
      <p:pic>
        <p:nvPicPr>
          <p:cNvPr id="6" name="gal-denoised" descr="Filtered: Gaussian 5³ on GPU">    </p:cNvPr>
          <p:cNvPicPr>
            <a:picLocks noChangeAspect="1"/>
          </p:cNvPicPr>
          <p:nvPr/>
        </p:nvPicPr>
        <p:blipFill>
          <a:blip r:embed="rId2"/>
          <a:stretch>
            <a:fillRect/>
          </a:stretch>
        </p:blipFill>
        <p:spPr>
          <a:xfrm>
            <a:off x="3721608" y="1325880"/>
            <a:ext cx="1920240" cy="1920240"/>
          </a:xfrm>
          <a:prstGeom prst="rect">
            <a:avLst/>
          </a:prstGeom>
        </p:spPr>
      </p:pic>
      <p:sp>
        <p:nvSpPr>
          <p:cNvPr id="7" name="Text 3"/>
          <p:cNvSpPr txBox="1"/>
          <p:nvPr/>
        </p:nvSpPr>
        <p:spPr>
          <a:xfrm>
            <a:off x="3364992" y="3291840"/>
            <a:ext cx="2633472" cy="32004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Filtered: Gaussian 5³ on GPU</a:t>
            </a:r>
            <a:endParaRPr lang="en-US" sz="1200" dirty="0"/>
          </a:p>
        </p:txBody>
      </p:sp>
      <p:pic>
        <p:nvPicPr>
          <p:cNvPr id="8" name="gal-ct_norm" descr="Original: real head CT">    </p:cNvPr>
          <p:cNvPicPr>
            <a:picLocks noChangeAspect="1"/>
          </p:cNvPicPr>
          <p:nvPr/>
        </p:nvPicPr>
        <p:blipFill>
          <a:blip r:embed="rId3"/>
          <a:stretch>
            <a:fillRect/>
          </a:stretch>
        </p:blipFill>
        <p:spPr>
          <a:xfrm>
            <a:off x="6537960" y="1325880"/>
            <a:ext cx="1920240" cy="1920240"/>
          </a:xfrm>
          <a:prstGeom prst="rect">
            <a:avLst/>
          </a:prstGeom>
        </p:spPr>
      </p:pic>
      <p:sp>
        <p:nvSpPr>
          <p:cNvPr id="9" name="Text 4"/>
          <p:cNvSpPr txBox="1"/>
          <p:nvPr/>
        </p:nvSpPr>
        <p:spPr>
          <a:xfrm>
            <a:off x="6181344" y="3291840"/>
            <a:ext cx="2633472" cy="3200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Original: real head CT</a:t>
            </a:r>
            <a:endParaRPr lang="en-US" sz="1200" dirty="0"/>
          </a:p>
        </p:txBody>
      </p:sp>
      <p:pic>
        <p:nvPicPr>
          <p:cNvPr id="10" name="gal-ct_labels" descr="Segmented: Otsu air / tissue / bone">    </p:cNvPr>
          <p:cNvPicPr>
            <a:picLocks noChangeAspect="1"/>
          </p:cNvPicPr>
          <p:nvPr/>
        </p:nvPicPr>
        <p:blipFill>
          <a:blip r:embed="rId4"/>
          <a:stretch>
            <a:fillRect/>
          </a:stretch>
        </p:blipFill>
        <p:spPr>
          <a:xfrm>
            <a:off x="9354312" y="1325880"/>
            <a:ext cx="1920240" cy="1920240"/>
          </a:xfrm>
          <a:prstGeom prst="rect">
            <a:avLst/>
          </a:prstGeom>
        </p:spPr>
      </p:pic>
      <p:sp>
        <p:nvSpPr>
          <p:cNvPr id="11" name="Text 5"/>
          <p:cNvSpPr txBox="1"/>
          <p:nvPr/>
        </p:nvSpPr>
        <p:spPr>
          <a:xfrm>
            <a:off x="8997696" y="3291840"/>
            <a:ext cx="2633472" cy="32004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Segmented: Otsu air / tissue / bone</a:t>
            </a:r>
            <a:endParaRPr lang="en-US" sz="1200" dirty="0"/>
          </a:p>
        </p:txBody>
      </p:sp>
      <p:pic>
        <p:nvPicPr>
          <p:cNvPr id="12" name="gal-lesion_input" descr="Original: lesion slice">    </p:cNvPr>
          <p:cNvPicPr>
            <a:picLocks noChangeAspect="1"/>
          </p:cNvPicPr>
          <p:nvPr/>
        </p:nvPicPr>
        <p:blipFill>
          <a:blip r:embed="rId5"/>
          <a:stretch>
            <a:fillRect/>
          </a:stretch>
        </p:blipFill>
        <p:spPr>
          <a:xfrm>
            <a:off x="905256" y="3776472"/>
            <a:ext cx="1920240" cy="1920240"/>
          </a:xfrm>
          <a:prstGeom prst="rect">
            <a:avLst/>
          </a:prstGeom>
        </p:spPr>
      </p:pic>
      <p:sp>
        <p:nvSpPr>
          <p:cNvPr id="13" name="Text 6"/>
          <p:cNvSpPr txBox="1"/>
          <p:nvPr/>
        </p:nvSpPr>
        <p:spPr>
          <a:xfrm>
            <a:off x="548640" y="5742432"/>
            <a:ext cx="2633472" cy="3200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Original: lesion slice</a:t>
            </a:r>
            <a:endParaRPr lang="en-US" sz="1200" dirty="0"/>
          </a:p>
        </p:txBody>
      </p:sp>
      <p:pic>
        <p:nvPicPr>
          <p:cNvPr id="14" name="gal-seg_overlay" descr="Segmented: U-Net (dashed) vs truth">    </p:cNvPr>
          <p:cNvPicPr>
            <a:picLocks noChangeAspect="1"/>
          </p:cNvPicPr>
          <p:nvPr/>
        </p:nvPicPr>
        <p:blipFill>
          <a:blip r:embed="rId6"/>
          <a:stretch>
            <a:fillRect/>
          </a:stretch>
        </p:blipFill>
        <p:spPr>
          <a:xfrm>
            <a:off x="3721608" y="3776472"/>
            <a:ext cx="1920240" cy="1920240"/>
          </a:xfrm>
          <a:prstGeom prst="rect">
            <a:avLst/>
          </a:prstGeom>
        </p:spPr>
      </p:pic>
      <p:sp>
        <p:nvSpPr>
          <p:cNvPr id="15" name="Text 7"/>
          <p:cNvSpPr txBox="1"/>
          <p:nvPr/>
        </p:nvSpPr>
        <p:spPr>
          <a:xfrm>
            <a:off x="3364992" y="5742432"/>
            <a:ext cx="2633472" cy="32004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Segmented: U-Net (dashed) vs truth</a:t>
            </a:r>
            <a:endParaRPr lang="en-US" sz="1200" dirty="0"/>
          </a:p>
        </p:txBody>
      </p:sp>
      <p:pic>
        <p:nvPicPr>
          <p:cNvPr id="16" name="gal-mri" descr="MRI reconstructed on GPU">    </p:cNvPr>
          <p:cNvPicPr>
            <a:picLocks noChangeAspect="1"/>
          </p:cNvPicPr>
          <p:nvPr/>
        </p:nvPicPr>
        <p:blipFill>
          <a:blip r:embed="rId7"/>
          <a:stretch>
            <a:fillRect/>
          </a:stretch>
        </p:blipFill>
        <p:spPr>
          <a:xfrm>
            <a:off x="6537960" y="3776472"/>
            <a:ext cx="1920240" cy="1920240"/>
          </a:xfrm>
          <a:prstGeom prst="rect">
            <a:avLst/>
          </a:prstGeom>
        </p:spPr>
      </p:pic>
      <p:sp>
        <p:nvSpPr>
          <p:cNvPr id="17" name="Text 8"/>
          <p:cNvSpPr txBox="1"/>
          <p:nvPr/>
        </p:nvSpPr>
        <p:spPr>
          <a:xfrm>
            <a:off x="6181344" y="5742432"/>
            <a:ext cx="2633472" cy="3200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MRI reconstructed on GPU</a:t>
            </a:r>
            <a:endParaRPr lang="en-US" sz="1200" dirty="0"/>
          </a:p>
        </p:txBody>
      </p:sp>
      <p:pic>
        <p:nvPicPr>
          <p:cNvPr id="18" name="gal-render" descr="3D volume rendering">    </p:cNvPr>
          <p:cNvPicPr>
            <a:picLocks noChangeAspect="1"/>
          </p:cNvPicPr>
          <p:nvPr/>
        </p:nvPicPr>
        <p:blipFill>
          <a:blip r:embed="rId8"/>
          <a:stretch>
            <a:fillRect/>
          </a:stretch>
        </p:blipFill>
        <p:spPr>
          <a:xfrm>
            <a:off x="9354312" y="3776472"/>
            <a:ext cx="1920240" cy="1920240"/>
          </a:xfrm>
          <a:prstGeom prst="rect">
            <a:avLst/>
          </a:prstGeom>
        </p:spPr>
      </p:pic>
      <p:sp>
        <p:nvSpPr>
          <p:cNvPr id="19" name="Text 9"/>
          <p:cNvSpPr txBox="1"/>
          <p:nvPr/>
        </p:nvSpPr>
        <p:spPr>
          <a:xfrm>
            <a:off x="8997696" y="5742432"/>
            <a:ext cx="2633472" cy="32004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3D volume rendering</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4  ·  IMPLEMENTATION &amp; VISUALISATION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Validation: GPU and CPU give the same answer</a:t>
            </a:r>
            <a:endParaRPr lang="en-US" sz="3400" dirty="0"/>
          </a:p>
        </p:txBody>
      </p:sp>
      <p:graphicFrame>
        <p:nvGraphicFramePr>
          <p:cNvPr id="25" name="verify-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926080"/>
                <a:gridCol w="2834640"/>
                <a:gridCol w="1920240"/>
                <a:gridCol w="338328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Max |CPU − GPU|</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Quality vs ground truth</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  CT reconstruction (128 slices)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same algorithm, compare volumes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2.5e-3</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PSNR 29.5 dB vs phantom</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  MRI iterative recon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same PyTorch code on both devices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4.1e-6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PSNR 25.6 dB (zero-filled 22.8)</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  Gaussian filter 256³</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SciPy vs our tiled kernel</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7.2e-7</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PSNR 21.9 → 25.3 dB</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4a Otsu threshold 59 M voxels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histogram + labels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 voxels differ</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histograms identical: yes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4b U-Net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same trained weights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Dice 0.909 on 200 test slices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5  Volume rendering</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same PyTorch code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1.9e-3</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visually identical frames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548640" y="443484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Metrics used</a:t>
            </a:r>
            <a:endParaRPr lang="en-US" sz="1500" dirty="0"/>
          </a:p>
        </p:txBody>
      </p:sp>
      <p:sp>
        <p:nvSpPr>
          <p:cNvPr id="6" name="Text 3"/>
          <p:cNvSpPr txBox="1"/>
          <p:nvPr/>
        </p:nvSpPr>
        <p:spPr>
          <a:xfrm>
            <a:off x="548640" y="4800600"/>
            <a:ext cx="11064240" cy="13258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Max abs. difference: largest voxel-wise gap; ~10⁻³–10⁻⁷ = floating-point rounding only (float32, different summation order)</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PSNR = 10 · log₁₀(range² / MSE) dB, higher is better</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Dice = 2|A ∩ B| / (|A| + |B|), 1 = perfect overlap</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5  ·  PERFORMANCE EVALUATION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Benchmark design: how we measured fairly</a:t>
            </a:r>
            <a:endParaRPr lang="en-US" sz="3400" dirty="0"/>
          </a:p>
        </p:txBody>
      </p:sp>
      <p:sp>
        <p:nvSpPr>
          <p:cNvPr id="4" name="bstep-0"/>
          <p:cNvSpPr/>
          <p:nvPr/>
        </p:nvSpPr>
        <p:spPr>
          <a:xfrm>
            <a:off x="548640" y="1325880"/>
            <a:ext cx="2633472" cy="1691640"/>
          </a:xfrm>
          <a:prstGeom prst="roundRect">
            <a:avLst>
              <a:gd name="adj" fmla="val 43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icon-bg-FaRocket"/>
          <p:cNvSpPr/>
          <p:nvPr/>
        </p:nvSpPr>
        <p:spPr>
          <a:xfrm>
            <a:off x="731520" y="1463040"/>
            <a:ext cx="502920" cy="502920"/>
          </a:xfrm>
          <a:prstGeom prst="ellipse">
            <a:avLst/>
          </a:prstGeom>
          <a:solidFill>
            <a:srgbClr val="000000"/>
          </a:solidFill>
          <a:ln/>
        </p:spPr>
      </p:sp>
      <p:sp>
        <p:nvSpPr>
          <p:cNvPr id="6" name="Text 4"/>
          <p:cNvSpPr txBox="1"/>
          <p:nvPr/>
        </p:nvSpPr>
        <p:spPr>
          <a:xfrm>
            <a:off x="1371600" y="1536192"/>
            <a:ext cx="17373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Warm-up</a:t>
            </a:r>
            <a:endParaRPr lang="en-US" sz="1600" dirty="0"/>
          </a:p>
        </p:txBody>
      </p:sp>
      <p:sp>
        <p:nvSpPr>
          <p:cNvPr id="7" name="Text 5"/>
          <p:cNvSpPr txBox="1"/>
          <p:nvPr/>
        </p:nvSpPr>
        <p:spPr>
          <a:xfrm>
            <a:off x="731520" y="2057400"/>
            <a:ext cx="2286000"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first run untimed: CUDA context, cuFFT plans, kernel loading</a:t>
            </a:r>
            <a:endParaRPr lang="en-US" sz="1200" dirty="0"/>
          </a:p>
        </p:txBody>
      </p:sp>
      <p:sp>
        <p:nvSpPr>
          <p:cNvPr id="8" name="bstep-1"/>
          <p:cNvSpPr/>
          <p:nvPr/>
        </p:nvSpPr>
        <p:spPr>
          <a:xfrm>
            <a:off x="3364992" y="1325880"/>
            <a:ext cx="2633472" cy="1691640"/>
          </a:xfrm>
          <a:prstGeom prst="roundRect">
            <a:avLst>
              <a:gd name="adj" fmla="val 43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9" name="icon-bg-FaStopwatch"/>
          <p:cNvSpPr/>
          <p:nvPr/>
        </p:nvSpPr>
        <p:spPr>
          <a:xfrm>
            <a:off x="3547872" y="1463040"/>
            <a:ext cx="502920" cy="502920"/>
          </a:xfrm>
          <a:prstGeom prst="ellipse">
            <a:avLst/>
          </a:prstGeom>
          <a:solidFill>
            <a:srgbClr val="000000"/>
          </a:solidFill>
          <a:ln/>
        </p:spPr>
      </p:sp>
      <p:sp>
        <p:nvSpPr>
          <p:cNvPr id="10" name="Text 8"/>
          <p:cNvSpPr txBox="1"/>
          <p:nvPr/>
        </p:nvSpPr>
        <p:spPr>
          <a:xfrm>
            <a:off x="4187952" y="1536192"/>
            <a:ext cx="17373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Time</a:t>
            </a:r>
            <a:endParaRPr lang="en-US" sz="1600" dirty="0"/>
          </a:p>
        </p:txBody>
      </p:sp>
      <p:sp>
        <p:nvSpPr>
          <p:cNvPr id="11" name="Text 9"/>
          <p:cNvSpPr txBox="1"/>
          <p:nvPr/>
        </p:nvSpPr>
        <p:spPr>
          <a:xfrm>
            <a:off x="3547872" y="2057400"/>
            <a:ext cx="2286000"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cudaEvent inside kernels; perf_counter + synchronize in Python</a:t>
            </a:r>
            <a:endParaRPr lang="en-US" sz="1200" dirty="0"/>
          </a:p>
        </p:txBody>
      </p:sp>
      <p:sp>
        <p:nvSpPr>
          <p:cNvPr id="12" name="bstep-2"/>
          <p:cNvSpPr/>
          <p:nvPr/>
        </p:nvSpPr>
        <p:spPr>
          <a:xfrm>
            <a:off x="6181344" y="1325880"/>
            <a:ext cx="2633472" cy="1691640"/>
          </a:xfrm>
          <a:prstGeom prst="roundRect">
            <a:avLst>
              <a:gd name="adj" fmla="val 43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3" name="icon-bg-FaChartLine"/>
          <p:cNvSpPr/>
          <p:nvPr/>
        </p:nvSpPr>
        <p:spPr>
          <a:xfrm>
            <a:off x="6364224" y="1463040"/>
            <a:ext cx="502920" cy="502920"/>
          </a:xfrm>
          <a:prstGeom prst="ellipse">
            <a:avLst/>
          </a:prstGeom>
          <a:solidFill>
            <a:srgbClr val="000000"/>
          </a:solidFill>
          <a:ln/>
        </p:spPr>
      </p:sp>
      <p:sp>
        <p:nvSpPr>
          <p:cNvPr id="14" name="Text 12"/>
          <p:cNvSpPr txBox="1"/>
          <p:nvPr/>
        </p:nvSpPr>
        <p:spPr>
          <a:xfrm>
            <a:off x="7004304" y="1536192"/>
            <a:ext cx="17373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Repeat</a:t>
            </a:r>
            <a:endParaRPr lang="en-US" sz="1600" dirty="0"/>
          </a:p>
        </p:txBody>
      </p:sp>
      <p:sp>
        <p:nvSpPr>
          <p:cNvPr id="15" name="Text 13"/>
          <p:cNvSpPr txBox="1"/>
          <p:nvPr/>
        </p:nvSpPr>
        <p:spPr>
          <a:xfrm>
            <a:off x="6364224" y="2057400"/>
            <a:ext cx="2286000"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3–10 runs, mean reported (1 run for very long CPU cases)</a:t>
            </a:r>
            <a:endParaRPr lang="en-US" sz="1200" dirty="0"/>
          </a:p>
        </p:txBody>
      </p:sp>
      <p:sp>
        <p:nvSpPr>
          <p:cNvPr id="16" name="bstep-3"/>
          <p:cNvSpPr/>
          <p:nvPr/>
        </p:nvSpPr>
        <p:spPr>
          <a:xfrm>
            <a:off x="8997696" y="1325880"/>
            <a:ext cx="2633472" cy="1691640"/>
          </a:xfrm>
          <a:prstGeom prst="roundRect">
            <a:avLst>
              <a:gd name="adj" fmla="val 43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7" name="icon-bg-FaCheckCircle"/>
          <p:cNvSpPr/>
          <p:nvPr/>
        </p:nvSpPr>
        <p:spPr>
          <a:xfrm>
            <a:off x="9180576" y="1463040"/>
            <a:ext cx="502920" cy="502920"/>
          </a:xfrm>
          <a:prstGeom prst="ellipse">
            <a:avLst/>
          </a:prstGeom>
          <a:solidFill>
            <a:srgbClr val="000000"/>
          </a:solidFill>
          <a:ln/>
        </p:spPr>
      </p:sp>
      <p:sp>
        <p:nvSpPr>
          <p:cNvPr id="18" name="Text 16"/>
          <p:cNvSpPr txBox="1"/>
          <p:nvPr/>
        </p:nvSpPr>
        <p:spPr>
          <a:xfrm>
            <a:off x="9820656" y="1536192"/>
            <a:ext cx="17373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Verify</a:t>
            </a:r>
            <a:endParaRPr lang="en-US" sz="1600" dirty="0"/>
          </a:p>
        </p:txBody>
      </p:sp>
      <p:sp>
        <p:nvSpPr>
          <p:cNvPr id="19" name="Text 17"/>
          <p:cNvSpPr txBox="1"/>
          <p:nvPr/>
        </p:nvSpPr>
        <p:spPr>
          <a:xfrm>
            <a:off x="9180576" y="2057400"/>
            <a:ext cx="2286000"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compare outputs CPU vs GPU every time</a:t>
            </a:r>
            <a:endParaRPr lang="en-US" sz="1200" dirty="0"/>
          </a:p>
        </p:txBody>
      </p:sp>
      <p:pic>
        <p:nvPicPr>
          <p:cNvPr id="20" name="icon-FaRocket" descr="Rocket icon">    </p:cNvPr>
          <p:cNvPicPr>
            <a:picLocks noChangeAspect="1"/>
          </p:cNvPicPr>
          <p:nvPr/>
        </p:nvPicPr>
        <p:blipFill>
          <a:blip r:embed="rId1"/>
          <a:stretch>
            <a:fillRect/>
          </a:stretch>
        </p:blipFill>
        <p:spPr>
          <a:xfrm>
            <a:off x="852221" y="1583741"/>
            <a:ext cx="261518" cy="261518"/>
          </a:xfrm>
          <a:prstGeom prst="rect">
            <a:avLst/>
          </a:prstGeom>
        </p:spPr>
      </p:pic>
      <p:pic>
        <p:nvPicPr>
          <p:cNvPr id="21" name="icon-FaStopwatch" descr="Stopwatch icon">    </p:cNvPr>
          <p:cNvPicPr>
            <a:picLocks noChangeAspect="1"/>
          </p:cNvPicPr>
          <p:nvPr/>
        </p:nvPicPr>
        <p:blipFill>
          <a:blip r:embed="rId2"/>
          <a:stretch>
            <a:fillRect/>
          </a:stretch>
        </p:blipFill>
        <p:spPr>
          <a:xfrm>
            <a:off x="3668573" y="1583741"/>
            <a:ext cx="261518" cy="261518"/>
          </a:xfrm>
          <a:prstGeom prst="rect">
            <a:avLst/>
          </a:prstGeom>
        </p:spPr>
      </p:pic>
      <p:pic>
        <p:nvPicPr>
          <p:cNvPr id="22" name="icon-FaChartLine" descr="ChartLine icon">    </p:cNvPr>
          <p:cNvPicPr>
            <a:picLocks noChangeAspect="1"/>
          </p:cNvPicPr>
          <p:nvPr/>
        </p:nvPicPr>
        <p:blipFill>
          <a:blip r:embed="rId3"/>
          <a:stretch>
            <a:fillRect/>
          </a:stretch>
        </p:blipFill>
        <p:spPr>
          <a:xfrm>
            <a:off x="6484925" y="1583741"/>
            <a:ext cx="261518" cy="261518"/>
          </a:xfrm>
          <a:prstGeom prst="rect">
            <a:avLst/>
          </a:prstGeom>
        </p:spPr>
      </p:pic>
      <p:pic>
        <p:nvPicPr>
          <p:cNvPr id="23" name="icon-FaCheckCircle" descr="CheckCircle icon">    </p:cNvPr>
          <p:cNvPicPr>
            <a:picLocks noChangeAspect="1"/>
          </p:cNvPicPr>
          <p:nvPr/>
        </p:nvPicPr>
        <p:blipFill>
          <a:blip r:embed="rId4"/>
          <a:stretch>
            <a:fillRect/>
          </a:stretch>
        </p:blipFill>
        <p:spPr>
          <a:xfrm>
            <a:off x="9301277" y="1583741"/>
            <a:ext cx="261518" cy="261518"/>
          </a:xfrm>
          <a:prstGeom prst="rect">
            <a:avLst/>
          </a:prstGeom>
        </p:spPr>
      </p:pic>
      <p:sp>
        <p:nvSpPr>
          <p:cNvPr id="24" name="code-bg"/>
          <p:cNvSpPr/>
          <p:nvPr/>
        </p:nvSpPr>
        <p:spPr>
          <a:xfrm>
            <a:off x="548640" y="3200400"/>
            <a:ext cx="5486400" cy="2011680"/>
          </a:xfrm>
          <a:prstGeom prst="roundRect">
            <a:avLst>
              <a:gd name="adj" fmla="val 2727"/>
            </a:avLst>
          </a:prstGeom>
          <a:solidFill>
            <a:srgbClr val="1A1A1A"/>
          </a:solidFill>
          <a:ln/>
        </p:spPr>
      </p:sp>
      <p:sp>
        <p:nvSpPr>
          <p:cNvPr id="25" name="Text 19"/>
          <p:cNvSpPr txBox="1"/>
          <p:nvPr/>
        </p:nvSpPr>
        <p:spPr>
          <a:xfrm>
            <a:off x="731520" y="3337560"/>
            <a:ext cx="5120640" cy="1737360"/>
          </a:xfrm>
          <a:prstGeom prst="rect">
            <a:avLst/>
          </a:prstGeom>
          <a:noFill/>
          <a:ln/>
        </p:spPr>
        <p:txBody>
          <a:bodyPr wrap="square" lIns="0" tIns="0" rIns="0" bIns="0" rtlCol="0" anchor="t"/>
          <a:lstStyle/>
          <a:p>
            <a:pPr indent="0" marL="0">
              <a:buNone/>
            </a:pPr>
            <a:r>
              <a:rPr lang="en-US" sz="1050" dirty="0">
                <a:solidFill>
                  <a:srgbClr val="F2F2F2"/>
                </a:solidFill>
                <a:latin typeface="Courier New" pitchFamily="34" charset="0"/>
                <a:ea typeface="Courier New" pitchFamily="34" charset="-122"/>
                <a:cs typeface="Courier New" pitchFamily="34" charset="-120"/>
              </a:rPr>
              <a:t>cudaEventRecord(e1);</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for (int r = 0; r &lt; reps; ++r)</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conv_tiled&lt;&lt;&lt;grid, block&gt;&gt;&gt;(dIn, dOut, D, H, W);</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cudaEventRecord(e2);</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cudaEventSynchronize(e2);</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cudaEventElapsedTime(&amp;ms, e1, e2);   // GPU clock</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printf("tiled_ms %f", ms / reps);</a:t>
            </a:r>
            <a:endParaRPr lang="en-US" sz="1050" dirty="0"/>
          </a:p>
        </p:txBody>
      </p:sp>
      <p:sp>
        <p:nvSpPr>
          <p:cNvPr id="26" name="Text 20"/>
          <p:cNvSpPr txBox="1"/>
          <p:nvPr/>
        </p:nvSpPr>
        <p:spPr>
          <a:xfrm>
            <a:off x="548640" y="5303520"/>
            <a:ext cx="5486400" cy="777240"/>
          </a:xfrm>
          <a:prstGeom prst="rect">
            <a:avLst/>
          </a:prstGeom>
          <a:noFill/>
          <a:ln/>
        </p:spPr>
        <p:txBody>
          <a:bodyPr wrap="square" lIns="0" tIns="0" rIns="0" bIns="0" rtlCol="0" anchor="t"/>
          <a:lstStyle/>
          <a:p>
            <a:pPr indent="0" marL="0">
              <a:buNone/>
            </a:pPr>
            <a:r>
              <a:rPr lang="en-US" sz="1200" i="1" dirty="0">
                <a:solidFill>
                  <a:schemeClr val="tx1"/>
                </a:solidFill>
                <a:latin typeface="Calibri" pitchFamily="34" charset="0"/>
                <a:ea typeface="Calibri" pitchFamily="34" charset="-122"/>
                <a:cs typeface="Calibri" pitchFamily="34" charset="-120"/>
              </a:rPr>
              <a:t>Kernel launches are asynchronous: timing without an event or synchronize would only measure the launch, not the work.</a:t>
            </a:r>
            <a:endParaRPr lang="en-US" sz="1200" dirty="0"/>
          </a:p>
        </p:txBody>
      </p:sp>
      <p:sp>
        <p:nvSpPr>
          <p:cNvPr id="27" name="Text 21"/>
          <p:cNvSpPr txBox="1"/>
          <p:nvPr/>
        </p:nvSpPr>
        <p:spPr>
          <a:xfrm>
            <a:off x="6309360" y="3200400"/>
            <a:ext cx="53035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Fairness rules</a:t>
            </a:r>
            <a:endParaRPr lang="en-US" sz="1500" dirty="0"/>
          </a:p>
        </p:txBody>
      </p:sp>
      <p:sp>
        <p:nvSpPr>
          <p:cNvPr id="28" name="Text 22"/>
          <p:cNvSpPr txBox="1"/>
          <p:nvPr/>
        </p:nvSpPr>
        <p:spPr>
          <a:xfrm>
            <a:off x="6309360" y="3566160"/>
            <a:ext cx="5303520" cy="25603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Same algorithm and data on both sides; float32 everywhere (except U-Net FP16 option)</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CPU baselines: NumPy/SciPy (CT, filter, threshold) and PyTorch CPU with 6 threads (MRI, U-Net, render)</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Report both: kernel-only time and total time including PCIe copies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Also compare GPU vs GPU (naive vs tiled, global vs shared atomics, cuDNN vs ours)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Scaling tests: 128²–512² CT, 64³–512³ FFT, 64³–256³ filter, 7 M–59 M voxel threshold</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5  ·  PERFORMANCE EVALUATION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Results: CPU vs GPU time for every stage</a:t>
            </a:r>
            <a:endParaRPr lang="en-US" sz="3400" dirty="0"/>
          </a:p>
        </p:txBody>
      </p:sp>
      <p:graphicFrame>
        <p:nvGraphicFramePr>
          <p:cNvPr id="27" name="stage-table"/>
          <p:cNvGraphicFramePr>
            <a:graphicFrameLocks noGrp="1"/>
          </p:cNvGraphicFramePr>
          <p:nvPr>
            <p:extLst>
              <p:ext uri="{D42A27DB-BD31-4B8C-83A1-F6EECF244321}">
                <p14:modId xmlns:p14="http://schemas.microsoft.com/office/powerpoint/2010/main" val="1579011935"/>
              </p:ext>
            </p:extLst>
          </p:nvPr>
        </p:nvGraphicFramePr>
        <p:xfrm>
          <a:off x="548640" y="1325880"/>
          <a:ext cx="6309360" cy="914400"/>
        </p:xfrm>
        <a:graphic>
          <a:graphicData uri="http://schemas.openxmlformats.org/drawingml/2006/table">
            <a:tbl>
              <a:tblPr/>
              <a:tblGrid>
                <a:gridCol w="3200400"/>
                <a:gridCol w="1005840"/>
                <a:gridCol w="1188720"/>
                <a:gridCol w="9144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 (workload)</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CPU</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GPU incl. transfers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Speedup</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CT reconstruction (128 × 256², FBP)</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11.8 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45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265×</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MRI CS recon (10 × 256², 200 iters)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670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96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3D denoise (256³, 5³ Gaussian)</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1.2 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16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U-Net inference (128 slices)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2.2 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49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3D rendering (36 DVR views)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16.2 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523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Otsu threshold (59 M voxels)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518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23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Pipeline total (5 main stages)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32.2 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728 ms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graphicFrame>
        <p:nvGraphicFramePr>
          <p:cNvPr id="5" name="speedup-chart" descr=""/>
          <p:cNvGraphicFramePr/>
          <p:nvPr/>
        </p:nvGraphicFramePr>
        <p:xfrm>
          <a:off x="7132320" y="1325880"/>
          <a:ext cx="4480560" cy="42062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4800600"/>
            <a:ext cx="6309360" cy="91440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Speedup depends on arithmetic per byte: CT back-projection does 256 interpolations per pixel (265×); MRI is many small FFTs with less work each (7×).</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5  ·  PERFORMANCE EVALUATION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Scaling: bigger data → bigger GPU advantage</a:t>
            </a:r>
            <a:endParaRPr lang="en-US" sz="3400" dirty="0"/>
          </a:p>
        </p:txBody>
      </p:sp>
      <p:graphicFrame>
        <p:nvGraphicFramePr>
          <p:cNvPr id="4" name="ct-scaling" descr=""/>
          <p:cNvGraphicFramePr/>
          <p:nvPr/>
        </p:nvGraphicFramePr>
        <p:xfrm>
          <a:off x="548640" y="1325880"/>
          <a:ext cx="54864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fft-scaling" descr=""/>
          <p:cNvGraphicFramePr/>
          <p:nvPr/>
        </p:nvGraphicFramePr>
        <p:xfrm>
          <a:off x="6217920" y="1325880"/>
          <a:ext cx="5394960"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onv-scaling" descr=""/>
          <p:cNvGraphicFramePr/>
          <p:nvPr/>
        </p:nvGraphicFramePr>
        <p:xfrm>
          <a:off x="548640" y="4206240"/>
          <a:ext cx="5486400" cy="1965960"/>
        </p:xfrm>
        <a:graphic xmlns:a="http://schemas.openxmlformats.org/drawingml/2006/main">
          <a:graphicData uri="http://schemas.openxmlformats.org/drawingml/2006/chart">
            <c:chart xmlns:c="http://schemas.openxmlformats.org/drawingml/2006/chart" r:id="rId3"/>
          </a:graphicData>
        </a:graphic>
      </p:graphicFrame>
      <p:sp>
        <p:nvSpPr>
          <p:cNvPr id="7" name="scaling-notes"/>
          <p:cNvSpPr/>
          <p:nvPr/>
        </p:nvSpPr>
        <p:spPr>
          <a:xfrm>
            <a:off x="6217920" y="4206240"/>
            <a:ext cx="5394960" cy="1965960"/>
          </a:xfrm>
          <a:prstGeom prst="roundRect">
            <a:avLst>
              <a:gd name="adj" fmla="val 3721"/>
            </a:avLst>
          </a:prstGeom>
          <a:solidFill>
            <a:schemeClr val="bg2"/>
          </a:solidFill>
          <a:ln w="9525">
            <a:solidFill>
              <a:srgbClr val="D9D9D9"/>
            </a:solidFill>
            <a:prstDash val="solid"/>
          </a:ln>
        </p:spPr>
      </p:sp>
      <p:sp>
        <p:nvSpPr>
          <p:cNvPr id="8" name="Text 3"/>
          <p:cNvSpPr txBox="1"/>
          <p:nvPr/>
        </p:nvSpPr>
        <p:spPr>
          <a:xfrm>
            <a:off x="6400800" y="4315968"/>
            <a:ext cx="5074920" cy="17830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CT: 26× at 128² → 906× at 512²: small jobs cannot fill 3,840 cores</a:t>
            </a:r>
            <a:endParaRPr lang="en-US" sz="1200" dirty="0"/>
          </a:p>
          <a:p>
            <a:pPr marL="177800" indent="-1778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FFT 512³: 19 ms vs 238 ms (12×); vs NumPy 329×</a:t>
            </a:r>
            <a:endParaRPr lang="en-US" sz="1200" dirty="0"/>
          </a:p>
          <a:p>
            <a:pPr marL="177800" indent="-1778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Threshold: 7.4 M → 59 M voxels, compute speedup 181× → 289×</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5  ·  PERFORMANCE EVALUATION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Where the GPU time goes: transfers and Amdahl's law</a:t>
            </a:r>
            <a:endParaRPr lang="en-US" sz="3400" dirty="0"/>
          </a:p>
        </p:txBody>
      </p:sp>
      <p:graphicFrame>
        <p:nvGraphicFramePr>
          <p:cNvPr id="4" name="breakdown-chart" descr=""/>
          <p:cNvGraphicFramePr/>
          <p:nvPr/>
        </p:nvGraphicFramePr>
        <p:xfrm>
          <a:off x="548640" y="1325880"/>
          <a:ext cx="640080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223760" y="1325880"/>
            <a:ext cx="43891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Amdahl's law</a:t>
            </a:r>
            <a:endParaRPr lang="en-US" sz="1500" dirty="0"/>
          </a:p>
        </p:txBody>
      </p:sp>
      <p:sp>
        <p:nvSpPr>
          <p:cNvPr id="6" name="Text 3"/>
          <p:cNvSpPr txBox="1"/>
          <p:nvPr/>
        </p:nvSpPr>
        <p:spPr>
          <a:xfrm>
            <a:off x="7223760" y="1691640"/>
            <a:ext cx="438912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Speedup = 1 / ((1 − p) + p / s)</a:t>
            </a:r>
            <a:endParaRPr lang="en-US" sz="1800" dirty="0"/>
          </a:p>
        </p:txBody>
      </p:sp>
      <p:sp>
        <p:nvSpPr>
          <p:cNvPr id="7" name="Text 4"/>
          <p:cNvSpPr txBox="1"/>
          <p:nvPr/>
        </p:nvSpPr>
        <p:spPr>
          <a:xfrm>
            <a:off x="7223760" y="2194560"/>
            <a:ext cx="4389120" cy="21945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p = part of the work that is accelerated, s = how much faster it gets</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Copies over PCIe are the part that is not accelerated</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Denoise: compute alone is 503×, but with copies only 78×</a:t>
            </a:r>
            <a:endParaRPr lang="en-US" sz="1250" dirty="0"/>
          </a:p>
          <a:p>
            <a:pPr marL="177800" indent="-1778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Threshold: 289× → 23×</a:t>
            </a:r>
            <a:endParaRPr lang="en-US" sz="1250" dirty="0"/>
          </a:p>
        </p:txBody>
      </p:sp>
      <p:graphicFrame>
        <p:nvGraphicFramePr>
          <p:cNvPr id="29" name="fix-table"/>
          <p:cNvGraphicFramePr>
            <a:graphicFrameLocks noGrp="1"/>
          </p:cNvGraphicFramePr>
          <p:nvPr>
            <p:extLst>
              <p:ext uri="{D42A27DB-BD31-4B8C-83A1-F6EECF244321}">
                <p14:modId xmlns:p14="http://schemas.microsoft.com/office/powerpoint/2010/main" val="1579011935"/>
              </p:ext>
            </p:extLst>
          </p:nvPr>
        </p:nvGraphicFramePr>
        <p:xfrm>
          <a:off x="548640" y="4526280"/>
          <a:ext cx="11064240" cy="914400"/>
        </p:xfrm>
        <a:graphic>
          <a:graphicData uri="http://schemas.openxmlformats.org/drawingml/2006/table">
            <a:tbl>
              <a:tblPr/>
              <a:tblGrid>
                <a:gridCol w="6035040"/>
                <a:gridCol w="5029200"/>
              </a:tblGrid>
              <a:tr h="3200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 for the transfer bottleneck</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200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Keep data on the GPU between stages (chain kernels)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pay upload once, download once per study</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00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Pinned (page-locked) host memory</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faster copies, often close to PCIe peak</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00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CUDA streams: copy chunk k+1 while computing chunk k</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hides copy time behind compute</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00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Send compact results (uint8 labels, not float32)</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 less data back (we do this)</a:t>
                      </a:r>
                      <a:endParaRPr lang="en-US" sz="1200" dirty="0">
                        <a:latin typeface="Calibri" charset="0"/>
                        <a:ea typeface="Calibri" charset="0"/>
                        <a:cs typeface="Calibri" charset="0"/>
                      </a:endParaRPr>
                    </a:p>
                  </a:txBody>
                  <a:tcPr marL="63500" marR="635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6  ·  DISCUSSION &amp; CONCLUSION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Challenges and limitations</a:t>
            </a:r>
            <a:endParaRPr lang="en-US" sz="3400" dirty="0"/>
          </a:p>
        </p:txBody>
      </p:sp>
      <p:sp>
        <p:nvSpPr>
          <p:cNvPr id="4" name="chal-0"/>
          <p:cNvSpPr/>
          <p:nvPr/>
        </p:nvSpPr>
        <p:spPr>
          <a:xfrm>
            <a:off x="548640" y="132588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icon-bg-FaExchangeAlt"/>
          <p:cNvSpPr/>
          <p:nvPr/>
        </p:nvSpPr>
        <p:spPr>
          <a:xfrm>
            <a:off x="777240" y="1554480"/>
            <a:ext cx="548640" cy="548640"/>
          </a:xfrm>
          <a:prstGeom prst="ellipse">
            <a:avLst/>
          </a:prstGeom>
          <a:solidFill>
            <a:srgbClr val="000000"/>
          </a:solidFill>
          <a:ln/>
        </p:spPr>
      </p:sp>
      <p:pic>
        <p:nvPicPr>
          <p:cNvPr id="6" name="icon-FaExchangeAlt" descr="ExchangeAlt icon">    </p:cNvPr>
          <p:cNvPicPr>
            <a:picLocks noChangeAspect="1"/>
          </p:cNvPicPr>
          <p:nvPr/>
        </p:nvPicPr>
        <p:blipFill>
          <a:blip r:embed="rId1"/>
          <a:stretch>
            <a:fillRect/>
          </a:stretch>
        </p:blipFill>
        <p:spPr>
          <a:xfrm>
            <a:off x="908914" y="1686154"/>
            <a:ext cx="285293" cy="285293"/>
          </a:xfrm>
          <a:prstGeom prst="rect">
            <a:avLst/>
          </a:prstGeom>
        </p:spPr>
      </p:pic>
      <p:sp>
        <p:nvSpPr>
          <p:cNvPr id="7" name="Text 4"/>
          <p:cNvSpPr txBox="1"/>
          <p:nvPr/>
        </p:nvSpPr>
        <p:spPr>
          <a:xfrm>
            <a:off x="1463040" y="160020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PCIe transfers</a:t>
            </a:r>
            <a:endParaRPr lang="en-US" sz="1600" dirty="0"/>
          </a:p>
        </p:txBody>
      </p:sp>
      <p:sp>
        <p:nvSpPr>
          <p:cNvPr id="8" name="Text 5"/>
          <p:cNvSpPr txBox="1"/>
          <p:nvPr/>
        </p:nvSpPr>
        <p:spPr>
          <a:xfrm>
            <a:off x="777240" y="228600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11.8 GB/s measured; 85% of denoise GPU time is copying</a:t>
            </a:r>
            <a:endParaRPr lang="en-US" sz="1300" dirty="0"/>
          </a:p>
        </p:txBody>
      </p:sp>
      <p:sp>
        <p:nvSpPr>
          <p:cNvPr id="9" name="chal-1"/>
          <p:cNvSpPr/>
          <p:nvPr/>
        </p:nvSpPr>
        <p:spPr>
          <a:xfrm>
            <a:off x="4297680" y="132588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0" name="icon-bg-FaMemory"/>
          <p:cNvSpPr/>
          <p:nvPr/>
        </p:nvSpPr>
        <p:spPr>
          <a:xfrm>
            <a:off x="4526280" y="1554480"/>
            <a:ext cx="548640" cy="548640"/>
          </a:xfrm>
          <a:prstGeom prst="ellipse">
            <a:avLst/>
          </a:prstGeom>
          <a:solidFill>
            <a:srgbClr val="000000"/>
          </a:solidFill>
          <a:ln/>
        </p:spPr>
      </p:sp>
      <p:pic>
        <p:nvPicPr>
          <p:cNvPr id="11" name="icon-FaMemory" descr="Memory icon">    </p:cNvPr>
          <p:cNvPicPr>
            <a:picLocks noChangeAspect="1"/>
          </p:cNvPicPr>
          <p:nvPr/>
        </p:nvPicPr>
        <p:blipFill>
          <a:blip r:embed="rId2"/>
          <a:stretch>
            <a:fillRect/>
          </a:stretch>
        </p:blipFill>
        <p:spPr>
          <a:xfrm>
            <a:off x="4657954" y="1686154"/>
            <a:ext cx="285293" cy="285293"/>
          </a:xfrm>
          <a:prstGeom prst="rect">
            <a:avLst/>
          </a:prstGeom>
        </p:spPr>
      </p:pic>
      <p:sp>
        <p:nvSpPr>
          <p:cNvPr id="12" name="Text 8"/>
          <p:cNvSpPr txBox="1"/>
          <p:nvPr/>
        </p:nvSpPr>
        <p:spPr>
          <a:xfrm>
            <a:off x="5212080" y="160020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GPU memory</a:t>
            </a:r>
            <a:endParaRPr lang="en-US" sz="1600" dirty="0"/>
          </a:p>
        </p:txBody>
      </p:sp>
      <p:sp>
        <p:nvSpPr>
          <p:cNvPr id="13" name="Text 9"/>
          <p:cNvSpPr txBox="1"/>
          <p:nvPr/>
        </p:nvSpPr>
        <p:spPr>
          <a:xfrm>
            <a:off x="4526280" y="228600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8 GB VRAM: a 512³ complex FFT needs 1 GB; big 4D studies need tiling or streaming</a:t>
            </a:r>
            <a:endParaRPr lang="en-US" sz="1300" dirty="0"/>
          </a:p>
        </p:txBody>
      </p:sp>
      <p:sp>
        <p:nvSpPr>
          <p:cNvPr id="14" name="chal-2"/>
          <p:cNvSpPr/>
          <p:nvPr/>
        </p:nvSpPr>
        <p:spPr>
          <a:xfrm>
            <a:off x="8046720" y="132588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5" name="icon-bg-FaBalanceScale"/>
          <p:cNvSpPr/>
          <p:nvPr/>
        </p:nvSpPr>
        <p:spPr>
          <a:xfrm>
            <a:off x="8275320" y="1554480"/>
            <a:ext cx="548640" cy="548640"/>
          </a:xfrm>
          <a:prstGeom prst="ellipse">
            <a:avLst/>
          </a:prstGeom>
          <a:solidFill>
            <a:srgbClr val="000000"/>
          </a:solidFill>
          <a:ln/>
        </p:spPr>
      </p:sp>
      <p:pic>
        <p:nvPicPr>
          <p:cNvPr id="16" name="icon-FaBalanceScale" descr="BalanceScale icon">    </p:cNvPr>
          <p:cNvPicPr>
            <a:picLocks noChangeAspect="1"/>
          </p:cNvPicPr>
          <p:nvPr/>
        </p:nvPicPr>
        <p:blipFill>
          <a:blip r:embed="rId3"/>
          <a:stretch>
            <a:fillRect/>
          </a:stretch>
        </p:blipFill>
        <p:spPr>
          <a:xfrm>
            <a:off x="8406994" y="1686154"/>
            <a:ext cx="285293" cy="285293"/>
          </a:xfrm>
          <a:prstGeom prst="rect">
            <a:avLst/>
          </a:prstGeom>
        </p:spPr>
      </p:pic>
      <p:sp>
        <p:nvSpPr>
          <p:cNvPr id="17" name="Text 12"/>
          <p:cNvSpPr txBox="1"/>
          <p:nvPr/>
        </p:nvSpPr>
        <p:spPr>
          <a:xfrm>
            <a:off x="8961120" y="160020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Precision</a:t>
            </a:r>
            <a:endParaRPr lang="en-US" sz="1600" dirty="0"/>
          </a:p>
        </p:txBody>
      </p:sp>
      <p:sp>
        <p:nvSpPr>
          <p:cNvPr id="18" name="Text 13"/>
          <p:cNvSpPr txBox="1"/>
          <p:nvPr/>
        </p:nvSpPr>
        <p:spPr>
          <a:xfrm>
            <a:off x="8275320" y="228600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FP16 must be validated; results differ in the last bits because sums are reordered</a:t>
            </a:r>
            <a:endParaRPr lang="en-US" sz="1300" dirty="0"/>
          </a:p>
        </p:txBody>
      </p:sp>
      <p:sp>
        <p:nvSpPr>
          <p:cNvPr id="19" name="chal-3"/>
          <p:cNvSpPr/>
          <p:nvPr/>
        </p:nvSpPr>
        <p:spPr>
          <a:xfrm>
            <a:off x="548640" y="374904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20" name="icon-bg-FaFlask"/>
          <p:cNvSpPr/>
          <p:nvPr/>
        </p:nvSpPr>
        <p:spPr>
          <a:xfrm>
            <a:off x="777240" y="3977640"/>
            <a:ext cx="548640" cy="548640"/>
          </a:xfrm>
          <a:prstGeom prst="ellipse">
            <a:avLst/>
          </a:prstGeom>
          <a:solidFill>
            <a:srgbClr val="000000"/>
          </a:solidFill>
          <a:ln/>
        </p:spPr>
      </p:sp>
      <p:pic>
        <p:nvPicPr>
          <p:cNvPr id="21" name="icon-FaFlask" descr="Flask icon">    </p:cNvPr>
          <p:cNvPicPr>
            <a:picLocks noChangeAspect="1"/>
          </p:cNvPicPr>
          <p:nvPr/>
        </p:nvPicPr>
        <p:blipFill>
          <a:blip r:embed="rId4"/>
          <a:stretch>
            <a:fillRect/>
          </a:stretch>
        </p:blipFill>
        <p:spPr>
          <a:xfrm>
            <a:off x="908914" y="4109314"/>
            <a:ext cx="285293" cy="285293"/>
          </a:xfrm>
          <a:prstGeom prst="rect">
            <a:avLst/>
          </a:prstGeom>
        </p:spPr>
      </p:pic>
      <p:sp>
        <p:nvSpPr>
          <p:cNvPr id="22" name="Text 16"/>
          <p:cNvSpPr txBox="1"/>
          <p:nvPr/>
        </p:nvSpPr>
        <p:spPr>
          <a:xfrm>
            <a:off x="1463040" y="402336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Our data</a:t>
            </a:r>
            <a:endParaRPr lang="en-US" sz="1600" dirty="0"/>
          </a:p>
        </p:txBody>
      </p:sp>
      <p:sp>
        <p:nvSpPr>
          <p:cNvPr id="23" name="Text 17"/>
          <p:cNvSpPr txBox="1"/>
          <p:nvPr/>
        </p:nvSpPr>
        <p:spPr>
          <a:xfrm>
            <a:off x="777240" y="470916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2 real scans; CT recon, denoise and lesions use simulated data with known truth</a:t>
            </a:r>
            <a:endParaRPr lang="en-US" sz="1300" dirty="0"/>
          </a:p>
        </p:txBody>
      </p:sp>
      <p:sp>
        <p:nvSpPr>
          <p:cNvPr id="24" name="chal-4"/>
          <p:cNvSpPr/>
          <p:nvPr/>
        </p:nvSpPr>
        <p:spPr>
          <a:xfrm>
            <a:off x="4297680" y="374904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25" name="icon-bg-FaCogs"/>
          <p:cNvSpPr/>
          <p:nvPr/>
        </p:nvSpPr>
        <p:spPr>
          <a:xfrm>
            <a:off x="4526280" y="3977640"/>
            <a:ext cx="548640" cy="548640"/>
          </a:xfrm>
          <a:prstGeom prst="ellipse">
            <a:avLst/>
          </a:prstGeom>
          <a:solidFill>
            <a:srgbClr val="000000"/>
          </a:solidFill>
          <a:ln/>
        </p:spPr>
      </p:sp>
      <p:pic>
        <p:nvPicPr>
          <p:cNvPr id="26" name="icon-FaCogs" descr="Cogs icon">    </p:cNvPr>
          <p:cNvPicPr>
            <a:picLocks noChangeAspect="1"/>
          </p:cNvPicPr>
          <p:nvPr/>
        </p:nvPicPr>
        <p:blipFill>
          <a:blip r:embed="rId5"/>
          <a:stretch>
            <a:fillRect/>
          </a:stretch>
        </p:blipFill>
        <p:spPr>
          <a:xfrm>
            <a:off x="4657954" y="4109314"/>
            <a:ext cx="285293" cy="285293"/>
          </a:xfrm>
          <a:prstGeom prst="rect">
            <a:avLst/>
          </a:prstGeom>
        </p:spPr>
      </p:pic>
      <p:sp>
        <p:nvSpPr>
          <p:cNvPr id="27" name="Text 20"/>
          <p:cNvSpPr txBox="1"/>
          <p:nvPr/>
        </p:nvSpPr>
        <p:spPr>
          <a:xfrm>
            <a:off x="5212080" y="402336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Engineering</a:t>
            </a:r>
            <a:endParaRPr lang="en-US" sz="1600" dirty="0"/>
          </a:p>
        </p:txBody>
      </p:sp>
      <p:sp>
        <p:nvSpPr>
          <p:cNvPr id="28" name="Text 21"/>
          <p:cNvSpPr txBox="1"/>
          <p:nvPr/>
        </p:nvSpPr>
        <p:spPr>
          <a:xfrm>
            <a:off x="4526280" y="470916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Windows build needed MSVC + nvcc; CuPy was blocked by OS security policy, so we used PyTorch + own kernels</a:t>
            </a:r>
            <a:endParaRPr lang="en-US" sz="1300" dirty="0"/>
          </a:p>
        </p:txBody>
      </p:sp>
      <p:sp>
        <p:nvSpPr>
          <p:cNvPr id="29" name="chal-5"/>
          <p:cNvSpPr/>
          <p:nvPr/>
        </p:nvSpPr>
        <p:spPr>
          <a:xfrm>
            <a:off x="8046720" y="374904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30" name="icon-bg-FaLock"/>
          <p:cNvSpPr/>
          <p:nvPr/>
        </p:nvSpPr>
        <p:spPr>
          <a:xfrm>
            <a:off x="8275320" y="3977640"/>
            <a:ext cx="548640" cy="548640"/>
          </a:xfrm>
          <a:prstGeom prst="ellipse">
            <a:avLst/>
          </a:prstGeom>
          <a:solidFill>
            <a:srgbClr val="000000"/>
          </a:solidFill>
          <a:ln/>
        </p:spPr>
      </p:sp>
      <p:pic>
        <p:nvPicPr>
          <p:cNvPr id="31" name="icon-FaLock" descr="Lock icon">    </p:cNvPr>
          <p:cNvPicPr>
            <a:picLocks noChangeAspect="1"/>
          </p:cNvPicPr>
          <p:nvPr/>
        </p:nvPicPr>
        <p:blipFill>
          <a:blip r:embed="rId6"/>
          <a:stretch>
            <a:fillRect/>
          </a:stretch>
        </p:blipFill>
        <p:spPr>
          <a:xfrm>
            <a:off x="8406994" y="4109314"/>
            <a:ext cx="285293" cy="285293"/>
          </a:xfrm>
          <a:prstGeom prst="rect">
            <a:avLst/>
          </a:prstGeom>
        </p:spPr>
      </p:pic>
      <p:sp>
        <p:nvSpPr>
          <p:cNvPr id="32" name="Text 24"/>
          <p:cNvSpPr txBox="1"/>
          <p:nvPr/>
        </p:nvSpPr>
        <p:spPr>
          <a:xfrm>
            <a:off x="8961120" y="402336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Clinical use</a:t>
            </a:r>
            <a:endParaRPr lang="en-US" sz="1600" dirty="0"/>
          </a:p>
        </p:txBody>
      </p:sp>
      <p:sp>
        <p:nvSpPr>
          <p:cNvPr id="33" name="Text 25"/>
          <p:cNvSpPr txBox="1"/>
          <p:nvPr/>
        </p:nvSpPr>
        <p:spPr>
          <a:xfrm>
            <a:off x="8275320" y="470916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patient privacy (HIPAA/GDPR) and FDA/CE approval apply to real deployments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6  ·  DISCUSSION &amp; CONCLUSION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Real-world use and future scope</a:t>
            </a:r>
            <a:endParaRPr lang="en-US" sz="3400" dirty="0"/>
          </a:p>
        </p:txBody>
      </p:sp>
      <p:sp>
        <p:nvSpPr>
          <p:cNvPr id="4" name="Text 2"/>
          <p:cNvSpPr txBox="1"/>
          <p:nvPr/>
        </p:nvSpPr>
        <p:spPr>
          <a:xfrm>
            <a:off x="548640" y="132588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Already in hospitals and scanners</a:t>
            </a:r>
            <a:endParaRPr lang="en-US" sz="1500" dirty="0"/>
          </a:p>
        </p:txBody>
      </p:sp>
      <p:sp>
        <p:nvSpPr>
          <p:cNvPr id="5" name="Text 3"/>
          <p:cNvSpPr txBox="1"/>
          <p:nvPr/>
        </p:nvSpPr>
        <p:spPr>
          <a:xfrm>
            <a:off x="548640" y="1691640"/>
            <a:ext cx="5394960" cy="2377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GPU deep-learning reconstruction in scanners: GE TrueFidelity, Siemens Deep Resolve, Canon AiCE</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NVIDIA Clara / Holoscan: GPU platform for medical imaging and devices</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MONAI: open-source PyTorch framework for medical AI (segmentation, deployment)</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GPU iterative reconstruction allows lower-dose CT with similar image quality</a:t>
            </a:r>
            <a:endParaRPr lang="en-US" sz="1300" dirty="0"/>
          </a:p>
        </p:txBody>
      </p:sp>
      <p:sp>
        <p:nvSpPr>
          <p:cNvPr id="6" name="Text 4"/>
          <p:cNvSpPr txBox="1"/>
          <p:nvPr/>
        </p:nvSpPr>
        <p:spPr>
          <a:xfrm>
            <a:off x="6217920" y="1325880"/>
            <a:ext cx="53949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Next steps for our project</a:t>
            </a:r>
            <a:endParaRPr lang="en-US" sz="1500" dirty="0"/>
          </a:p>
        </p:txBody>
      </p:sp>
      <p:sp>
        <p:nvSpPr>
          <p:cNvPr id="7" name="Text 5"/>
          <p:cNvSpPr txBox="1"/>
          <p:nvPr/>
        </p:nvSpPr>
        <p:spPr>
          <a:xfrm>
            <a:off x="6217920" y="1691640"/>
            <a:ext cx="5394960" cy="2377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GPU-resident pipeline: one upload, all stages on GPU, one download</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Pinned memory + CUDA streams to overlap copies and compute</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Separable Gaussian (15 instead of 125 ops/voxel) and texture memory for FBP</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3D U-Net on real labelled data (Medical Segmentation Decathlon, LIDC)</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Multi-GPU / cloud for large studies; TensorRT for faster inference</a:t>
            </a:r>
            <a:endParaRPr lang="en-US" sz="1300" dirty="0"/>
          </a:p>
        </p:txBody>
      </p:sp>
      <p:sp>
        <p:nvSpPr>
          <p:cNvPr id="8" name="impact"/>
          <p:cNvSpPr/>
          <p:nvPr/>
        </p:nvSpPr>
        <p:spPr>
          <a:xfrm>
            <a:off x="548640" y="4297680"/>
            <a:ext cx="11064240" cy="1828800"/>
          </a:xfrm>
          <a:prstGeom prst="roundRect">
            <a:avLst>
              <a:gd name="adj" fmla="val 4000"/>
            </a:avLst>
          </a:prstGeom>
          <a:solidFill>
            <a:schemeClr val="bg2"/>
          </a:solidFill>
          <a:ln w="9525">
            <a:solidFill>
              <a:srgbClr val="D9D9D9"/>
            </a:solidFill>
            <a:prstDash val="solid"/>
          </a:ln>
        </p:spPr>
      </p:sp>
      <p:sp>
        <p:nvSpPr>
          <p:cNvPr id="9" name="Text 7"/>
          <p:cNvSpPr txBox="1"/>
          <p:nvPr/>
        </p:nvSpPr>
        <p:spPr>
          <a:xfrm>
            <a:off x="777240" y="4389120"/>
            <a:ext cx="36576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Impact</a:t>
            </a:r>
            <a:endParaRPr lang="en-US" sz="1500" dirty="0"/>
          </a:p>
        </p:txBody>
      </p:sp>
      <p:sp>
        <p:nvSpPr>
          <p:cNvPr id="10" name="Text 8"/>
          <p:cNvSpPr txBox="1"/>
          <p:nvPr/>
        </p:nvSpPr>
        <p:spPr>
          <a:xfrm>
            <a:off x="777240" y="480060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Faster scans</a:t>
            </a:r>
            <a:endParaRPr lang="en-US" sz="1800" dirty="0"/>
          </a:p>
        </p:txBody>
      </p:sp>
      <p:sp>
        <p:nvSpPr>
          <p:cNvPr id="11" name="Text 9"/>
          <p:cNvSpPr txBox="1"/>
          <p:nvPr/>
        </p:nvSpPr>
        <p:spPr>
          <a:xfrm>
            <a:off x="777240" y="5212080"/>
            <a:ext cx="2560320" cy="64008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4× less MRI data, recon in &lt; 0.1 s</a:t>
            </a:r>
            <a:endParaRPr lang="en-US" sz="1300" dirty="0"/>
          </a:p>
        </p:txBody>
      </p:sp>
      <p:sp>
        <p:nvSpPr>
          <p:cNvPr id="12" name="Text 10"/>
          <p:cNvSpPr txBox="1"/>
          <p:nvPr/>
        </p:nvSpPr>
        <p:spPr>
          <a:xfrm>
            <a:off x="3474720" y="480060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Interactive 3D</a:t>
            </a:r>
            <a:endParaRPr lang="en-US" sz="1800" dirty="0"/>
          </a:p>
        </p:txBody>
      </p:sp>
      <p:sp>
        <p:nvSpPr>
          <p:cNvPr id="13" name="Text 11"/>
          <p:cNvSpPr txBox="1"/>
          <p:nvPr/>
        </p:nvSpPr>
        <p:spPr>
          <a:xfrm>
            <a:off x="3474720" y="5212080"/>
            <a:ext cx="2560320" cy="64008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69 fps rotating views</a:t>
            </a:r>
            <a:endParaRPr lang="en-US" sz="1300" dirty="0"/>
          </a:p>
        </p:txBody>
      </p:sp>
      <p:sp>
        <p:nvSpPr>
          <p:cNvPr id="14" name="Text 12"/>
          <p:cNvSpPr txBox="1"/>
          <p:nvPr/>
        </p:nvSpPr>
        <p:spPr>
          <a:xfrm>
            <a:off x="6172200" y="480060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AI at the scanner</a:t>
            </a:r>
            <a:endParaRPr lang="en-US" sz="1800" dirty="0"/>
          </a:p>
        </p:txBody>
      </p:sp>
      <p:sp>
        <p:nvSpPr>
          <p:cNvPr id="15" name="Text 13"/>
          <p:cNvSpPr txBox="1"/>
          <p:nvPr/>
        </p:nvSpPr>
        <p:spPr>
          <a:xfrm>
            <a:off x="6172200" y="5212080"/>
            <a:ext cx="2560320" cy="64008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0.38 ms per slice</a:t>
            </a:r>
            <a:endParaRPr lang="en-US" sz="1300" dirty="0"/>
          </a:p>
        </p:txBody>
      </p:sp>
      <p:sp>
        <p:nvSpPr>
          <p:cNvPr id="16" name="Text 14"/>
          <p:cNvSpPr txBox="1"/>
          <p:nvPr/>
        </p:nvSpPr>
        <p:spPr>
          <a:xfrm>
            <a:off x="8869680" y="480060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Same answers</a:t>
            </a:r>
            <a:endParaRPr lang="en-US" sz="1800" dirty="0"/>
          </a:p>
        </p:txBody>
      </p:sp>
      <p:sp>
        <p:nvSpPr>
          <p:cNvPr id="17" name="Text 15"/>
          <p:cNvSpPr txBox="1"/>
          <p:nvPr/>
        </p:nvSpPr>
        <p:spPr>
          <a:xfrm>
            <a:off x="8869680" y="5212080"/>
            <a:ext cx="2560320" cy="64008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verified CPU = GPU</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6  ·  DISCUSSION &amp; CONCLUSION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Conclusion</a:t>
            </a:r>
            <a:endParaRPr lang="en-US" sz="3400" dirty="0"/>
          </a:p>
        </p:txBody>
      </p:sp>
      <p:sp>
        <p:nvSpPr>
          <p:cNvPr id="4" name="icon-bg-FaRocket"/>
          <p:cNvSpPr/>
          <p:nvPr/>
        </p:nvSpPr>
        <p:spPr>
          <a:xfrm>
            <a:off x="548640" y="1371600"/>
            <a:ext cx="685800" cy="685800"/>
          </a:xfrm>
          <a:prstGeom prst="ellipse">
            <a:avLst/>
          </a:prstGeom>
          <a:solidFill>
            <a:srgbClr val="404040"/>
          </a:solidFill>
          <a:ln/>
        </p:spPr>
      </p:sp>
      <p:pic>
        <p:nvPicPr>
          <p:cNvPr id="5" name="icon-FaRocket" descr="Rocket icon">    </p:cNvPr>
          <p:cNvPicPr>
            <a:picLocks noChangeAspect="1"/>
          </p:cNvPicPr>
          <p:nvPr/>
        </p:nvPicPr>
        <p:blipFill>
          <a:blip r:embed="rId1"/>
          <a:stretch>
            <a:fillRect/>
          </a:stretch>
        </p:blipFill>
        <p:spPr>
          <a:xfrm>
            <a:off x="713232" y="1536192"/>
            <a:ext cx="356616" cy="356616"/>
          </a:xfrm>
          <a:prstGeom prst="rect">
            <a:avLst/>
          </a:prstGeom>
        </p:spPr>
      </p:pic>
      <p:sp>
        <p:nvSpPr>
          <p:cNvPr id="6" name="Text 3"/>
          <p:cNvSpPr txBox="1"/>
          <p:nvPr/>
        </p:nvSpPr>
        <p:spPr>
          <a:xfrm>
            <a:off x="1463040" y="1353312"/>
            <a:ext cx="100584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44× faster end to end</a:t>
            </a:r>
            <a:endParaRPr lang="en-US" sz="2000" dirty="0"/>
          </a:p>
        </p:txBody>
      </p:sp>
      <p:sp>
        <p:nvSpPr>
          <p:cNvPr id="7" name="Text 4"/>
          <p:cNvSpPr txBox="1"/>
          <p:nvPr/>
        </p:nvSpPr>
        <p:spPr>
          <a:xfrm>
            <a:off x="1463040" y="1783080"/>
            <a:ext cx="10058400" cy="548640"/>
          </a:xfrm>
          <a:prstGeom prst="rect">
            <a:avLst/>
          </a:prstGeom>
          <a:noFill/>
          <a:ln/>
        </p:spPr>
        <p:txBody>
          <a:bodyPr wrap="square" lIns="0" tIns="0" rIns="0" bIns="0" rtlCol="0" anchor="t"/>
          <a:lstStyle/>
          <a:p>
            <a:pPr indent="0" marL="0">
              <a:buNone/>
            </a:pPr>
            <a:r>
              <a:rPr lang="en-US" sz="1500" dirty="0">
                <a:solidFill>
                  <a:srgbClr val="D9D9D9"/>
                </a:solidFill>
                <a:latin typeface="Calibri" pitchFamily="34" charset="0"/>
                <a:ea typeface="Calibri" pitchFamily="34" charset="-122"/>
                <a:cs typeface="Calibri" pitchFamily="34" charset="-120"/>
              </a:rPr>
              <a:t>32.2 s → 728 ms per study; CT 265×, U-Net 46×, threshold 23×</a:t>
            </a:r>
            <a:endParaRPr lang="en-US" sz="1500" dirty="0"/>
          </a:p>
        </p:txBody>
      </p:sp>
      <p:sp>
        <p:nvSpPr>
          <p:cNvPr id="8" name="icon-bg-FaCheckCircle"/>
          <p:cNvSpPr/>
          <p:nvPr/>
        </p:nvSpPr>
        <p:spPr>
          <a:xfrm>
            <a:off x="548640" y="2560320"/>
            <a:ext cx="685800" cy="685800"/>
          </a:xfrm>
          <a:prstGeom prst="ellipse">
            <a:avLst/>
          </a:prstGeom>
          <a:solidFill>
            <a:srgbClr val="404040"/>
          </a:solidFill>
          <a:ln/>
        </p:spPr>
      </p:sp>
      <p:pic>
        <p:nvPicPr>
          <p:cNvPr id="9" name="icon-FaCheckCircle" descr="CheckCircle icon">    </p:cNvPr>
          <p:cNvPicPr>
            <a:picLocks noChangeAspect="1"/>
          </p:cNvPicPr>
          <p:nvPr/>
        </p:nvPicPr>
        <p:blipFill>
          <a:blip r:embed="rId2"/>
          <a:stretch>
            <a:fillRect/>
          </a:stretch>
        </p:blipFill>
        <p:spPr>
          <a:xfrm>
            <a:off x="713232" y="2724912"/>
            <a:ext cx="356616" cy="356616"/>
          </a:xfrm>
          <a:prstGeom prst="rect">
            <a:avLst/>
          </a:prstGeom>
        </p:spPr>
      </p:pic>
      <p:sp>
        <p:nvSpPr>
          <p:cNvPr id="10" name="Text 6"/>
          <p:cNvSpPr txBox="1"/>
          <p:nvPr/>
        </p:nvSpPr>
        <p:spPr>
          <a:xfrm>
            <a:off x="1463040" y="2542032"/>
            <a:ext cx="100584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Same answers</a:t>
            </a:r>
            <a:endParaRPr lang="en-US" sz="2000" dirty="0"/>
          </a:p>
        </p:txBody>
      </p:sp>
      <p:sp>
        <p:nvSpPr>
          <p:cNvPr id="11" name="Text 7"/>
          <p:cNvSpPr txBox="1"/>
          <p:nvPr/>
        </p:nvSpPr>
        <p:spPr>
          <a:xfrm>
            <a:off x="1463040" y="2971800"/>
            <a:ext cx="10058400" cy="548640"/>
          </a:xfrm>
          <a:prstGeom prst="rect">
            <a:avLst/>
          </a:prstGeom>
          <a:noFill/>
          <a:ln/>
        </p:spPr>
        <p:txBody>
          <a:bodyPr wrap="square" lIns="0" tIns="0" rIns="0" bIns="0" rtlCol="0" anchor="t"/>
          <a:lstStyle/>
          <a:p>
            <a:pPr indent="0" marL="0">
              <a:buNone/>
            </a:pPr>
            <a:r>
              <a:rPr lang="en-US" sz="1500" dirty="0">
                <a:solidFill>
                  <a:srgbClr val="D9D9D9"/>
                </a:solidFill>
                <a:latin typeface="Calibri" pitchFamily="34" charset="0"/>
                <a:ea typeface="Calibri" pitchFamily="34" charset="-122"/>
                <a:cs typeface="Calibri" pitchFamily="34" charset="-120"/>
              </a:rPr>
              <a:t>differences only at floating-point rounding; threshold labels identical</a:t>
            </a:r>
            <a:endParaRPr lang="en-US" sz="1500" dirty="0"/>
          </a:p>
        </p:txBody>
      </p:sp>
      <p:sp>
        <p:nvSpPr>
          <p:cNvPr id="12" name="icon-bg-FaMemory"/>
          <p:cNvSpPr/>
          <p:nvPr/>
        </p:nvSpPr>
        <p:spPr>
          <a:xfrm>
            <a:off x="548640" y="3749040"/>
            <a:ext cx="685800" cy="685800"/>
          </a:xfrm>
          <a:prstGeom prst="ellipse">
            <a:avLst/>
          </a:prstGeom>
          <a:solidFill>
            <a:srgbClr val="404040"/>
          </a:solidFill>
          <a:ln/>
        </p:spPr>
      </p:sp>
      <p:pic>
        <p:nvPicPr>
          <p:cNvPr id="13" name="icon-FaMemory" descr="Memory icon">    </p:cNvPr>
          <p:cNvPicPr>
            <a:picLocks noChangeAspect="1"/>
          </p:cNvPicPr>
          <p:nvPr/>
        </p:nvPicPr>
        <p:blipFill>
          <a:blip r:embed="rId3"/>
          <a:stretch>
            <a:fillRect/>
          </a:stretch>
        </p:blipFill>
        <p:spPr>
          <a:xfrm>
            <a:off x="713232" y="3913632"/>
            <a:ext cx="356616" cy="356616"/>
          </a:xfrm>
          <a:prstGeom prst="rect">
            <a:avLst/>
          </a:prstGeom>
        </p:spPr>
      </p:pic>
      <p:sp>
        <p:nvSpPr>
          <p:cNvPr id="14" name="Text 9"/>
          <p:cNvSpPr txBox="1"/>
          <p:nvPr/>
        </p:nvSpPr>
        <p:spPr>
          <a:xfrm>
            <a:off x="1463040" y="3730752"/>
            <a:ext cx="100584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Memory decides performance</a:t>
            </a:r>
            <a:endParaRPr lang="en-US" sz="2000" dirty="0"/>
          </a:p>
        </p:txBody>
      </p:sp>
      <p:sp>
        <p:nvSpPr>
          <p:cNvPr id="15" name="Text 10"/>
          <p:cNvSpPr txBox="1"/>
          <p:nvPr/>
        </p:nvSpPr>
        <p:spPr>
          <a:xfrm>
            <a:off x="1463040" y="4160520"/>
            <a:ext cx="10058400" cy="548640"/>
          </a:xfrm>
          <a:prstGeom prst="rect">
            <a:avLst/>
          </a:prstGeom>
          <a:noFill/>
          <a:ln/>
        </p:spPr>
        <p:txBody>
          <a:bodyPr wrap="square" lIns="0" tIns="0" rIns="0" bIns="0" rtlCol="0" anchor="t"/>
          <a:lstStyle/>
          <a:p>
            <a:pPr indent="0" marL="0">
              <a:buNone/>
            </a:pPr>
            <a:r>
              <a:rPr lang="en-US" sz="1500" dirty="0">
                <a:solidFill>
                  <a:srgbClr val="D9D9D9"/>
                </a:solidFill>
                <a:latin typeface="Calibri" pitchFamily="34" charset="0"/>
                <a:ea typeface="Calibri" pitchFamily="34" charset="-122"/>
                <a:cs typeface="Calibri" pitchFamily="34" charset="-120"/>
              </a:rPr>
              <a:t>shared-memory tiling 1.75×, shared-memory histogram 17.3×, PCIe copies dominate simple stages</a:t>
            </a:r>
            <a:endParaRPr lang="en-US" sz="1500" dirty="0"/>
          </a:p>
        </p:txBody>
      </p:sp>
      <p:sp>
        <p:nvSpPr>
          <p:cNvPr id="16" name="icon-bg-FaCube"/>
          <p:cNvSpPr/>
          <p:nvPr/>
        </p:nvSpPr>
        <p:spPr>
          <a:xfrm>
            <a:off x="548640" y="4937760"/>
            <a:ext cx="685800" cy="685800"/>
          </a:xfrm>
          <a:prstGeom prst="ellipse">
            <a:avLst/>
          </a:prstGeom>
          <a:solidFill>
            <a:srgbClr val="404040"/>
          </a:solidFill>
          <a:ln/>
        </p:spPr>
      </p:sp>
      <p:pic>
        <p:nvPicPr>
          <p:cNvPr id="17" name="icon-FaCube" descr="Cube icon">    </p:cNvPr>
          <p:cNvPicPr>
            <a:picLocks noChangeAspect="1"/>
          </p:cNvPicPr>
          <p:nvPr/>
        </p:nvPicPr>
        <p:blipFill>
          <a:blip r:embed="rId4"/>
          <a:stretch>
            <a:fillRect/>
          </a:stretch>
        </p:blipFill>
        <p:spPr>
          <a:xfrm>
            <a:off x="713232" y="5102352"/>
            <a:ext cx="356616" cy="356616"/>
          </a:xfrm>
          <a:prstGeom prst="rect">
            <a:avLst/>
          </a:prstGeom>
        </p:spPr>
      </p:pic>
      <p:sp>
        <p:nvSpPr>
          <p:cNvPr id="18" name="Text 12"/>
          <p:cNvSpPr txBox="1"/>
          <p:nvPr/>
        </p:nvSpPr>
        <p:spPr>
          <a:xfrm>
            <a:off x="1463040" y="4919472"/>
            <a:ext cx="100584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Pattern → technique</a:t>
            </a:r>
            <a:endParaRPr lang="en-US" sz="2000" dirty="0"/>
          </a:p>
        </p:txBody>
      </p:sp>
      <p:sp>
        <p:nvSpPr>
          <p:cNvPr id="19" name="Text 13"/>
          <p:cNvSpPr txBox="1"/>
          <p:nvPr/>
        </p:nvSpPr>
        <p:spPr>
          <a:xfrm>
            <a:off x="1463040" y="5349240"/>
            <a:ext cx="10058400" cy="548640"/>
          </a:xfrm>
          <a:prstGeom prst="rect">
            <a:avLst/>
          </a:prstGeom>
          <a:noFill/>
          <a:ln/>
        </p:spPr>
        <p:txBody>
          <a:bodyPr wrap="square" lIns="0" tIns="0" rIns="0" bIns="0" rtlCol="0" anchor="t"/>
          <a:lstStyle/>
          <a:p>
            <a:pPr indent="0" marL="0">
              <a:buNone/>
            </a:pPr>
            <a:r>
              <a:rPr lang="en-US" sz="1500" dirty="0">
                <a:solidFill>
                  <a:srgbClr val="D9D9D9"/>
                </a:solidFill>
                <a:latin typeface="Calibri" pitchFamily="34" charset="0"/>
                <a:ea typeface="Calibri" pitchFamily="34" charset="-122"/>
                <a:cs typeface="Calibri" pitchFamily="34" charset="-120"/>
              </a:rPr>
              <a:t>map, stencil, histogram, FFT, gather, ray casting, GEMM each need a different GPU strategy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91440"/>
            <a:ext cx="11064240" cy="228600"/>
          </a:xfrm>
          <a:prstGeom prst="rect">
            <a:avLst/>
          </a:prstGeom>
          <a:noFill/>
          <a:ln/>
        </p:spPr>
        <p:txBody>
          <a:bodyPr wrap="square" lIns="0" tIns="0" rIns="0" bIns="0" rtlCol="0" anchor="t"/>
          <a:lstStyle/>
          <a:p>
            <a:pPr indent="0" marL="0">
              <a:buNone/>
            </a:pPr>
            <a:r>
              <a:rPr lang="en-US" sz="1000" b="1" spc="100" kern="0" dirty="0">
                <a:solidFill>
                  <a:srgbClr val="595959"/>
                </a:solidFill>
                <a:latin typeface="Calibri" pitchFamily="34" charset="0"/>
                <a:ea typeface="Calibri" pitchFamily="34" charset="-122"/>
                <a:cs typeface="Calibri" pitchFamily="34" charset="-120"/>
              </a:rPr>
              <a:t>MEMBER 6  ·  DISCUSSION &amp; CONCLUSION</a:t>
            </a:r>
            <a:endParaRPr lang="en-US" sz="1000" dirty="0"/>
          </a:p>
        </p:txBody>
      </p:sp>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References</a:t>
            </a:r>
            <a:endParaRPr lang="en-US" sz="3400" dirty="0"/>
          </a:p>
        </p:txBody>
      </p:sp>
      <p:sp>
        <p:nvSpPr>
          <p:cNvPr id="4" name="Text 2"/>
          <p:cNvSpPr txBox="1"/>
          <p:nvPr/>
        </p:nvSpPr>
        <p:spPr>
          <a:xfrm>
            <a:off x="548640" y="1371600"/>
            <a:ext cx="11064240" cy="4754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Kak &amp; Slaney, Principles of Computerized Tomographic Imaging, IEEE Press, 1988.</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Shepp &amp; Logan, “The Fourier reconstruction of a head section,” IEEE Trans. Nuclear Science, 1974.</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Otsu, “A threshold selection method from gray-level histograms,” IEEE Trans. Systems, Man, and Cybernetics, 1979.</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Lustig, Donoho &amp; Pauly, “Sparse MRI: the application of compressed sensing for rapid MR imaging,” Magn. Reson. Med., 2007.</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Ronneberger, Fischer &amp; Brox, “U-Net: convolutional networks for biomedical image segmentation,” MICCAI, 2015.</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Eklund et al., “Medical image processing on the GPU: past, present and future,” Medical Image Analysis, 2013.</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Kirk &amp; Hwu, Programming Massively Parallel Processors, 4th ed., Morgan Kaufmann, 2022.</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Cardoso et al., “MONAI: an open-source framework for deep learning in healthcare,” arXiv, 2022.</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Saver, “Time is brain, quantified,” Stroke, 2006.</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McDonald et al., radiologist workload study, Academic Radiology, 2015.</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NVIDIA, CUDA C++ Programming Guide; cuFFT and cuDNN documentation, 2026.</a:t>
            </a:r>
            <a:endParaRPr lang="en-US" sz="1400" dirty="0"/>
          </a:p>
          <a:p>
            <a:pPr marL="342900" indent="-342900">
              <a:spcAft>
                <a:spcPts val="500"/>
              </a:spcAft>
              <a:buSzPct val="100000"/>
              <a:buFont typeface="+mj-lt"/>
              <a:buAutoNum type="arabicPeriod" startAt="1"/>
            </a:pPr>
            <a:r>
              <a:rPr lang="en-US" sz="1400" dirty="0">
                <a:solidFill>
                  <a:srgbClr val="D9D9D9"/>
                </a:solidFill>
                <a:latin typeface="Calibri" pitchFamily="34" charset="0"/>
                <a:ea typeface="Calibri" pitchFamily="34" charset="-122"/>
                <a:cs typeface="Calibri" pitchFamily="34" charset="-120"/>
              </a:rPr>
              <a:t>Stanford Volume Data Archive (CThead, MRbrain), graphics.stanford.edu/data/voldata.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2F2F2"/>
      </a:lt2>
      <a:accent1>
        <a:srgbClr val="000000"/>
      </a:accent1>
      <a:accent2>
        <a:srgbClr val="404040"/>
      </a:accent2>
      <a:accent3>
        <a:srgbClr val="595959"/>
      </a:accent3>
      <a:accent4>
        <a:srgbClr val="808080"/>
      </a:accent4>
      <a:accent5>
        <a:srgbClr val="262626"/>
      </a:accent5>
      <a:accent6>
        <a:srgbClr val="666666"/>
      </a:accent6>
      <a:hlink>
        <a:srgbClr val="000000"/>
      </a:hlink>
      <a:folHlink>
        <a:srgbClr val="404040"/>
      </a:folHlink>
    </a:clrScheme>
    <a:fontScheme name="Monochro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GPU-Accelerated Medical Image Analysis</dc:title>
  <dc:subject>Case study: CT/MRI processing with GPU computing</dc:subject>
  <dc:creator>PptxGenJS</dc:creator>
  <cp:lastModifiedBy>PptxGenJS</cp:lastModifiedBy>
  <cp:revision>1</cp:revision>
  <dcterms:created xsi:type="dcterms:W3CDTF">2026-10-12T15:34:43Z</dcterms:created>
  <dcterms:modified xsi:type="dcterms:W3CDTF">2026-10-12T15:34:43Z</dcterms:modified>
</cp:coreProperties>
</file>